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2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notesSlides/notesSlide1_tf1.xml" ContentType="application/vnd.openxmlformats-officedocument.presentationml.notesSlide+xml"/>
  <Override PartName="/ppt/notesSlides/notesSlide2_tf1.xml" ContentType="application/vnd.openxmlformats-officedocument.presentationml.notesSlide+xml"/>
  <Override PartName="/ppt/notesSlides/notesSlide3_tf1.xml" ContentType="application/vnd.openxmlformats-officedocument.presentationml.notesSlide+xml"/>
  <Override PartName="/ppt/tags/tag3_tf1.xml" ContentType="application/vnd.openxmlformats-officedocument.presentationml.tags+xml"/>
  <Override PartName="/ppt/tags/tag2_tf1.xml" ContentType="application/vnd.openxmlformats-officedocument.presentationml.tags+xml"/>
  <Override PartName="/ppt/notesSlides/notesSlide4_tf1.xml" ContentType="application/vnd.openxmlformats-officedocument.presentationml.notesSlide+xml"/>
  <Override PartName="/ppt/tags/tag11_tf1.xml" ContentType="application/vnd.openxmlformats-officedocument.presentationml.tags+xml"/>
  <Override PartName="/ppt/tags/tag10_tf1.xml" ContentType="application/vnd.openxmlformats-officedocument.presentationml.tags+xml"/>
  <Override PartName="/ppt/tags/tag9_tf1.xml" ContentType="application/vnd.openxmlformats-officedocument.presentationml.tags+xml"/>
  <Override PartName="/ppt/tags/tag8_tf1.xml" ContentType="application/vnd.openxmlformats-officedocument.presentationml.tags+xml"/>
  <Override PartName="/ppt/tags/tag7_tf1.xml" ContentType="application/vnd.openxmlformats-officedocument.presentationml.tags+xml"/>
  <Override PartName="/ppt/tags/tag6_tf1.xml" ContentType="application/vnd.openxmlformats-officedocument.presentationml.tags+xml"/>
  <Override PartName="/ppt/tags/tag5_tf1.xml" ContentType="application/vnd.openxmlformats-officedocument.presentationml.tags+xml"/>
  <Override PartName="/ppt/tags/tag4_tf1.xml" ContentType="application/vnd.openxmlformats-officedocument.presentationml.tags+xml"/>
  <Override PartName="/ppt/tags/tag1_tf1.xml" ContentType="application/vnd.openxmlformats-officedocument.presentationml.tags+xml"/>
  <Override PartName="/ppt/notesSlides/notesSlide5_tf1.xml" ContentType="application/vnd.openxmlformats-officedocument.presentationml.notesSlide+xml"/>
  <Override PartName="/ppt/notesSlides/notesSlide6_tf1.xml" ContentType="application/vnd.openxmlformats-officedocument.presentationml.notesSlide+xml"/>
  <Override PartName="/ppt/tags/tag13_tf1.xml" ContentType="application/vnd.openxmlformats-officedocument.presentationml.tags+xml"/>
  <Override PartName="/ppt/tags/tag12_tf1.xml" ContentType="application/vnd.openxmlformats-officedocument.presentationml.tags+xml"/>
  <Override PartName="/ppt/notesSlides/notesSlide7_tf1.xml" ContentType="application/vnd.openxmlformats-officedocument.presentationml.notesSlide+xml"/>
  <Override PartName="/ppt/notesSlides/notesSlide8_tf1.xml" ContentType="application/vnd.openxmlformats-officedocument.presentationml.notesSlide+xml"/>
  <Override PartName="/ppt/notesSlides/notesSlide9_tf1.xml" ContentType="application/vnd.openxmlformats-officedocument.presentationml.notesSlide+xml"/>
  <Override PartName="/ppt/notesSlides/notesSlide10_tf1.xml" ContentType="application/vnd.openxmlformats-officedocument.presentationml.notesSlide+xml"/>
  <Override PartName="/ppt/notesSlides/notesSlide11_tf1.xml" ContentType="application/vnd.openxmlformats-officedocument.presentationml.notesSlide+xml"/>
  <Override PartName="/ppt/notesSlides/notesSlide12_tf1.xml" ContentType="application/vnd.openxmlformats-officedocument.presentationml.notesSlide+xml"/>
  <Override PartName="/ppt/notesSlides/notesSlide13_tf1.xml" ContentType="application/vnd.openxmlformats-officedocument.presentationml.notesSlide+xml"/>
  <Override PartName="/ppt/notesSlides/notesSlide14_tf1.xml" ContentType="application/vnd.openxmlformats-officedocument.presentationml.notesSlide+xml"/>
  <Override PartName="/ppt/tags/tag17_tf1.xml" ContentType="application/vnd.openxmlformats-officedocument.presentationml.tags+xml"/>
  <Override PartName="/ppt/tags/tag16_tf1.xml" ContentType="application/vnd.openxmlformats-officedocument.presentationml.tags+xml"/>
  <Override PartName="/ppt/tags/tag15_tf1.xml" ContentType="application/vnd.openxmlformats-officedocument.presentationml.tags+xml"/>
  <Override PartName="/ppt/notesSlides/notesSlide15_tf1.xml" ContentType="application/vnd.openxmlformats-officedocument.presentationml.notesSlide+xml"/>
  <Override PartName="/ppt/tags/tag14_tf1.xml" ContentType="application/vnd.openxmlformats-officedocument.presentationml.tags+xml"/>
  <Override PartName="/ppt/notesSlides/notesSlide16_tf1.xml" ContentType="application/vnd.openxmlformats-officedocument.presentationml.notesSlide+xml"/>
  <Override PartName="/ppt/tags/tag20_tf1.xml" ContentType="application/vnd.openxmlformats-officedocument.presentationml.tags+xml"/>
  <Override PartName="/ppt/tags/tag19_tf1.xml" ContentType="application/vnd.openxmlformats-officedocument.presentationml.tags+xml"/>
  <Override PartName="/ppt/notesSlides/notesSlide17_tf1.xml" ContentType="application/vnd.openxmlformats-officedocument.presentationml.notesSlide+xml"/>
  <Override PartName="/ppt/tags/tag18_tf1.xml" ContentType="application/vnd.openxmlformats-officedocument.presentationml.tags+xml"/>
  <Override PartName="/ppt/notesSlides/notesSlide18_tf1.xml" ContentType="application/vnd.openxmlformats-officedocument.presentationml.notesSlide+xml"/>
  <Override PartName="/ppt/notesSlides/notesSlide19_tf1.xml" ContentType="application/vnd.openxmlformats-officedocument.presentationml.notesSlide+xml"/>
  <Override PartName="/ppt/notesSlides/notesSlide20_tf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Id1"/>
  </p:sldMasterIdLst>
  <p:notesMasterIdLst>
    <p:notesMasterId r:id="rId4"/>
  </p:notesMasterIdLst>
  <p:handoutMasterIdLst>
    <p:handoutMasterId r:id="rId24"/>
  </p:handoutMasterIdLst>
  <p:sldIdLst>
    <p:sldId id="256" r:id="rId29"/>
    <p:sldId id="257" r:id="rId30"/>
    <p:sldId id="258" r:id="rId31"/>
    <p:sldId id="259" r:id="rId32"/>
    <p:sldId id="260" r:id="rId33"/>
    <p:sldId id="261" r:id="rId34"/>
    <p:sldId id="262" r:id="rId35"/>
    <p:sldId id="263" r:id="rId36"/>
    <p:sldId id="264" r:id="rId37"/>
    <p:sldId id="265" r:id="rId38"/>
    <p:sldId id="266" r:id="rId39"/>
    <p:sldId id="267" r:id="rId40"/>
    <p:sldId id="268" r:id="rId41"/>
    <p:sldId id="269" r:id="rId42"/>
    <p:sldId id="270" r:id="rId43"/>
    <p:sldId id="271" r:id="rId44"/>
    <p:sldId id="272" r:id="rId45"/>
    <p:sldId id="273" r:id="rId46"/>
    <p:sldId id="274" r:id="rId47"/>
    <p:sldId id="275" r:id="rId48"/>
  </p:sldIdLst>
  <p:sldSz cx="12192000" cy="6858000"/>
  <p:notesSz cx="6858000" cy="9144000"/>
  <p:custDataLst>
    <p:tags r:id="rId2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CEFB"/>
    <a:srgbClr val="DAE8FC"/>
    <a:srgbClr val="2367D1"/>
    <a:srgbClr val="2F4F98"/>
    <a:srgbClr val="07889A"/>
    <a:srgbClr val="F5B5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Relationships xmlns="http://schemas.openxmlformats.org/package/2006/relationships"><Relationship Id="rId4" Type="http://schemas.openxmlformats.org/officeDocument/2006/relationships/notesMaster" Target="notesMasters/notesMaster1.xml" /><Relationship Id="rId28" Type="http://schemas.openxmlformats.org/officeDocument/2006/relationships/tags" Target="tags/tag21.xml" /><Relationship Id="rId27" Type="http://schemas.openxmlformats.org/officeDocument/2006/relationships/tableStyles" Target="tableStyles.xml" /><Relationship Id="rId26" Type="http://schemas.openxmlformats.org/officeDocument/2006/relationships/viewProps" Target="viewProps.xml" /><Relationship Id="rId25" Type="http://schemas.openxmlformats.org/officeDocument/2006/relationships/presProps" Target="presProps.xml" /><Relationship Id="rId24" Type="http://schemas.openxmlformats.org/officeDocument/2006/relationships/handoutMaster" Target="handoutMasters/handoutMaster1.xml" /><Relationship Id="rId2" Type="http://schemas.openxmlformats.org/officeDocument/2006/relationships/theme" Target="theme/theme1.xml" /><Relationship Id="rId1" Type="http://schemas.openxmlformats.org/officeDocument/2006/relationships/slideMaster" Target="slideMasters/slideMaster1.xml" /><Relationship Id="rId29" Type="http://schemas.openxmlformats.org/officeDocument/2006/relationships/slide" Target="slides/slide1.xml" /><Relationship Id="rId30" Type="http://schemas.openxmlformats.org/officeDocument/2006/relationships/slide" Target="slides/slide2.xml" /><Relationship Id="rId31" Type="http://schemas.openxmlformats.org/officeDocument/2006/relationships/slide" Target="slides/slide3.xml" /><Relationship Id="rId32" Type="http://schemas.openxmlformats.org/officeDocument/2006/relationships/slide" Target="slides/slide4.xml" /><Relationship Id="rId33" Type="http://schemas.openxmlformats.org/officeDocument/2006/relationships/slide" Target="slides/slide5.xml" /><Relationship Id="rId34" Type="http://schemas.openxmlformats.org/officeDocument/2006/relationships/slide" Target="slides/slide6.xml" /><Relationship Id="rId35" Type="http://schemas.openxmlformats.org/officeDocument/2006/relationships/slide" Target="slides/slide7.xml" /><Relationship Id="rId36" Type="http://schemas.openxmlformats.org/officeDocument/2006/relationships/slide" Target="slides/slide8.xml" /><Relationship Id="rId37" Type="http://schemas.openxmlformats.org/officeDocument/2006/relationships/slide" Target="slides/slide9.xml" /><Relationship Id="rId38" Type="http://schemas.openxmlformats.org/officeDocument/2006/relationships/slide" Target="slides/slide10.xml" /><Relationship Id="rId39" Type="http://schemas.openxmlformats.org/officeDocument/2006/relationships/slide" Target="slides/slide11.xml" /><Relationship Id="rId40" Type="http://schemas.openxmlformats.org/officeDocument/2006/relationships/slide" Target="slides/slide12.xml" /><Relationship Id="rId41" Type="http://schemas.openxmlformats.org/officeDocument/2006/relationships/slide" Target="slides/slide13.xml" /><Relationship Id="rId42" Type="http://schemas.openxmlformats.org/officeDocument/2006/relationships/slide" Target="slides/slide14.xml" /><Relationship Id="rId43" Type="http://schemas.openxmlformats.org/officeDocument/2006/relationships/slide" Target="slides/slide15.xml" /><Relationship Id="rId44" Type="http://schemas.openxmlformats.org/officeDocument/2006/relationships/slide" Target="slides/slide16.xml" /><Relationship Id="rId45" Type="http://schemas.openxmlformats.org/officeDocument/2006/relationships/slide" Target="slides/slide17.xml" /><Relationship Id="rId46" Type="http://schemas.openxmlformats.org/officeDocument/2006/relationships/slide" Target="slides/slide18.xml" /><Relationship Id="rId47" Type="http://schemas.openxmlformats.org/officeDocument/2006/relationships/slide" Target="slides/slide19.xml" /><Relationship Id="rId48" Type="http://schemas.openxmlformats.org/officeDocument/2006/relationships/slide" Target="slides/slide20.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大家好，我们今天汇报的是 NDSS 2024 论文《From Interaction to Independence》，中文可以理解为“从交互走向独立：利用 zkSNARK 实现透明、非交互的远程证明”。这篇论文提出 zRA，关注的核心问题是：设备的软件完整性，能不能由任何第三方直接核验，而不必依赖掌握设备秘密的特定验证者？接下来我们围绕协议设计、原型实验和安全边界展开介绍。</a:t>
            </a:r>
          </a:p>
        </p:txBody>
      </p:sp>
    </p:spTree>
  </p:cSld>
  <p:clrMapOvr>
    <a:masterClrMapping/>
  </p:clrMapOvr>
</p:notes>
</file>

<file path=ppt/notesSlides/notesSlide2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整个汇报分成四部分：首先说明传统远程证明为什么依赖特定验证者，然后用八分多钟讲清 zRA 怎样连接可信测量、响应承诺和零知识证明，接着分析设备端的计算、存储与能耗，最后讨论它的贡献与局限。听完以后，希望大家能够回答两个问题：zRA 到底消除了哪一部分交互，以及这些交互消失后，系统仍然需要信任什么。</a:t>
            </a:r>
          </a:p>
        </p:txBody>
      </p:sp>
    </p:spTree>
  </p:cSld>
  <p:clrMapOvr>
    <a:masterClrMapping/>
  </p:clrMapOvr>
</p:notes>
</file>

<file path=ppt/notesSlides/notesSlide3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远程证明可以理解为：验证者向一台远端设备询问，它当前的软件测量是否符合预期，而设备需要给出能够核验的证据。传统流程通常先发送一个新挑战，再由设备把挑战和自身测量组合成响应，验证者使用预先掌握的密钥、内部状态或参考测量检查响应，这样新挑战就能把一次测量和本次证明联系起来。这里有一个容易忽略的前提：即使攻击者控制设备的普通软件，也不能控制产生真实测量的信任锚，否则后面的密码学检查只是在验证一个不真实的输入。论文使用的最小信任锚是 ROM 和 MPU，分别用于保护测量代码与内部受保护状态，因此证明结论应限定为所测状态和所用挑战下的完整性，而不是设备未来始终安全。</a:t>
            </a:r>
          </a:p>
        </p:txBody>
      </p:sp>
    </p:spTree>
  </p:cSld>
  <p:clrMapOvr>
    <a:masterClrMapping/>
  </p:clrMapOvr>
</p:notes>
</file>

<file path=ppt/notesSlides/notesSlide4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以智能门锁为例，制造商之外的云服务、合作方和普通用户，都可能想知道它运行的软件是否被修改，但他们通常没有设备的内部秘密，也不适合各自向制造商申请一次人工或在线核验。zRA 的思路是，制造商提前准备认可响应的承诺树，之后周期性公布共享挑战；设备自己读取挑战、完成可信测量并提交证明，而第三方只读取公开信息完成检查。需要注意，设备仍然访问公开节点并提交消息，“非交互”说的是不再和掌握特权信息的可信方逐次往返。这样，多个第三方就可以围绕同一份公开证据独立得出结果，验证权限从特定服务扩展到了公开参与者。</a:t>
            </a:r>
          </a:p>
        </p:txBody>
      </p:sp>
    </p:spTree>
  </p:cSld>
  <p:clrMapOvr>
    <a:masterClrMapping/>
  </p:clrMapOvr>
</p:notes>
</file>

<file path=ppt/notesSlides/notesSlide5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已有方案已经尝试用区块链、代理验证者或异步机制改善远程证明，所以这篇论文并不是第一次把证明结果放到链上。比如 SCRAPS 通过代理验证者和私有链支持异步证明，但公众仍然依赖代理的验证结果；PROVE 支持公开验证，却依赖可信事件、日志和链式历史，论文将它与独立验证当前证明区分开来。可以把这一差别理解为：看到“某个机构说设备通过了”，和拿到“我自己能检查设备为何通过”的证据，是两种不同能力。zRA 的目标是让验证者不需要设备的预共享密钥或参考测量，直接验证当前证明，但它仍然依赖离线准备的认可响应以及设备侧的信任锚。表格反映的是原论文对这些代表性方案的比较，不能据此说所有传统 RA 都具有完全相同的实现限制。</a:t>
            </a:r>
          </a:p>
        </p:txBody>
      </p:sp>
    </p:spTree>
  </p:cSld>
  <p:clrMapOvr>
    <a:masterClrMapping/>
  </p:clrMapOvr>
</p:notes>
</file>

<file path=ppt/notesSlides/notesSlide6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左边的传统流程中，验证者为某台设备发送挑战，设备返回状态相关响应，然后由具备特权知识的验证者计算或查询预期响应来比较，这个验证者因此处在每次证明的关键路径上。右边的 zRA 把这条路径拆开：制造商只周期性公布一个全局挑战，设备自主生成证明并提交，任何人或者智能合约都能使用公开参数检查。制造商不需要针对每台设备回答“它现在应该返回什么”，第三方也不需要拿到这个正确响应本身。这里的透明指检查过程和依据可公开复核；零知识指证明不展示响应及成员路径，而不是隐藏设备公钥和挑战，因为这些值恰好必须公开绑定。接下来要解决的问题是，这个不公开的正确响应究竟从哪里来，以及如何防止被篡改的软件伪造它。</a:t>
            </a:r>
          </a:p>
        </p:txBody>
      </p:sp>
    </p:spTree>
  </p:cSld>
  <p:clrMapOvr>
    <a:masterClrMapping/>
  </p:clrMapOvr>
</p:notes>
</file>

<file path=ppt/notesSlides/notesSlide7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这个问题由设备的 ROM 和 MPU 来回答：ROM 中的固定程序取得测量，MPU 使攻击者控制的普通软件不能直接读取受保护的内部状态。附录给出一个例子，把内部状态、挑战和测量校验值一起哈希，得到响应，所以如果软件测量发生变化，输出就不会是制造商事先认可的那个响应。响应交给普通软件层以后，普通软件执行的是承诺与 Merkle 路径检查，随后生成证明并提交；论文不要求这部分 ZK 计算运行在额外的可信执行环境中。要特别区分两层保证：信任锚保证响应确实来自可信测量，而证明系统保证交给它的响应符合已经认可的承诺，电路本身没有重新测量整台设备。response 在电路中作为私有见证，并不意味着论文要求对它配置独立安全存储，论文认为它的哈希形式不会直接暴露内部状态。</a:t>
            </a:r>
          </a:p>
        </p:txBody>
      </p:sp>
    </p:spTree>
  </p:cSld>
  <p:clrMapOvr>
    <a:masterClrMapping/>
  </p:clrMapOvr>
</p:notes>
</file>

<file path=ppt/notesSlides/notesSlide8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zRA 把三种工具组合起来，但它们处理的是不同问题：承诺把正确响应和设备身份、挑战绑定起来，Merkle 树把大量承诺组织到一个公开根，zkSNARK 则证明“我知道一个合格见证”，同时不把见证展示给验证者。Merkle 路径只需逐层提供兄弟节点和左右位置，不需要重新读取并哈希整棵树，因此树越大，单次检查主要随着树高增长。这里采用 Poseidon，是因为它适合放进算术电路，而叶子里保存的是身份、挑战和响应的哈希承诺，不是直接公开设备的敏感内存。对证明系统，完备性表示正确见证能够通过，可靠性阻止没有合格见证的攻击者伪造通过，零知识则使检查者无需学习见证内容。这三层结合起来，才把“只有掌握设备秘密的人能比较响应”转换成“任何人都能检查公开证明”。</a:t>
            </a:r>
          </a:p>
        </p:txBody>
      </p:sp>
    </p:spTree>
  </p:cSld>
  <p:clrMapOvr>
    <a:masterClrMapping/>
  </p:clrMapOvr>
</p:notes>
</file>

<file path=ppt/notesSlides/notesSlide9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阶段由制造商离线完成，它选定未来挑战，计算每台设备在认可状态下的正确响应，构建承诺树，并公开后续验证所需的根、树和证明参数。第二阶段是挑战更新：制造商不会一次公开整个未来序列，而是根据证明周期只发布一个新挑战，同一周期内所有设备使用这个挑战。第三阶段由设备执行，设备读取最新挑战，通过信任锚得到响应，再结合成员路径生成证明，并把证明和公开输入签名后提交。第四阶段是公众或合约验证，除了检查 zkSNARK，还要确认提交身份、根是否获认可，以及挑战是否最新，不能把这些外围条件省略成一个 verifyProof 调用。虽然每次证明不需要制造商处理设备请求，但制造商或者后面介绍的阈值参与方仍然需要按时发布挑战，所以离线准备、周期性更新和逐设备在线服务应分别讨论。</a:t>
            </a:r>
          </a:p>
        </p:txBody>
      </p:sp>
    </p:spTree>
  </p:cSld>
  <p:clrMapOvr>
    <a:masterClrMapping/>
  </p:clrMapOvr>
</p:notes>
</file>

<file path=ppt/notesSlides/notesSlide10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 Setup 展开：对第 k 台设备、第 i 个挑战，制造商先计算认可响应，然后把设备公钥、响应和挑战一起输入 Poseidon，得到一个承诺叶子，这使某个响应不能随意换到另一个设备或另一个挑战上使用。下层树对应一台设备的 m 次未来证明，因此每个设备有自己的根；上层树把 n 个设备根再作为叶子，最终得到所有设备共用的全局根 R，单次证明的路径会穿过这两层结构。总路径高度是向上取整的 log_2m 加上向上取整的 log_2n，所以树高四十可以容纳大约一百万台设备、每台一百万次证明，前提是按两层树的实际填充和高度安排容量。公开的是承诺树及其根，未发布的未来挑战仍须保密，因此原 PPT 中“只有根公开”需要改成更准确的表述。还要看到，这种设计把制造商的反复在线计算转移到了离线预计算，全部响应和叶子的规模仍然随 n 乘 m 增长；这一页使用论文协议公式的输入顺序，实际 Listing 2 使用公钥、挑战、响应的顺序，工程实现必须确保建树与电路一致。</a:t>
            </a:r>
          </a:p>
        </p:txBody>
      </p:sp>
    </p:spTree>
  </p:cSld>
  <p:clrMapOvr>
    <a:masterClrMapping/>
  </p:clrMapOvr>
</p:notes>
</file>

<file path=ppt/notesSlides/notesSlide11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这是协议最关键的一页，先区分哪些值公开：根据原型电路的 public 列表，只有 root、pubAddr 和 challenge，也就是全局根、设备身份和当前挑战，所以 response 不应出现在公开输入里。私有见证包含响应、Merkle 兄弟节点以及左右方向位；电路先按 Listing 2 的顺序计算 Poseidon，再根据方向位决定每层哈希的左右顺序，最后断言计算出的根与公开根相同。证明通过后，验证者知道设备拥有一个响应，使它对应的承诺确实属于认可树，但并不知道这个响应与路径的具体数值。这里没有把整个内部状态直接作为电路的原始输入，更不能说电路独立证明设备正在运行每一条正确指令，真实测量的保证来自前一页介绍的信任锚。符号也要分开，设备公钥写成 pk_k，而证明系统的证明密钥写成 d_p，证明密钥及验证密钥可以公开，这样就不会像原稿一样用同一个 pk 同时表示两种完全不同的对象。</a:t>
            </a:r>
          </a:p>
        </p:txBody>
      </p:sp>
    </p:spTree>
  </p:cSld>
  <p:clrMapOvr>
    <a:masterClrMapping/>
  </p:clrMapOvr>
</p:notes>
</file>

<file path=ppt/notesSlides/notesSlide12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验证端的工作可以拆成四项，首先验证 π 对应的电路约束确实成立，其次确认公开设备身份与签名恢复出的身份一致，而以太坊原型具体使用 pubAddr 等于 msg.sender 来检查提交者。第三项确认公开根属于制造商认可的根集合，否则攻击者完全可以为自己随便编一个响应建树，再生成数学上有效但业务上无效的证明。第四项检查挑战等于 latestChallenge，它把证明限制到当前周期，避免把旧周期的好状态当作当前状态；这并不自动定义同一周期内的重复提交是否允许，仍需应用层处理。新鲜性还有一个运行前提，即未来挑战没有提前泄露，并且每个新挑战按时公布，论文因此提出由多方以阈值方式共同准备和发布挑战。阈值分发分散的是挑战保密与发布可用性的信任，它和 Groth16 证明系统本身的可信初始化是两个问题。</a:t>
            </a:r>
          </a:p>
        </p:txBody>
      </p:sp>
    </p:spTree>
  </p:cSld>
  <p:clrMapOvr>
    <a:masterClrMapping/>
  </p:clrMapOvr>
</p:notes>
</file>

<file path=ppt/notesSlides/notesSlide13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论文允许攻击者控制网络消息和普通软件层，但假设密码学工具以及 ROM、MPU 信任锚保持安全，在这个范围内，没有正确响应就不能为认可树生成有效成员证明。对旧证明或者其他设备的证明，挑战绑定、身份绑定和最新挑战检查共同限制重放；对消息修改，数字签名、交易身份和 ZK 验证提供完整性检查。DoS 方面的改进主要是制造商不用再处理逐设备在线请求，因此移除了一个集中式服务瓶颈，而论文明确没有覆盖所有链上合约 DoS 和底层基础设施攻击。软件更新需要同步维护新根、软件与挑战，物理捕获和硬件篡改则超出论文范围。把这些前提列出来并不是否定协议，而是使“安全”这个结论有清楚的范围，避免把周期性完整性证明误讲成持续安全保证。</a:t>
            </a:r>
          </a:p>
        </p:txBody>
      </p:sp>
    </p:spTree>
  </p:cSld>
  <p:clrMapOvr>
    <a:masterClrMapping/>
  </p:clrMapOvr>
</p:notes>
</file>

<file path=ppt/notesSlides/notesSlide14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论文在一台 i5 笔记本、512 MB 内存的 Raspberry Pi Zero 2W，以及两 GB 内存的 Tinker Board 上测试原型，它们覆盖了通用处理器和两类小型 ARM 板，但并没有证明极低端微控制器也能运行。实验主要测的是设备端 Attestation，Artifact Appendix 特别说明离线 Setup 没有计入整体性能评估，所以不能用这些数字判断制造商为大规模系统初始化需要多久。表中树高从十增加到四十时，证明文件大小始终约八百零五字节，但 witness 从约八十七 KB 增加到约三百二十一 KB，证明密钥从一点六 MB 增加到六 MB，约束数接近一万。这说明短证明有利于传输和验证，生成证明时的输入、密钥与电路成本却仍然增加。这里的八百零五字节是论文原型记录的 proof 文件大小，不能把它直接视为所有 Groth16 编码的理论最小长度。</a:t>
            </a:r>
          </a:p>
        </p:txBody>
      </p:sp>
    </p:spTree>
  </p:cSld>
  <p:clrMapOvr>
    <a:masterClrMapping/>
  </p:clrMapOvr>
</p:notes>
</file>

<file path=ppt/notesSlides/notesSlide15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原型的工具链可以按四个环节理解：Circom 编写并编译响应承诺与 Merkle 检查电路，snarkjs 和 Groth16 生成证明参数与验证器，设备脚本生成 witness 和证明，最后 Solidity 合约接收交易并完成四项检查。论文在 Ethereum Sepolia 测试网部署了验证合约，并展示了添加根、发布挑战和设备提交证明的交易，因此它提供的是一套可运行的概念验证。这里有两类容易混淆的准备，一类是 zRA 为认可响应建树并准备未来挑战，另一类是 Groth16 证明系统自身的可信初始化，公开透明并没有消除后一类要求。区块链主要承担公开参数、证据发布和自动验证的基础设施角色，协议也可以考虑其他公开数据环境。后面的本地验证耗时不能直接当作链上端到端确认时间，因为传播、出块、费用和最终确认属于另外一组成本。</a:t>
            </a:r>
          </a:p>
        </p:txBody>
      </p:sp>
    </p:spTree>
  </p:cSld>
  <p:clrMapOvr>
    <a:masterClrMapping/>
  </p:clrMapOvr>
</p:notes>
</file>

<file path=ppt/notesSlides/notesSlide16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这一页把两组来源分开，左边是论文 Table V，右边是原 PPT 已经放入的 i7-12700KF 复现截图，我们这次只是读取并整理截图，没有重新运行实验，其中 WIT 表示见证生成，PRF 表示证明生成，单位都是秒。以树高四十为例，Pi 的两个阶段是十一点三秒和十四点九秒，合计二十六点二秒；论文 i5 的两个阶段是零点零一秒和零点七六秒，合计约零点七七秒，设备差异非常明显。已有复现每组运行三十次，在共同树高下 PRF 大约在零点五到零点六四秒之间，与论文笔记本处于相近量级，但 WIT 约零点二二到零点三秒，明显高于论文给出的零点零一秒。不能因此马上断言协议或者复现有问题，因为处理器、witness 生成后端、工具版本、编译优化和计时口径都可能影响结果，而截图没有提供足够日志来排除这些因素；复现 PRF 在树高二十到三十之间还略有下降，所以也不能说结果严格单调。论文正文声称笔记本 proof 不足四毫秒，但与 Table V 的秒级数据矛盾，这里采用表格作为汇报依据，并把不一致之处列入稿后的数据核对记录。</a:t>
            </a:r>
          </a:p>
        </p:txBody>
      </p:sp>
    </p:spTree>
  </p:cSld>
  <p:clrMapOvr>
    <a:masterClrMapping/>
  </p:clrMapOvr>
</p:notes>
</file>

<file path=ppt/notesSlides/notesSlide17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通信优势应当看清统计对象：如果有 n 台设备、每台证明 m 次，制造商只需发布 m 个共享挑战，因此这一项周期性发布量与设备数无关，而逐设备发挑战会带来 n 乘 m 级别的请求量。举例来说，一百万台设备分别证明一万次，制造商仅发布一万个全局挑战，但所有设备仍然需要提交约一百亿份证明，链上吞吐、存储和费用不会因此自动消失。离线 Setup 的响应与承诺规模也随 n 乘 m 增长，所以论文的可扩展性改进是移除集中式在线瓶颈，不是把系统的全部成本降为常数。未来挑战的私有存储只随挑战数量增长，不过论文把一百万乘三十二字节写成约三 MB，正确计算应是三十二 MB，也就是约三十点五 MiB，公开树的存储要另外计算。由于设备需要便捷地访问公开节点，论文认为 Pub/Sub 和 P2P 更适合，Mesh 或 Swarm 场景的表现还不能从这些分析直接推导出来。</a:t>
            </a:r>
          </a:p>
        </p:txBody>
      </p:sp>
    </p:spTree>
  </p:cSld>
  <p:clrMapOvr>
    <a:masterClrMapping/>
  </p:clrMapOvr>
</p:notes>
</file>

<file path=ppt/notesSlides/notesSlide18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Table VI 从另一个角度提醒我们，耗时和能耗不能只选一个看，Pi 一次证明大约二十一点八秒、十四点四六焦耳，而 Tinker 大约十一点九秒，却消耗五十三点零八焦耳，按表中数值计算约为 Pi 的三点六七倍。笔记本的零点四七九焦耳来自 powertop 估计，小板的数字来自 USB 电压电流测量，测量方法不同，因此跨平台比较还应带上这个限定。论文给出的验证端小于一毫秒是计算性能指标，不能据此承诺 Sepolia 上的一次证明交易也能在一毫秒内被最终确认。对电池设备，高频证明可能把计算与能耗压力直接转移到终端，而论文也指出极受限 AVR 或 Cortex-M 无法承担当前原型的证明计算。因此这类方案更需要结合设备资源和证明频率判断是否适合，并继续研究更高效的证明后端、硬件加速或安全外包。</a:t>
            </a:r>
          </a:p>
        </p:txBody>
      </p:sp>
    </p:spTree>
  </p:cSld>
  <p:clrMapOvr>
    <a:masterClrMapping/>
  </p:clrMapOvr>
</p:notes>
</file>

<file path=ppt/notesSlides/notesSlide19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认为论文最有价值的贡献，是把可信方掌握的正确响应转化为一份公众能够独立检查的零知识证据，同时用共享挑战降低制造商的重复在线通信，并提供了实际可运行的原型。它改变的是验证权限和在线依赖的结构，信任并没有完全消失，而是集中在测量锚、认可响应的初始化、挑战发布，以及所选证明系统和公开基础设施的安全假设中。代价方面，论文没有把 Setup 纳入性能实验，设备端的 witness、证明与能耗仍然明显，而且当前原型不能直接覆盖极低端微控制器、所有网络拓扑或大规模链上吞吐。后续工作可以围绕轻量证明、硬件支持、安全外包和不同网络结构开展，但应分别检验正确性、隐私、新鲜性和实际部署成本。最后也要保持对实验表述的核对，正文与表格不一致时应明确采用哪一组数据，而这篇论文给我们的总体启示是：真实状态从哪里来，和公众如何验证证据，是两层需要分别论证的问题。</a:t>
            </a:r>
          </a:p>
        </p:txBody>
      </p:sp>
    </p:spTree>
  </p:cSld>
  <p:clrMapOvr>
    <a:masterClrMapping/>
  </p:clrMapOvr>
</p:notes>
</file>

<file path=ppt/notesSlides/notesSlide20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我们的汇报到这里结束，zRA 的核心是用公开证明连接可信测量和独立验证，同时保留清楚的信任与性能边界。谢谢大家，欢迎提问。</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Relationships xmlns="http://schemas.openxmlformats.org/package/2006/relationships"><Relationship Id="rId2" Type="http://schemas.openxmlformats.org/officeDocument/2006/relationships/slideLayout" Target="../slideLayouts/slideLayout6.xml" /><Relationship Id="rId1" Type="http://schemas.openxmlformats.org/officeDocument/2006/relationships/image" Target="../media/image1.png" />  <Relationship Id="rId3" Type="http://schemas.openxmlformats.org/officeDocument/2006/relationships/notesSlide" Target="../notesSlides/notesSlide1_tf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2_tf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3_tf1.xml"/>
</Relationships>
</file>

<file path=ppt/slides/_rels/slide4.xml.rels><?xml version='1.0' encoding='utf-8'?>
<Relationships xmlns="http://schemas.openxmlformats.org/package/2006/relationships"><Relationship Id="rId7" Type="http://schemas.openxmlformats.org/officeDocument/2006/relationships/tags" Target="../tags/tag3_tf1.xml" /><Relationship Id="rId4" Type="http://schemas.openxmlformats.org/officeDocument/2006/relationships/tags" Target="../tags/tag2_tf1.xml" /><Relationship Id="rId26" Type="http://schemas.openxmlformats.org/officeDocument/2006/relationships/slideLayout" Target="../slideLayouts/slideLayout6.xml" /><Relationship Id="rId23" Type="http://schemas.openxmlformats.org/officeDocument/2006/relationships/tags" Target="../tags/tag11_tf1.xml" /><Relationship Id="rId20" Type="http://schemas.openxmlformats.org/officeDocument/2006/relationships/tags" Target="../tags/tag10_tf1.xml" /><Relationship Id="rId17" Type="http://schemas.openxmlformats.org/officeDocument/2006/relationships/tags" Target="../tags/tag9_tf1.xml" /><Relationship Id="rId16" Type="http://schemas.openxmlformats.org/officeDocument/2006/relationships/tags" Target="../tags/tag8_tf1.xml" /><Relationship Id="rId15" Type="http://schemas.openxmlformats.org/officeDocument/2006/relationships/tags" Target="../tags/tag7_tf1.xml" /><Relationship Id="rId12" Type="http://schemas.openxmlformats.org/officeDocument/2006/relationships/tags" Target="../tags/tag6_tf1.xml" /><Relationship Id="rId11" Type="http://schemas.openxmlformats.org/officeDocument/2006/relationships/tags" Target="../tags/tag5_tf1.xml" /><Relationship Id="rId10" Type="http://schemas.openxmlformats.org/officeDocument/2006/relationships/tags" Target="../tags/tag4_tf1.xml" /><Relationship Id="rId1" Type="http://schemas.openxmlformats.org/officeDocument/2006/relationships/tags" Target="../tags/tag1_tf1.xml" />  <Relationship Id="rId27" Type="http://schemas.openxmlformats.org/officeDocument/2006/relationships/notesSlide" Target="../notesSlides/notesSlide4_tf1.xml" />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5_tf1.xml"/>
</Relationships>
</file>

<file path=ppt/slides/_rels/slide6.xml.rels><?xml version='1.0' encoding='utf-8'?>
<Relationships xmlns="http://schemas.openxmlformats.org/package/2006/relationships"><Relationship Id="rId8" Type="http://schemas.openxmlformats.org/officeDocument/2006/relationships/slideLayout" Target="../slideLayouts/slideLayout6.xml" /><Relationship Id="rId5" Type="http://schemas.openxmlformats.org/officeDocument/2006/relationships/tags" Target="../tags/tag13_tf1.xml" /><Relationship Id="rId2" Type="http://schemas.openxmlformats.org/officeDocument/2006/relationships/tags" Target="../tags/tag12_tf1.xml" /><Relationship Id="rId9" Type="http://schemas.openxmlformats.org/officeDocument/2006/relationships/notesSlide" Target="../notesSlides/notesSlide6_tf1.xml" />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7_tf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8_tf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9_tf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0_tf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1_tf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2_tf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3_tf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4_tf1.xml"/>
</Relationships>
</file>

<file path=ppt/slides/_rels/slide15.xml.rels><?xml version='1.0' encoding='utf-8'?>
<Relationships xmlns="http://schemas.openxmlformats.org/package/2006/relationships"><Relationship Id="rId8" Type="http://schemas.openxmlformats.org/officeDocument/2006/relationships/tags" Target="../tags/tag17_tf1.xml" /><Relationship Id="rId7" Type="http://schemas.openxmlformats.org/officeDocument/2006/relationships/tags" Target="../tags/tag16_tf1.xml" /><Relationship Id="rId4" Type="http://schemas.openxmlformats.org/officeDocument/2006/relationships/tags" Target="../tags/tag15_tf1.xml" /><Relationship Id="rId11" Type="http://schemas.openxmlformats.org/officeDocument/2006/relationships/slideLayout" Target="../slideLayouts/slideLayout6.xml" /><Relationship Id="rId1" Type="http://schemas.openxmlformats.org/officeDocument/2006/relationships/tags" Target="../tags/tag14_tf1.xml" />  <Relationship Id="rId12" Type="http://schemas.openxmlformats.org/officeDocument/2006/relationships/notesSlide" Target="../notesSlides/notesSlide15_tf1.xml" />
</Relationships>
</file>

<file path=ppt/slides/_rels/slide16.xml.rels><?xml version='1.0' encoding='utf-8'?>
<Relationships xmlns="http://schemas.openxmlformats.org/package/2006/relationships"><Relationship Id="rId4" Type="http://schemas.openxmlformats.org/officeDocument/2006/relationships/slideLayout" Target="../slideLayouts/slideLayout6.xml" /><Relationship Id="rId5" Type="http://schemas.openxmlformats.org/officeDocument/2006/relationships/notesSlide" Target="../notesSlides/notesSlide16_tf1.xml" />
</Relationships>
</file>

<file path=ppt/slides/_rels/slide17.xml.rels><?xml version='1.0' encoding='utf-8'?>
<Relationships xmlns="http://schemas.openxmlformats.org/package/2006/relationships"><Relationship Id="rId7" Type="http://schemas.openxmlformats.org/officeDocument/2006/relationships/tags" Target="../tags/tag20_tf1.xml" /><Relationship Id="rId4" Type="http://schemas.openxmlformats.org/officeDocument/2006/relationships/tags" Target="../tags/tag19_tf1.xml" /><Relationship Id="rId10" Type="http://schemas.openxmlformats.org/officeDocument/2006/relationships/slideLayout" Target="../slideLayouts/slideLayout6.xml" /><Relationship Id="rId1" Type="http://schemas.openxmlformats.org/officeDocument/2006/relationships/tags" Target="../tags/tag18_tf1.xml" />  <Relationship Id="rId11" Type="http://schemas.openxmlformats.org/officeDocument/2006/relationships/notesSlide" Target="../notesSlides/notesSlide17_tf1.xml" />
</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8_tf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19_tf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6.xml" />  <Relationship Id="rId2" Type="http://schemas.openxmlformats.org/officeDocument/2006/relationships/notesSlide" Target="../notesSlides/notesSlide20_tf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6" name="图片 15" descr="93196255-8e42-479c-9d47-55a525783ae6"/>
          <p:cNvPicPr>
            <a:picLocks noChangeAspect="1"/>
          </p:cNvPicPr>
          <p:nvPr/>
        </p:nvPicPr>
        <p:blipFill>
          <a:blip r:embed="rId1"/>
          <a:stretch>
            <a:fillRect/>
          </a:stretch>
        </p:blipFill>
        <p:spPr>
          <a:xfrm>
            <a:off x="3175" y="0"/>
            <a:ext cx="12185015" cy="6858000"/>
          </a:xfrm>
          <a:prstGeom prst="rect">
            <a:avLst/>
          </a:prstGeom>
        </p:spPr>
      </p:pic>
      <p:sp>
        <p:nvSpPr>
          <p:cNvPr id="3" name="矩形 2"/>
          <p:cNvSpPr>
            <a:spLocks noGrp="1"/>
          </p:cNvSpPr>
          <p:nvPr/>
        </p:nvSpPr>
        <p:spPr>
          <a:xfrm>
            <a:off x="795655" y="548640"/>
            <a:ext cx="10601325" cy="1428750"/>
          </a:xfrm>
          <a:prstGeom prst="rect">
            <a:avLst/>
          </a:prstGeom>
          <a:noFill/>
          <a:ln w="0">
            <a:noFill/>
            <a:prstDash val="solid"/>
          </a:ln>
        </p:spPr>
        <p:txBody>
          <a:bodyPr/>
          <a:lstStyle>
            <a:defPPr>
              <a:defRPr sz="3750" b="1">
                <a:solidFill>
                  <a:srgbClr val="FFFFFF"/>
                </a:solidFill>
              </a:defRPr>
            </a:defPPr>
          </a:lstStyle>
          <a:p>
            <a:pPr algn="just">
              <a:defRPr sz="3750" b="1">
                <a:solidFill>
                  <a:srgbClr val="FFFFFF"/>
                </a:solidFill>
              </a:defRPr>
            </a:pPr>
            <a:r>
              <a:rPr sz="3200" b="1">
                <a:solidFill>
                  <a:schemeClr val="tx1"/>
                </a:solidFill>
              </a:rPr>
              <a:t>From Interaction</a:t>
            </a:r>
            <a:r>
              <a:rPr lang="en-US" sz="3200" b="1">
                <a:solidFill>
                  <a:schemeClr val="tx1"/>
                </a:solidFill>
              </a:rPr>
              <a:t> </a:t>
            </a:r>
            <a:r>
              <a:rPr sz="3200" b="1">
                <a:solidFill>
                  <a:schemeClr val="tx1"/>
                </a:solidFill>
              </a:rPr>
              <a:t>to</a:t>
            </a:r>
            <a:r>
              <a:rPr lang="en-US" sz="3200" b="1">
                <a:solidFill>
                  <a:schemeClr val="tx1"/>
                </a:solidFill>
              </a:rPr>
              <a:t> </a:t>
            </a:r>
            <a:r>
              <a:rPr sz="3200" b="1">
                <a:solidFill>
                  <a:schemeClr val="tx1"/>
                </a:solidFill>
              </a:rPr>
              <a:t>Independence</a:t>
            </a:r>
            <a:r>
              <a:rPr lang="en-US" sz="3200" b="1">
                <a:solidFill>
                  <a:schemeClr val="tx1"/>
                </a:solidFill>
              </a:rPr>
              <a:t>: </a:t>
            </a:r>
            <a:r>
              <a:rPr lang="en-US" altLang="zh-CN" sz="3200" b="1">
                <a:solidFill>
                  <a:schemeClr val="tx1"/>
                </a:solidFill>
              </a:rPr>
              <a:t>zkSNARKs for Transparent and Non-Interactive Remote Attestation</a:t>
            </a:r>
            <a:endParaRPr lang="en-US" altLang="zh-CN" sz="3200" b="1">
              <a:solidFill>
                <a:schemeClr val="tx1"/>
              </a:solidFill>
            </a:endParaRPr>
          </a:p>
        </p:txBody>
      </p:sp>
      <p:sp>
        <p:nvSpPr>
          <p:cNvPr id="5" name="矩形 4"/>
          <p:cNvSpPr>
            <a:spLocks noGrp="1"/>
          </p:cNvSpPr>
          <p:nvPr/>
        </p:nvSpPr>
        <p:spPr>
          <a:xfrm>
            <a:off x="795655" y="3140710"/>
            <a:ext cx="4095750" cy="401320"/>
          </a:xfrm>
          <a:prstGeom prst="rect">
            <a:avLst/>
          </a:prstGeom>
          <a:noFill/>
          <a:ln w="0">
            <a:noFill/>
            <a:prstDash val="solid"/>
          </a:ln>
        </p:spPr>
        <p:txBody>
          <a:bodyPr/>
          <a:lstStyle>
            <a:defPPr>
              <a:defRPr sz="1275" b="1">
                <a:solidFill>
                  <a:srgbClr val="F6B84A"/>
                </a:solidFill>
              </a:defRPr>
            </a:defPPr>
          </a:lstStyle>
          <a:p>
            <a:pPr>
              <a:defRPr sz="1275" b="1">
                <a:solidFill>
                  <a:srgbClr val="F6B84A"/>
                </a:solidFill>
              </a:defRPr>
            </a:pPr>
            <a:r>
              <a:rPr sz="2000" b="1">
                <a:solidFill>
                  <a:srgbClr val="0070C0"/>
                </a:solidFill>
              </a:rPr>
              <a:t>论文讲解 · NDSS 2024</a:t>
            </a:r>
            <a:endParaRPr sz="2000" b="1">
              <a:solidFill>
                <a:srgbClr val="0070C0"/>
              </a:solidFill>
            </a:endParaRPr>
          </a:p>
        </p:txBody>
      </p:sp>
      <p:sp>
        <p:nvSpPr>
          <p:cNvPr id="6" name="矩形 5"/>
          <p:cNvSpPr>
            <a:spLocks noGrp="1"/>
          </p:cNvSpPr>
          <p:nvPr/>
        </p:nvSpPr>
        <p:spPr>
          <a:xfrm>
            <a:off x="1919605" y="1839595"/>
            <a:ext cx="4144010" cy="977900"/>
          </a:xfrm>
          <a:prstGeom prst="rect">
            <a:avLst/>
          </a:prstGeom>
          <a:noFill/>
          <a:ln w="0">
            <a:noFill/>
            <a:prstDash val="solid"/>
          </a:ln>
        </p:spPr>
        <p:txBody>
          <a:bodyPr/>
          <a:lstStyle>
            <a:defPPr>
              <a:defRPr sz="1125" b="0">
                <a:solidFill>
                  <a:srgbClr val="FFFFFF"/>
                </a:solidFill>
              </a:defRPr>
            </a:defPPr>
          </a:lstStyle>
          <a:p>
            <a:pPr algn="ctr">
              <a:defRPr sz="1125" b="0">
                <a:solidFill>
                  <a:srgbClr val="FFFFFF"/>
                </a:solidFill>
              </a:defRPr>
            </a:pPr>
            <a:r>
              <a:rPr sz="2000" b="0">
                <a:solidFill>
                  <a:schemeClr val="tx1"/>
                </a:solidFill>
              </a:rPr>
              <a:t>Shahriar Ebrahimi</a:t>
            </a:r>
            <a:endParaRPr sz="2000" b="0">
              <a:solidFill>
                <a:schemeClr val="tx1"/>
              </a:solidFill>
            </a:endParaRPr>
          </a:p>
          <a:p>
            <a:pPr algn="ctr">
              <a:defRPr sz="1125" b="0">
                <a:solidFill>
                  <a:srgbClr val="FFFFFF"/>
                </a:solidFill>
              </a:defRPr>
            </a:pPr>
            <a:r>
              <a:rPr lang="en-US" altLang="zh-CN" sz="2000" b="0">
                <a:solidFill>
                  <a:schemeClr val="tx1"/>
                </a:solidFill>
              </a:rPr>
              <a:t>IDEAS NCBR</a:t>
            </a:r>
            <a:endParaRPr lang="en-US" altLang="zh-CN" sz="2000" b="0">
              <a:solidFill>
                <a:schemeClr val="tx1"/>
              </a:solidFill>
            </a:endParaRPr>
          </a:p>
          <a:p>
            <a:pPr algn="ctr">
              <a:defRPr sz="1125" b="0">
                <a:solidFill>
                  <a:srgbClr val="FFFFFF"/>
                </a:solidFill>
              </a:defRPr>
            </a:pPr>
            <a:r>
              <a:rPr lang="en-US" altLang="zh-CN" sz="2000" b="0">
                <a:solidFill>
                  <a:schemeClr val="tx1"/>
                </a:solidFill>
              </a:rPr>
              <a:t>shahriar.ebrahimi@ideas-ncbr.pl</a:t>
            </a:r>
            <a:endParaRPr lang="en-US" altLang="zh-CN" sz="2000" b="0">
              <a:solidFill>
                <a:schemeClr val="tx1"/>
              </a:solidFill>
            </a:endParaRPr>
          </a:p>
        </p:txBody>
      </p:sp>
      <p:sp>
        <p:nvSpPr>
          <p:cNvPr id="9" name="矩形 8"/>
          <p:cNvSpPr>
            <a:spLocks noGrp="1"/>
          </p:cNvSpPr>
          <p:nvPr/>
        </p:nvSpPr>
        <p:spPr>
          <a:xfrm>
            <a:off x="6063615" y="1838960"/>
            <a:ext cx="4828540" cy="978535"/>
          </a:xfrm>
          <a:prstGeom prst="rect">
            <a:avLst/>
          </a:prstGeom>
          <a:noFill/>
          <a:ln w="0">
            <a:noFill/>
            <a:prstDash val="solid"/>
          </a:ln>
        </p:spPr>
        <p:txBody>
          <a:bodyPr/>
          <a:lstStyle>
            <a:defPPr>
              <a:defRPr sz="1125" b="0">
                <a:solidFill>
                  <a:srgbClr val="FFFFFF"/>
                </a:solidFill>
              </a:defRPr>
            </a:defPPr>
          </a:lstStyle>
          <a:p>
            <a:pPr algn="ctr">
              <a:defRPr sz="1125" b="0">
                <a:solidFill>
                  <a:srgbClr val="FFFFFF"/>
                </a:solidFill>
              </a:defRPr>
            </a:pPr>
            <a:r>
              <a:rPr lang="en-US" altLang="zh-CN" sz="2000" b="0">
                <a:solidFill>
                  <a:schemeClr val="tx1"/>
                </a:solidFill>
              </a:rPr>
              <a:t>Parisa Hassanizadeh</a:t>
            </a:r>
            <a:endParaRPr lang="en-US" altLang="zh-CN" sz="2000" b="0">
              <a:solidFill>
                <a:schemeClr val="tx1"/>
              </a:solidFill>
            </a:endParaRPr>
          </a:p>
          <a:p>
            <a:pPr algn="ctr">
              <a:defRPr sz="1125" b="0">
                <a:solidFill>
                  <a:srgbClr val="FFFFFF"/>
                </a:solidFill>
              </a:defRPr>
            </a:pPr>
            <a:r>
              <a:rPr lang="en-US" altLang="zh-CN" sz="2000" b="0">
                <a:solidFill>
                  <a:schemeClr val="tx1"/>
                </a:solidFill>
              </a:rPr>
              <a:t>IDEAS NCBR / Polish Academy of Science</a:t>
            </a:r>
            <a:endParaRPr lang="en-US" altLang="zh-CN" sz="2000" b="0">
              <a:solidFill>
                <a:schemeClr val="tx1"/>
              </a:solidFill>
            </a:endParaRPr>
          </a:p>
          <a:p>
            <a:pPr algn="ctr">
              <a:defRPr sz="1125" b="0">
                <a:solidFill>
                  <a:srgbClr val="FFFFFF"/>
                </a:solidFill>
              </a:defRPr>
            </a:pPr>
            <a:r>
              <a:rPr lang="en-US" altLang="zh-CN" sz="2000" b="0">
                <a:solidFill>
                  <a:schemeClr val="tx1"/>
                </a:solidFill>
              </a:rPr>
              <a:t>parisa.hassanizadeh@ideas-ncbr.pl</a:t>
            </a:r>
            <a:endParaRPr lang="en-US" altLang="zh-CN" sz="2000" b="0">
              <a:solidFill>
                <a:schemeClr val="tx1"/>
              </a:solidFill>
            </a:endParaRPr>
          </a:p>
        </p:txBody>
      </p:sp>
      <p:sp>
        <p:nvSpPr>
          <p:cNvPr id="10" name="矩形 9"/>
          <p:cNvSpPr>
            <a:spLocks noGrp="1"/>
          </p:cNvSpPr>
          <p:nvPr/>
        </p:nvSpPr>
        <p:spPr>
          <a:xfrm>
            <a:off x="795655" y="3644900"/>
            <a:ext cx="4095750" cy="401320"/>
          </a:xfrm>
          <a:prstGeom prst="rect">
            <a:avLst/>
          </a:prstGeom>
          <a:noFill/>
          <a:ln w="0">
            <a:noFill/>
            <a:prstDash val="solid"/>
          </a:ln>
        </p:spPr>
        <p:txBody>
          <a:bodyPr/>
          <a:lstStyle>
            <a:defPPr>
              <a:defRPr sz="1275" b="1">
                <a:solidFill>
                  <a:srgbClr val="F6B84A"/>
                </a:solidFill>
              </a:defRPr>
            </a:defPPr>
          </a:lstStyle>
          <a:p>
            <a:pPr>
              <a:defRPr sz="1275" b="1">
                <a:solidFill>
                  <a:srgbClr val="F6B84A"/>
                </a:solidFill>
              </a:defRPr>
            </a:pPr>
            <a:r>
              <a:rPr lang="zh-CN" sz="2000" b="1">
                <a:solidFill>
                  <a:srgbClr val="0070C0"/>
                </a:solidFill>
              </a:rPr>
              <a:t>汇报人：张洪睿，邓舒天，刘洋成</a:t>
            </a:r>
            <a:endParaRPr lang="zh-CN" sz="2000" b="1">
              <a:solidFill>
                <a:srgbClr val="0070C0"/>
              </a:solidFill>
            </a:endParaRPr>
          </a:p>
        </p:txBody>
      </p:sp>
    </p:spTree>
  </p:cSld>
  <p:clrMapOvr>
    <a:masterClrMapping/>
  </p:clrMapOvr>
</p:sld>
</file>

<file path=ppt/slides/slide2.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grpSp>
        <p:nvGrpSpPr>
          <p:cNvPr id="3" name="page-title"/>
          <p:cNvGrpSpPr/>
          <p:nvPr/>
        </p:nvGrpSpPr>
        <p:grpSpPr>
          <a:xfrm>
            <a:off x="763905" y="528320"/>
            <a:ext cx="5317236" cy="513398"/>
            <a:chOff x="763905" y="528320"/>
            <a:chExt cx="5317236" cy="513398"/>
          </a:xfrm>
        </p:grpSpPr>
        <p:sp>
          <p:nvSpPr>
            <p:cNvPr id="2" name="TextBox 2"/>
            <p:cNvSpPr txBox="1"/>
            <p:nvPr/>
          </p:nvSpPr>
          <p:spPr>
            <a:xfrm>
              <a:off x="763905" y="528320"/>
              <a:ext cx="5317236" cy="513398"/>
            </a:xfrm>
            <a:prstGeom prst="rect">
              <a:avLst/>
            </a:prstGeom>
            <a:noFill/>
            <a:ln>
              <a:noFill/>
            </a:ln>
          </p:spPr>
          <p:txBody>
            <a:bodyPr wrap="none" lIns="0" tIns="0" rIns="0" bIns="0" anchor="t" anchorCtr="0">
              <a:spAutoFit/>
            </a:bodyPr>
            <a:lstStyle/>
            <a:p>
              <a:pPr algn="l"/>
              <a:r>
                <a:rPr lang="zh-CN" sz="2620" b="1" dirty="0">
                  <a:solidFill>
                    <a:srgbClr val="172B4D"/>
                  </a:solidFill>
                  <a:latin typeface="Microsoft YaHei"/>
                  <a:ea typeface="Microsoft YaHei"/>
                  <a:cs typeface="Microsoft YaHei"/>
                </a:rPr>
                <a:t>汇报路线：从验证权限到公开证据</a:t>
              </a:r>
            </a:p>
          </p:txBody>
        </p:sp>
      </p:grpSp>
      <p:sp>
        <p:nvSpPr>
          <p:cNvPr id="4" name="Line 4"/>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7" name="page-footer"/>
          <p:cNvGrpSpPr/>
          <p:nvPr/>
        </p:nvGrpSpPr>
        <p:grpSpPr>
          <a:xfrm>
            <a:off x="776288" y="6524625"/>
            <a:ext cx="10629899" cy="176212"/>
            <a:chOff x="776288" y="6524625"/>
            <a:chExt cx="10629899" cy="176212"/>
          </a:xfrm>
        </p:grpSpPr>
        <p:sp>
          <p:nvSpPr>
            <p:cNvPr id="5" name="TextBox 5"/>
            <p:cNvSpPr txBox="1"/>
            <p:nvPr/>
          </p:nvSpPr>
          <p:spPr>
            <a:xfrm>
              <a:off x="776288" y="6524625"/>
              <a:ext cx="1662189"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目录 · 论文 I–IX；原 PPT 目录</a:t>
              </a:r>
            </a:p>
          </p:txBody>
        </p:sp>
        <p:sp>
          <p:nvSpPr>
            <p:cNvPr id="6" name="TextBox 6"/>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02 / 20</a:t>
              </a:r>
            </a:p>
          </p:txBody>
        </p:sp>
      </p:grpSp>
      <p:grpSp>
        <p:nvGrpSpPr>
          <p:cNvPr id="13" name="agenda-0"/>
          <p:cNvGrpSpPr/>
          <p:nvPr/>
        </p:nvGrpSpPr>
        <p:grpSpPr>
          <a:xfrm>
            <a:off x="814578" y="1552575"/>
            <a:ext cx="10520172" cy="866775"/>
            <a:chOff x="814578" y="1552575"/>
            <a:chExt cx="10520172" cy="866775"/>
          </a:xfrm>
        </p:grpSpPr>
        <p:sp>
          <p:nvSpPr>
            <p:cNvPr id="8" name="TextBox 8"/>
            <p:cNvSpPr txBox="1"/>
            <p:nvPr/>
          </p:nvSpPr>
          <p:spPr>
            <a:xfrm>
              <a:off x="814578" y="1552575"/>
              <a:ext cx="460445" cy="543687"/>
            </a:xfrm>
            <a:prstGeom prst="rect">
              <a:avLst/>
            </a:prstGeom>
            <a:noFill/>
            <a:ln>
              <a:noFill/>
            </a:ln>
          </p:spPr>
          <p:txBody>
            <a:bodyPr wrap="none" lIns="0" tIns="0" rIns="0" bIns="0" anchor="t" anchorCtr="0">
              <a:spAutoFit/>
            </a:bodyPr>
            <a:lstStyle/>
            <a:p>
              <a:pPr algn="l"/>
              <a:r>
                <a:rPr lang="zh-CN" sz="2780" b="1" dirty="0">
                  <a:solidFill>
                    <a:srgbClr val="2F4F98"/>
                  </a:solidFill>
                  <a:latin typeface="Microsoft YaHei"/>
                  <a:ea typeface="Microsoft YaHei"/>
                  <a:cs typeface="Microsoft YaHei"/>
                </a:rPr>
                <a:t>01</a:t>
              </a:r>
            </a:p>
          </p:txBody>
        </p:sp>
        <p:sp>
          <p:nvSpPr>
            <p:cNvPr id="9" name="TextBox 9"/>
            <p:cNvSpPr txBox="1"/>
            <p:nvPr/>
          </p:nvSpPr>
          <p:spPr>
            <a:xfrm>
              <a:off x="1685163" y="1597025"/>
              <a:ext cx="1380236" cy="396050"/>
            </a:xfrm>
            <a:prstGeom prst="rect">
              <a:avLst/>
            </a:prstGeom>
            <a:noFill/>
            <a:ln>
              <a:noFill/>
            </a:ln>
          </p:spPr>
          <p:txBody>
            <a:bodyPr wrap="none" lIns="0" tIns="0" rIns="0" bIns="0" anchor="t" anchorCtr="0">
              <a:spAutoFit/>
            </a:bodyPr>
            <a:lstStyle/>
            <a:p>
              <a:pPr algn="l"/>
              <a:r>
                <a:rPr lang="zh-CN" sz="2020" b="1" dirty="0">
                  <a:solidFill>
                    <a:srgbClr val="172B4D"/>
                  </a:solidFill>
                  <a:latin typeface="Microsoft YaHei"/>
                  <a:ea typeface="Microsoft YaHei"/>
                  <a:cs typeface="Microsoft YaHei"/>
                </a:rPr>
                <a:t>背景与问题</a:t>
              </a:r>
            </a:p>
          </p:txBody>
        </p:sp>
        <p:sp>
          <p:nvSpPr>
            <p:cNvPr id="10" name="TextBox 10"/>
            <p:cNvSpPr txBox="1"/>
            <p:nvPr/>
          </p:nvSpPr>
          <p:spPr>
            <a:xfrm>
              <a:off x="1687068" y="1987550"/>
              <a:ext cx="3348609" cy="322707"/>
            </a:xfrm>
            <a:prstGeom prst="rect">
              <a:avLst/>
            </a:prstGeom>
            <a:noFill/>
            <a:ln>
              <a:noFill/>
            </a:ln>
          </p:spPr>
          <p:txBody>
            <a:bodyPr wrap="none" lIns="0" tIns="0" rIns="0" bIns="0" anchor="t" anchorCtr="0">
              <a:spAutoFit/>
            </a:bodyPr>
            <a:lstStyle/>
            <a:p>
              <a:pPr algn="l"/>
              <a:r>
                <a:rPr lang="zh-CN" sz="1650" dirty="0">
                  <a:solidFill>
                    <a:srgbClr val="52657E"/>
                  </a:solidFill>
                  <a:latin typeface="Microsoft YaHei"/>
                  <a:ea typeface="Microsoft YaHei"/>
                  <a:cs typeface="Microsoft YaHei"/>
                </a:rPr>
                <a:t>谁能验证？为什么仍依赖可信方？</a:t>
              </a:r>
            </a:p>
          </p:txBody>
        </p:sp>
        <p:sp>
          <p:nvSpPr>
            <p:cNvPr id="11" name="TextBox 11"/>
            <p:cNvSpPr txBox="1"/>
            <p:nvPr/>
          </p:nvSpPr>
          <p:spPr>
            <a:xfrm>
              <a:off x="10134988" y="1701800"/>
              <a:ext cx="1055744" cy="322707"/>
            </a:xfrm>
            <a:prstGeom prst="rect">
              <a:avLst/>
            </a:prstGeom>
            <a:noFill/>
            <a:ln>
              <a:noFill/>
            </a:ln>
          </p:spPr>
          <p:txBody>
            <a:bodyPr wrap="none" lIns="0" tIns="0" rIns="0" bIns="0" anchor="t" anchorCtr="0">
              <a:spAutoFit/>
            </a:bodyPr>
            <a:lstStyle/>
            <a:p>
              <a:pPr algn="r"/>
              <a:r>
                <a:rPr lang="zh-CN" sz="1650" b="1" dirty="0">
                  <a:solidFill>
                    <a:srgbClr val="159AA8"/>
                  </a:solidFill>
                  <a:latin typeface="Microsoft YaHei"/>
                  <a:ea typeface="Microsoft YaHei"/>
                  <a:cs typeface="Microsoft YaHei"/>
                </a:rPr>
                <a:t>4 分 20 秒</a:t>
              </a:r>
            </a:p>
          </p:txBody>
        </p:sp>
        <p:sp>
          <p:nvSpPr>
            <p:cNvPr id="12" name="Line 12"/>
            <p:cNvSpPr/>
            <p:nvPr/>
          </p:nvSpPr>
          <p:spPr>
            <a:xfrm>
              <a:off x="1666875" y="2409825"/>
              <a:ext cx="9667875" cy="9525"/>
            </a:xfrm>
            <a:custGeom>
              <a:avLst/>
              <a:gdLst/>
              <a:ahLst/>
              <a:cxnLst/>
              <a:rect l="l" t="t" r="r" b="b"/>
              <a:pathLst>
                <a:path w="9667875" h="9525">
                  <a:moveTo>
                    <a:pt x="0" y="0"/>
                  </a:moveTo>
                  <a:lnTo>
                    <a:pt x="9667875" y="0"/>
                  </a:lnTo>
                </a:path>
              </a:pathLst>
            </a:custGeom>
            <a:noFill/>
            <a:ln w="14288">
              <a:solidFill>
                <a:srgbClr val="D6E1EF"/>
              </a:solidFill>
            </a:ln>
          </p:spPr>
        </p:sp>
      </p:grpSp>
      <p:grpSp>
        <p:nvGrpSpPr>
          <p:cNvPr id="19" name="agenda-1"/>
          <p:cNvGrpSpPr/>
          <p:nvPr/>
        </p:nvGrpSpPr>
        <p:grpSpPr>
          <a:xfrm>
            <a:off x="814578" y="2619375"/>
            <a:ext cx="10520172" cy="866775"/>
            <a:chOff x="814578" y="2619375"/>
            <a:chExt cx="10520172" cy="866775"/>
          </a:xfrm>
        </p:grpSpPr>
        <p:sp>
          <p:nvSpPr>
            <p:cNvPr id="14" name="TextBox 14"/>
            <p:cNvSpPr txBox="1"/>
            <p:nvPr/>
          </p:nvSpPr>
          <p:spPr>
            <a:xfrm>
              <a:off x="814578" y="2619375"/>
              <a:ext cx="460445" cy="543687"/>
            </a:xfrm>
            <a:prstGeom prst="rect">
              <a:avLst/>
            </a:prstGeom>
            <a:noFill/>
            <a:ln>
              <a:noFill/>
            </a:ln>
          </p:spPr>
          <p:txBody>
            <a:bodyPr wrap="none" lIns="0" tIns="0" rIns="0" bIns="0" anchor="t" anchorCtr="0">
              <a:spAutoFit/>
            </a:bodyPr>
            <a:lstStyle/>
            <a:p>
              <a:pPr algn="l"/>
              <a:r>
                <a:rPr lang="zh-CN" sz="2780" b="1" dirty="0">
                  <a:solidFill>
                    <a:srgbClr val="2F4F98"/>
                  </a:solidFill>
                  <a:latin typeface="Microsoft YaHei"/>
                  <a:ea typeface="Microsoft YaHei"/>
                  <a:cs typeface="Microsoft YaHei"/>
                </a:rPr>
                <a:t>02</a:t>
              </a:r>
            </a:p>
          </p:txBody>
        </p:sp>
        <p:sp>
          <p:nvSpPr>
            <p:cNvPr id="15" name="TextBox 15"/>
            <p:cNvSpPr txBox="1"/>
            <p:nvPr/>
          </p:nvSpPr>
          <p:spPr>
            <a:xfrm>
              <a:off x="1685163" y="2663825"/>
              <a:ext cx="1142231" cy="396050"/>
            </a:xfrm>
            <a:prstGeom prst="rect">
              <a:avLst/>
            </a:prstGeom>
            <a:noFill/>
            <a:ln>
              <a:noFill/>
            </a:ln>
          </p:spPr>
          <p:txBody>
            <a:bodyPr wrap="none" lIns="0" tIns="0" rIns="0" bIns="0" anchor="t" anchorCtr="0">
              <a:spAutoFit/>
            </a:bodyPr>
            <a:lstStyle/>
            <a:p>
              <a:pPr algn="l"/>
              <a:r>
                <a:rPr lang="zh-CN" sz="2020" b="1" dirty="0">
                  <a:solidFill>
                    <a:srgbClr val="172B4D"/>
                  </a:solidFill>
                  <a:latin typeface="Microsoft YaHei"/>
                  <a:ea typeface="Microsoft YaHei"/>
                  <a:cs typeface="Microsoft YaHei"/>
                </a:rPr>
                <a:t>zRA 设计</a:t>
              </a:r>
            </a:p>
          </p:txBody>
        </p:sp>
        <p:sp>
          <p:nvSpPr>
            <p:cNvPr id="16" name="TextBox 16"/>
            <p:cNvSpPr txBox="1"/>
            <p:nvPr/>
          </p:nvSpPr>
          <p:spPr>
            <a:xfrm>
              <a:off x="1687068" y="3054350"/>
              <a:ext cx="4237101" cy="322707"/>
            </a:xfrm>
            <a:prstGeom prst="rect">
              <a:avLst/>
            </a:prstGeom>
            <a:noFill/>
            <a:ln>
              <a:noFill/>
            </a:ln>
          </p:spPr>
          <p:txBody>
            <a:bodyPr wrap="none" lIns="0" tIns="0" rIns="0" bIns="0" anchor="t" anchorCtr="0">
              <a:spAutoFit/>
            </a:bodyPr>
            <a:lstStyle/>
            <a:p>
              <a:pPr algn="l"/>
              <a:r>
                <a:rPr lang="zh-CN" sz="1650" dirty="0">
                  <a:solidFill>
                    <a:srgbClr val="52657E"/>
                  </a:solidFill>
                  <a:latin typeface="Microsoft YaHei"/>
                  <a:ea typeface="Microsoft YaHei"/>
                  <a:cs typeface="Microsoft YaHei"/>
                </a:rPr>
                <a:t>响应承诺、可信测量、公开证明如何衔接？</a:t>
              </a:r>
            </a:p>
          </p:txBody>
        </p:sp>
        <p:sp>
          <p:nvSpPr>
            <p:cNvPr id="17" name="TextBox 17"/>
            <p:cNvSpPr txBox="1"/>
            <p:nvPr/>
          </p:nvSpPr>
          <p:spPr>
            <a:xfrm>
              <a:off x="10134988" y="2768600"/>
              <a:ext cx="1055744" cy="322707"/>
            </a:xfrm>
            <a:prstGeom prst="rect">
              <a:avLst/>
            </a:prstGeom>
            <a:noFill/>
            <a:ln>
              <a:noFill/>
            </a:ln>
          </p:spPr>
          <p:txBody>
            <a:bodyPr wrap="none" lIns="0" tIns="0" rIns="0" bIns="0" anchor="t" anchorCtr="0">
              <a:spAutoFit/>
            </a:bodyPr>
            <a:lstStyle/>
            <a:p>
              <a:pPr algn="r"/>
              <a:r>
                <a:rPr lang="zh-CN" sz="1650" b="1" dirty="0">
                  <a:solidFill>
                    <a:srgbClr val="159AA8"/>
                  </a:solidFill>
                  <a:latin typeface="Microsoft YaHei"/>
                  <a:ea typeface="Microsoft YaHei"/>
                  <a:cs typeface="Microsoft YaHei"/>
                </a:rPr>
                <a:t>8 分 25 秒</a:t>
              </a:r>
            </a:p>
          </p:txBody>
        </p:sp>
        <p:sp>
          <p:nvSpPr>
            <p:cNvPr id="18" name="Line 18"/>
            <p:cNvSpPr/>
            <p:nvPr/>
          </p:nvSpPr>
          <p:spPr>
            <a:xfrm>
              <a:off x="1666875" y="3476625"/>
              <a:ext cx="9667875" cy="9525"/>
            </a:xfrm>
            <a:custGeom>
              <a:avLst/>
              <a:gdLst/>
              <a:ahLst/>
              <a:cxnLst/>
              <a:rect l="l" t="t" r="r" b="b"/>
              <a:pathLst>
                <a:path w="9667875" h="9525">
                  <a:moveTo>
                    <a:pt x="0" y="0"/>
                  </a:moveTo>
                  <a:lnTo>
                    <a:pt x="9667875" y="0"/>
                  </a:lnTo>
                </a:path>
              </a:pathLst>
            </a:custGeom>
            <a:noFill/>
            <a:ln w="14288">
              <a:solidFill>
                <a:srgbClr val="D6E1EF"/>
              </a:solidFill>
            </a:ln>
          </p:spPr>
        </p:sp>
      </p:grpSp>
      <p:grpSp>
        <p:nvGrpSpPr>
          <p:cNvPr id="25" name="agenda-2"/>
          <p:cNvGrpSpPr/>
          <p:nvPr/>
        </p:nvGrpSpPr>
        <p:grpSpPr>
          <a:xfrm>
            <a:off x="814578" y="3686175"/>
            <a:ext cx="10520172" cy="866775"/>
            <a:chOff x="814578" y="3686175"/>
            <a:chExt cx="10520172" cy="866775"/>
          </a:xfrm>
        </p:grpSpPr>
        <p:sp>
          <p:nvSpPr>
            <p:cNvPr id="20" name="TextBox 20"/>
            <p:cNvSpPr txBox="1"/>
            <p:nvPr/>
          </p:nvSpPr>
          <p:spPr>
            <a:xfrm>
              <a:off x="814578" y="3686175"/>
              <a:ext cx="460445" cy="543687"/>
            </a:xfrm>
            <a:prstGeom prst="rect">
              <a:avLst/>
            </a:prstGeom>
            <a:noFill/>
            <a:ln>
              <a:noFill/>
            </a:ln>
          </p:spPr>
          <p:txBody>
            <a:bodyPr wrap="none" lIns="0" tIns="0" rIns="0" bIns="0" anchor="t" anchorCtr="0">
              <a:spAutoFit/>
            </a:bodyPr>
            <a:lstStyle/>
            <a:p>
              <a:pPr algn="l"/>
              <a:r>
                <a:rPr lang="zh-CN" sz="2780" b="1" dirty="0">
                  <a:solidFill>
                    <a:srgbClr val="2F4F98"/>
                  </a:solidFill>
                  <a:latin typeface="Microsoft YaHei"/>
                  <a:ea typeface="Microsoft YaHei"/>
                  <a:cs typeface="Microsoft YaHei"/>
                </a:rPr>
                <a:t>03</a:t>
              </a:r>
            </a:p>
          </p:txBody>
        </p:sp>
        <p:sp>
          <p:nvSpPr>
            <p:cNvPr id="21" name="TextBox 21"/>
            <p:cNvSpPr txBox="1"/>
            <p:nvPr/>
          </p:nvSpPr>
          <p:spPr>
            <a:xfrm>
              <a:off x="1685163" y="3730625"/>
              <a:ext cx="1380236" cy="396050"/>
            </a:xfrm>
            <a:prstGeom prst="rect">
              <a:avLst/>
            </a:prstGeom>
            <a:noFill/>
            <a:ln>
              <a:noFill/>
            </a:ln>
          </p:spPr>
          <p:txBody>
            <a:bodyPr wrap="none" lIns="0" tIns="0" rIns="0" bIns="0" anchor="t" anchorCtr="0">
              <a:spAutoFit/>
            </a:bodyPr>
            <a:lstStyle/>
            <a:p>
              <a:pPr algn="l"/>
              <a:r>
                <a:rPr lang="zh-CN" sz="2020" b="1" dirty="0">
                  <a:solidFill>
                    <a:srgbClr val="172B4D"/>
                  </a:solidFill>
                  <a:latin typeface="Microsoft YaHei"/>
                  <a:ea typeface="Microsoft YaHei"/>
                  <a:cs typeface="Microsoft YaHei"/>
                </a:rPr>
                <a:t>原型与实验</a:t>
              </a:r>
            </a:p>
          </p:txBody>
        </p:sp>
        <p:sp>
          <p:nvSpPr>
            <p:cNvPr id="22" name="TextBox 22"/>
            <p:cNvSpPr txBox="1"/>
            <p:nvPr/>
          </p:nvSpPr>
          <p:spPr>
            <a:xfrm>
              <a:off x="1687068" y="4121150"/>
              <a:ext cx="3792855" cy="322707"/>
            </a:xfrm>
            <a:prstGeom prst="rect">
              <a:avLst/>
            </a:prstGeom>
            <a:noFill/>
            <a:ln>
              <a:noFill/>
            </a:ln>
          </p:spPr>
          <p:txBody>
            <a:bodyPr wrap="none" lIns="0" tIns="0" rIns="0" bIns="0" anchor="t" anchorCtr="0">
              <a:spAutoFit/>
            </a:bodyPr>
            <a:lstStyle/>
            <a:p>
              <a:pPr algn="l"/>
              <a:r>
                <a:rPr lang="zh-CN" sz="1650" dirty="0">
                  <a:solidFill>
                    <a:srgbClr val="52657E"/>
                  </a:solidFill>
                  <a:latin typeface="Microsoft YaHei"/>
                  <a:ea typeface="Microsoft YaHei"/>
                  <a:cs typeface="Microsoft YaHei"/>
                </a:rPr>
                <a:t>设备端耗时、存储和能耗是否可承受？</a:t>
              </a:r>
            </a:p>
          </p:txBody>
        </p:sp>
        <p:sp>
          <p:nvSpPr>
            <p:cNvPr id="23" name="TextBox 23"/>
            <p:cNvSpPr txBox="1"/>
            <p:nvPr/>
          </p:nvSpPr>
          <p:spPr>
            <a:xfrm>
              <a:off x="10134988" y="3835400"/>
              <a:ext cx="1055744" cy="322707"/>
            </a:xfrm>
            <a:prstGeom prst="rect">
              <a:avLst/>
            </a:prstGeom>
            <a:noFill/>
            <a:ln>
              <a:noFill/>
            </a:ln>
          </p:spPr>
          <p:txBody>
            <a:bodyPr wrap="none" lIns="0" tIns="0" rIns="0" bIns="0" anchor="t" anchorCtr="0">
              <a:spAutoFit/>
            </a:bodyPr>
            <a:lstStyle/>
            <a:p>
              <a:pPr algn="r"/>
              <a:r>
                <a:rPr lang="zh-CN" sz="1650" b="1" dirty="0">
                  <a:solidFill>
                    <a:srgbClr val="159AA8"/>
                  </a:solidFill>
                  <a:latin typeface="Microsoft YaHei"/>
                  <a:ea typeface="Microsoft YaHei"/>
                  <a:cs typeface="Microsoft YaHei"/>
                </a:rPr>
                <a:t>6 分 00 秒</a:t>
              </a:r>
            </a:p>
          </p:txBody>
        </p:sp>
        <p:sp>
          <p:nvSpPr>
            <p:cNvPr id="24" name="Line 24"/>
            <p:cNvSpPr/>
            <p:nvPr/>
          </p:nvSpPr>
          <p:spPr>
            <a:xfrm>
              <a:off x="1666875" y="4543425"/>
              <a:ext cx="9667875" cy="9525"/>
            </a:xfrm>
            <a:custGeom>
              <a:avLst/>
              <a:gdLst/>
              <a:ahLst/>
              <a:cxnLst/>
              <a:rect l="l" t="t" r="r" b="b"/>
              <a:pathLst>
                <a:path w="9667875" h="9525">
                  <a:moveTo>
                    <a:pt x="0" y="0"/>
                  </a:moveTo>
                  <a:lnTo>
                    <a:pt x="9667875" y="0"/>
                  </a:lnTo>
                </a:path>
              </a:pathLst>
            </a:custGeom>
            <a:noFill/>
            <a:ln w="14288">
              <a:solidFill>
                <a:srgbClr val="D6E1EF"/>
              </a:solidFill>
            </a:ln>
          </p:spPr>
        </p:sp>
      </p:grpSp>
      <p:grpSp>
        <p:nvGrpSpPr>
          <p:cNvPr id="31" name="agenda-3"/>
          <p:cNvGrpSpPr/>
          <p:nvPr/>
        </p:nvGrpSpPr>
        <p:grpSpPr>
          <a:xfrm>
            <a:off x="814578" y="4752975"/>
            <a:ext cx="10520172" cy="866775"/>
            <a:chOff x="814578" y="4752975"/>
            <a:chExt cx="10520172" cy="866775"/>
          </a:xfrm>
        </p:grpSpPr>
        <p:sp>
          <p:nvSpPr>
            <p:cNvPr id="26" name="TextBox 26"/>
            <p:cNvSpPr txBox="1"/>
            <p:nvPr/>
          </p:nvSpPr>
          <p:spPr>
            <a:xfrm>
              <a:off x="814578" y="4752975"/>
              <a:ext cx="460445" cy="543687"/>
            </a:xfrm>
            <a:prstGeom prst="rect">
              <a:avLst/>
            </a:prstGeom>
            <a:noFill/>
            <a:ln>
              <a:noFill/>
            </a:ln>
          </p:spPr>
          <p:txBody>
            <a:bodyPr wrap="none" lIns="0" tIns="0" rIns="0" bIns="0" anchor="t" anchorCtr="0">
              <a:spAutoFit/>
            </a:bodyPr>
            <a:lstStyle/>
            <a:p>
              <a:pPr algn="l"/>
              <a:r>
                <a:rPr lang="zh-CN" sz="2780" b="1" dirty="0">
                  <a:solidFill>
                    <a:srgbClr val="2F4F98"/>
                  </a:solidFill>
                  <a:latin typeface="Microsoft YaHei"/>
                  <a:ea typeface="Microsoft YaHei"/>
                  <a:cs typeface="Microsoft YaHei"/>
                </a:rPr>
                <a:t>04</a:t>
              </a:r>
            </a:p>
          </p:txBody>
        </p:sp>
        <p:sp>
          <p:nvSpPr>
            <p:cNvPr id="27" name="TextBox 27"/>
            <p:cNvSpPr txBox="1"/>
            <p:nvPr/>
          </p:nvSpPr>
          <p:spPr>
            <a:xfrm>
              <a:off x="1685163" y="4797425"/>
              <a:ext cx="1380236" cy="396050"/>
            </a:xfrm>
            <a:prstGeom prst="rect">
              <a:avLst/>
            </a:prstGeom>
            <a:noFill/>
            <a:ln>
              <a:noFill/>
            </a:ln>
          </p:spPr>
          <p:txBody>
            <a:bodyPr wrap="none" lIns="0" tIns="0" rIns="0" bIns="0" anchor="t" anchorCtr="0">
              <a:spAutoFit/>
            </a:bodyPr>
            <a:lstStyle/>
            <a:p>
              <a:pPr algn="l"/>
              <a:r>
                <a:rPr lang="zh-CN" sz="2020" b="1" dirty="0">
                  <a:solidFill>
                    <a:srgbClr val="172B4D"/>
                  </a:solidFill>
                  <a:latin typeface="Microsoft YaHei"/>
                  <a:ea typeface="Microsoft YaHei"/>
                  <a:cs typeface="Microsoft YaHei"/>
                </a:rPr>
                <a:t>评价与启示</a:t>
              </a:r>
            </a:p>
          </p:txBody>
        </p:sp>
        <p:sp>
          <p:nvSpPr>
            <p:cNvPr id="28" name="TextBox 28"/>
            <p:cNvSpPr txBox="1"/>
            <p:nvPr/>
          </p:nvSpPr>
          <p:spPr>
            <a:xfrm>
              <a:off x="1687068" y="5187950"/>
              <a:ext cx="3792855" cy="322707"/>
            </a:xfrm>
            <a:prstGeom prst="rect">
              <a:avLst/>
            </a:prstGeom>
            <a:noFill/>
            <a:ln>
              <a:noFill/>
            </a:ln>
          </p:spPr>
          <p:txBody>
            <a:bodyPr wrap="none" lIns="0" tIns="0" rIns="0" bIns="0" anchor="t" anchorCtr="0">
              <a:spAutoFit/>
            </a:bodyPr>
            <a:lstStyle/>
            <a:p>
              <a:pPr algn="l"/>
              <a:r>
                <a:rPr lang="zh-CN" sz="1650" dirty="0">
                  <a:solidFill>
                    <a:srgbClr val="52657E"/>
                  </a:solidFill>
                  <a:latin typeface="Microsoft YaHei"/>
                  <a:ea typeface="Microsoft YaHei"/>
                  <a:cs typeface="Microsoft YaHei"/>
                </a:rPr>
                <a:t>信任转移到了哪里？适用边界是什么？</a:t>
              </a:r>
            </a:p>
          </p:txBody>
        </p:sp>
        <p:sp>
          <p:nvSpPr>
            <p:cNvPr id="29" name="TextBox 29"/>
            <p:cNvSpPr txBox="1"/>
            <p:nvPr/>
          </p:nvSpPr>
          <p:spPr>
            <a:xfrm>
              <a:off x="10134988" y="4902200"/>
              <a:ext cx="1055744" cy="322707"/>
            </a:xfrm>
            <a:prstGeom prst="rect">
              <a:avLst/>
            </a:prstGeom>
            <a:noFill/>
            <a:ln>
              <a:noFill/>
            </a:ln>
          </p:spPr>
          <p:txBody>
            <a:bodyPr wrap="none" lIns="0" tIns="0" rIns="0" bIns="0" anchor="t" anchorCtr="0">
              <a:spAutoFit/>
            </a:bodyPr>
            <a:lstStyle/>
            <a:p>
              <a:pPr algn="r"/>
              <a:r>
                <a:rPr lang="zh-CN" sz="1650" b="1" dirty="0">
                  <a:solidFill>
                    <a:srgbClr val="159AA8"/>
                  </a:solidFill>
                  <a:latin typeface="Microsoft YaHei"/>
                  <a:ea typeface="Microsoft YaHei"/>
                  <a:cs typeface="Microsoft YaHei"/>
                </a:rPr>
                <a:t>1 分 15 秒</a:t>
              </a:r>
            </a:p>
          </p:txBody>
        </p:sp>
        <p:sp>
          <p:nvSpPr>
            <p:cNvPr id="30" name="Line 30"/>
            <p:cNvSpPr/>
            <p:nvPr/>
          </p:nvSpPr>
          <p:spPr>
            <a:xfrm>
              <a:off x="1666875" y="5610225"/>
              <a:ext cx="9667875" cy="9525"/>
            </a:xfrm>
            <a:custGeom>
              <a:avLst/>
              <a:gdLst/>
              <a:ahLst/>
              <a:cxnLst/>
              <a:rect l="l" t="t" r="r" b="b"/>
              <a:pathLst>
                <a:path w="9667875" h="9525">
                  <a:moveTo>
                    <a:pt x="0" y="0"/>
                  </a:moveTo>
                  <a:lnTo>
                    <a:pt x="9667875" y="0"/>
                  </a:lnTo>
                </a:path>
              </a:pathLst>
            </a:custGeom>
            <a:noFill/>
            <a:ln w="14288">
              <a:solidFill>
                <a:srgbClr val="D6E1EF"/>
              </a:solidFill>
            </a:ln>
          </p:spPr>
        </p:sp>
      </p:grpSp>
      <p:grpSp>
        <p:nvGrpSpPr>
          <p:cNvPr id="36" name="takeaway"/>
          <p:cNvGrpSpPr/>
          <p:nvPr/>
        </p:nvGrpSpPr>
        <p:grpSpPr>
          <a:xfrm>
            <a:off x="723900" y="5924550"/>
            <a:ext cx="10744200" cy="466725"/>
            <a:chOff x="723900" y="5924550"/>
            <a:chExt cx="10744200" cy="466725"/>
          </a:xfrm>
        </p:grpSpPr>
        <p:sp>
          <p:nvSpPr>
            <p:cNvPr id="32" name="Rectangle 32"/>
            <p:cNvSpPr/>
            <p:nvPr/>
          </p:nvSpPr>
          <p:spPr>
            <a:xfrm>
              <a:off x="723900" y="5924550"/>
              <a:ext cx="10744200" cy="466725"/>
            </a:xfrm>
            <a:prstGeom prst="roundRect">
              <a:avLst>
                <a:gd name="adj" fmla="val 12245"/>
              </a:avLst>
            </a:prstGeom>
            <a:solidFill>
              <a:srgbClr val="EDF3FB"/>
            </a:solidFill>
            <a:ln>
              <a:noFill/>
            </a:ln>
          </p:spPr>
        </p:sp>
        <p:sp>
          <p:nvSpPr>
            <p:cNvPr id="35" name="TextBox 35"/>
            <p:cNvSpPr txBox="1"/>
            <p:nvPr/>
          </p:nvSpPr>
          <p:spPr>
            <a:xfrm>
              <a:off x="887349" y="6038850"/>
              <a:ext cx="5120792"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核心问题：能否让任何人独立核验设备的软件完整性？</a:t>
              </a:r>
            </a:p>
          </p:txBody>
        </p:sp>
      </p:grpSp>
    </p:spTree>
  </p:cSld>
  <p:clrMapOvr>
    <a:masterClrMapping/>
  </p:clrMapOvr>
</p:sld>
</file>

<file path=ppt/slides/slide3.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grpSp>
        <p:nvGrpSpPr>
          <p:cNvPr id="3" name="page-title"/>
          <p:cNvGrpSpPr/>
          <p:nvPr/>
        </p:nvGrpSpPr>
        <p:grpSpPr>
          <a:xfrm>
            <a:off x="763905" y="528320"/>
            <a:ext cx="5669940" cy="513398"/>
            <a:chOff x="763905" y="528320"/>
            <a:chExt cx="5669940" cy="513398"/>
          </a:xfrm>
        </p:grpSpPr>
        <p:sp>
          <p:nvSpPr>
            <p:cNvPr id="2" name="TextBox 2"/>
            <p:cNvSpPr txBox="1"/>
            <p:nvPr/>
          </p:nvSpPr>
          <p:spPr>
            <a:xfrm>
              <a:off x="763905" y="528320"/>
              <a:ext cx="5669940" cy="513398"/>
            </a:xfrm>
            <a:prstGeom prst="rect">
              <a:avLst/>
            </a:prstGeom>
            <a:noFill/>
            <a:ln>
              <a:noFill/>
            </a:ln>
          </p:spPr>
          <p:txBody>
            <a:bodyPr wrap="none" lIns="0" tIns="0" rIns="0" bIns="0" anchor="t" anchorCtr="0">
              <a:spAutoFit/>
            </a:bodyPr>
            <a:lstStyle/>
            <a:p>
              <a:pPr algn="l"/>
              <a:r>
                <a:rPr lang="zh-CN" sz="2620" b="1" dirty="0">
                  <a:solidFill>
                    <a:srgbClr val="172B4D"/>
                  </a:solidFill>
                  <a:latin typeface="Microsoft YaHei"/>
                  <a:ea typeface="Microsoft YaHei"/>
                  <a:cs typeface="Microsoft YaHei"/>
                </a:rPr>
                <a:t>远程证明验证什么：模型与信任边界</a:t>
              </a:r>
            </a:p>
          </p:txBody>
        </p:sp>
      </p:grpSp>
      <p:sp>
        <p:nvSpPr>
          <p:cNvPr id="4" name="Line 4"/>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7" name="page-footer"/>
          <p:cNvGrpSpPr/>
          <p:nvPr/>
        </p:nvGrpSpPr>
        <p:grpSpPr>
          <a:xfrm>
            <a:off x="776288" y="6524625"/>
            <a:ext cx="10629899" cy="176212"/>
            <a:chOff x="776288" y="6524625"/>
            <a:chExt cx="10629899" cy="176212"/>
          </a:xfrm>
        </p:grpSpPr>
        <p:sp>
          <p:nvSpPr>
            <p:cNvPr id="5" name="TextBox 5"/>
            <p:cNvSpPr txBox="1"/>
            <p:nvPr/>
          </p:nvSpPr>
          <p:spPr>
            <a:xfrm>
              <a:off x="776288" y="6524625"/>
              <a:ext cx="2010118"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01 研究背景 · 论文 I、II、附录 B / C</a:t>
              </a:r>
            </a:p>
          </p:txBody>
        </p:sp>
        <p:sp>
          <p:nvSpPr>
            <p:cNvPr id="6" name="TextBox 6"/>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03 / 20</a:t>
              </a:r>
            </a:p>
          </p:txBody>
        </p:sp>
      </p:grpSp>
      <p:grpSp>
        <p:nvGrpSpPr>
          <p:cNvPr id="18" name="traditional-flow"/>
          <p:cNvGrpSpPr/>
          <p:nvPr/>
        </p:nvGrpSpPr>
        <p:grpSpPr>
          <a:xfrm>
            <a:off x="895350" y="1657350"/>
            <a:ext cx="10382250" cy="1152525"/>
            <a:chOff x="895350" y="1657350"/>
            <a:chExt cx="10382250" cy="1152525"/>
          </a:xfrm>
        </p:grpSpPr>
        <p:sp>
          <p:nvSpPr>
            <p:cNvPr id="8" name="Rectangle 8"/>
            <p:cNvSpPr/>
            <p:nvPr/>
          </p:nvSpPr>
          <p:spPr>
            <a:xfrm>
              <a:off x="895350" y="1685925"/>
              <a:ext cx="2857500" cy="1123950"/>
            </a:xfrm>
            <a:prstGeom prst="roundRect">
              <a:avLst>
                <a:gd name="adj" fmla="val 6780"/>
              </a:avLst>
            </a:prstGeom>
            <a:solidFill>
              <a:srgbClr val="EDF3FB"/>
            </a:solidFill>
            <a:ln w="9525">
              <a:solidFill>
                <a:srgbClr val="2F4F98"/>
              </a:solidFill>
            </a:ln>
          </p:spPr>
        </p:sp>
        <p:sp>
          <p:nvSpPr>
            <p:cNvPr id="9" name="TextBox 9"/>
            <p:cNvSpPr txBox="1"/>
            <p:nvPr/>
          </p:nvSpPr>
          <p:spPr>
            <a:xfrm>
              <a:off x="1756082" y="1851025"/>
              <a:ext cx="1136035" cy="410718"/>
            </a:xfrm>
            <a:prstGeom prst="rect">
              <a:avLst/>
            </a:prstGeom>
            <a:noFill/>
            <a:ln>
              <a:noFill/>
            </a:ln>
          </p:spPr>
          <p:txBody>
            <a:bodyPr wrap="none" lIns="0" tIns="0" rIns="0" bIns="0" anchor="t" anchorCtr="0">
              <a:spAutoFit/>
            </a:bodyPr>
            <a:lstStyle/>
            <a:p>
              <a:pPr algn="ctr"/>
              <a:r>
                <a:rPr lang="zh-CN" sz="2100" b="1" dirty="0">
                  <a:solidFill>
                    <a:srgbClr val="2F4F98"/>
                  </a:solidFill>
                  <a:latin typeface="Microsoft YaHei"/>
                  <a:ea typeface="Microsoft YaHei"/>
                  <a:cs typeface="Microsoft YaHei"/>
                </a:rPr>
                <a:t>验证者 V</a:t>
              </a:r>
            </a:p>
          </p:txBody>
        </p:sp>
        <p:sp>
          <p:nvSpPr>
            <p:cNvPr id="10" name="TextBox 10"/>
            <p:cNvSpPr txBox="1"/>
            <p:nvPr/>
          </p:nvSpPr>
          <p:spPr>
            <a:xfrm>
              <a:off x="1190720" y="2317750"/>
              <a:ext cx="2266760" cy="293370"/>
            </a:xfrm>
            <a:prstGeom prst="rect">
              <a:avLst/>
            </a:prstGeom>
            <a:noFill/>
            <a:ln>
              <a:noFill/>
            </a:ln>
          </p:spPr>
          <p:txBody>
            <a:bodyPr wrap="none" lIns="0" tIns="0" rIns="0" bIns="0" anchor="t" anchorCtr="0">
              <a:spAutoFit/>
            </a:bodyPr>
            <a:lstStyle/>
            <a:p>
              <a:pPr algn="ctr"/>
              <a:r>
                <a:rPr lang="zh-CN" sz="1500" dirty="0">
                  <a:solidFill>
                    <a:srgbClr val="52657E"/>
                  </a:solidFill>
                  <a:latin typeface="Microsoft YaHei"/>
                  <a:ea typeface="Microsoft YaHei"/>
                  <a:cs typeface="Microsoft YaHei"/>
                </a:rPr>
                <a:t>掌握参考测量 / 设备密钥</a:t>
              </a:r>
            </a:p>
          </p:txBody>
        </p:sp>
        <p:sp>
          <p:nvSpPr>
            <p:cNvPr id="11" name="Rectangle 11"/>
            <p:cNvSpPr/>
            <p:nvPr/>
          </p:nvSpPr>
          <p:spPr>
            <a:xfrm>
              <a:off x="8420100" y="1685925"/>
              <a:ext cx="2857500" cy="1123950"/>
            </a:xfrm>
            <a:prstGeom prst="roundRect">
              <a:avLst>
                <a:gd name="adj" fmla="val 6780"/>
              </a:avLst>
            </a:prstGeom>
            <a:solidFill>
              <a:srgbClr val="EDF3FB"/>
            </a:solidFill>
            <a:ln w="9525">
              <a:solidFill>
                <a:srgbClr val="2F4F98"/>
              </a:solidFill>
            </a:ln>
          </p:spPr>
        </p:sp>
        <p:sp>
          <p:nvSpPr>
            <p:cNvPr id="12" name="TextBox 12"/>
            <p:cNvSpPr txBox="1"/>
            <p:nvPr/>
          </p:nvSpPr>
          <p:spPr>
            <a:xfrm>
              <a:off x="9422183" y="1851025"/>
              <a:ext cx="853333" cy="410718"/>
            </a:xfrm>
            <a:prstGeom prst="rect">
              <a:avLst/>
            </a:prstGeom>
            <a:noFill/>
            <a:ln>
              <a:noFill/>
            </a:ln>
          </p:spPr>
          <p:txBody>
            <a:bodyPr wrap="none" lIns="0" tIns="0" rIns="0" bIns="0" anchor="t" anchorCtr="0">
              <a:spAutoFit/>
            </a:bodyPr>
            <a:lstStyle/>
            <a:p>
              <a:pPr algn="ctr"/>
              <a:r>
                <a:rPr lang="zh-CN" sz="2100" b="1" dirty="0">
                  <a:solidFill>
                    <a:srgbClr val="2F4F98"/>
                  </a:solidFill>
                  <a:latin typeface="Microsoft YaHei"/>
                  <a:ea typeface="Microsoft YaHei"/>
                  <a:cs typeface="Microsoft YaHei"/>
                </a:rPr>
                <a:t>设备 P</a:t>
              </a:r>
            </a:p>
          </p:txBody>
        </p:sp>
        <p:sp>
          <p:nvSpPr>
            <p:cNvPr id="13" name="TextBox 13"/>
            <p:cNvSpPr txBox="1"/>
            <p:nvPr/>
          </p:nvSpPr>
          <p:spPr>
            <a:xfrm>
              <a:off x="9033510" y="2317750"/>
              <a:ext cx="1630680" cy="293370"/>
            </a:xfrm>
            <a:prstGeom prst="rect">
              <a:avLst/>
            </a:prstGeom>
            <a:noFill/>
            <a:ln>
              <a:noFill/>
            </a:ln>
          </p:spPr>
          <p:txBody>
            <a:bodyPr wrap="none" lIns="0" tIns="0" rIns="0" bIns="0" anchor="t" anchorCtr="0">
              <a:spAutoFit/>
            </a:bodyPr>
            <a:lstStyle/>
            <a:p>
              <a:pPr algn="ctr"/>
              <a:r>
                <a:rPr lang="zh-CN" sz="1500" dirty="0">
                  <a:solidFill>
                    <a:srgbClr val="52657E"/>
                  </a:solidFill>
                  <a:latin typeface="Microsoft YaHei"/>
                  <a:ea typeface="Microsoft YaHei"/>
                  <a:cs typeface="Microsoft YaHei"/>
                </a:rPr>
                <a:t>运行待证明的软件</a:t>
              </a:r>
            </a:p>
          </p:txBody>
        </p:sp>
        <p:sp>
          <p:nvSpPr>
            <p:cNvPr id="14" name="Line 14"/>
            <p:cNvSpPr/>
            <p:nvPr/>
          </p:nvSpPr>
          <p:spPr>
            <a:xfrm>
              <a:off x="3962400" y="1952625"/>
              <a:ext cx="4200525" cy="1"/>
            </a:xfrm>
            <a:prstGeom prst="line">
              <a:avLst/>
            </a:prstGeom>
            <a:noFill/>
            <a:ln w="23812">
              <a:solidFill>
                <a:srgbClr val="159AA8"/>
              </a:solidFill>
              <a:tailEnd type="triangle" w="lg" len="lg"/>
            </a:ln>
          </p:spPr>
        </p:sp>
        <p:sp>
          <p:nvSpPr>
            <p:cNvPr id="15" name="TextBox 15"/>
            <p:cNvSpPr txBox="1"/>
            <p:nvPr/>
          </p:nvSpPr>
          <p:spPr>
            <a:xfrm>
              <a:off x="5436573" y="1657350"/>
              <a:ext cx="1223604" cy="308991"/>
            </a:xfrm>
            <a:prstGeom prst="rect">
              <a:avLst/>
            </a:prstGeom>
            <a:noFill/>
            <a:ln>
              <a:noFill/>
            </a:ln>
          </p:spPr>
          <p:txBody>
            <a:bodyPr wrap="none" lIns="0" tIns="0" rIns="0" bIns="0" anchor="t" anchorCtr="0">
              <a:spAutoFit/>
            </a:bodyPr>
            <a:lstStyle/>
            <a:p>
              <a:pPr algn="ctr"/>
              <a:r>
                <a:rPr lang="zh-CN" sz="1580" b="1" dirty="0">
                  <a:solidFill>
                    <a:srgbClr val="159AA8"/>
                  </a:solidFill>
                  <a:latin typeface="Microsoft YaHei"/>
                  <a:ea typeface="Microsoft YaHei"/>
                  <a:cs typeface="Microsoft YaHei"/>
                </a:rPr>
                <a:t>① 新挑战 c_i</a:t>
              </a:r>
            </a:p>
          </p:txBody>
        </p:sp>
        <p:sp>
          <p:nvSpPr>
            <p:cNvPr id="16" name="Line 16"/>
            <p:cNvSpPr/>
            <p:nvPr/>
          </p:nvSpPr>
          <p:spPr>
            <a:xfrm flipH="1">
              <a:off x="3962400" y="2581275"/>
              <a:ext cx="4200525" cy="1"/>
            </a:xfrm>
            <a:prstGeom prst="line">
              <a:avLst/>
            </a:prstGeom>
            <a:noFill/>
            <a:ln w="23812">
              <a:solidFill>
                <a:srgbClr val="159AA8"/>
              </a:solidFill>
              <a:tailEnd type="triangle" w="lg" len="lg"/>
            </a:ln>
          </p:spPr>
        </p:sp>
        <p:sp>
          <p:nvSpPr>
            <p:cNvPr id="17" name="TextBox 17"/>
            <p:cNvSpPr txBox="1"/>
            <p:nvPr/>
          </p:nvSpPr>
          <p:spPr>
            <a:xfrm>
              <a:off x="4989106" y="2257425"/>
              <a:ext cx="2118538" cy="308991"/>
            </a:xfrm>
            <a:prstGeom prst="rect">
              <a:avLst/>
            </a:prstGeom>
            <a:noFill/>
            <a:ln>
              <a:noFill/>
            </a:ln>
          </p:spPr>
          <p:txBody>
            <a:bodyPr wrap="none" lIns="0" tIns="0" rIns="0" bIns="0" anchor="t" anchorCtr="0">
              <a:spAutoFit/>
            </a:bodyPr>
            <a:lstStyle/>
            <a:p>
              <a:pPr algn="ctr"/>
              <a:r>
                <a:rPr lang="zh-CN" sz="1580" b="1" dirty="0">
                  <a:solidFill>
                    <a:srgbClr val="159AA8"/>
                  </a:solidFill>
                  <a:latin typeface="Microsoft YaHei"/>
                  <a:ea typeface="Microsoft YaHei"/>
                  <a:cs typeface="Microsoft YaHei"/>
                </a:rPr>
                <a:t>② 响应 r_i / 证明证据</a:t>
              </a:r>
            </a:p>
          </p:txBody>
        </p:sp>
      </p:grpSp>
      <p:grpSp>
        <p:nvGrpSpPr>
          <p:cNvPr id="23" name="measurement"/>
          <p:cNvGrpSpPr/>
          <p:nvPr/>
        </p:nvGrpSpPr>
        <p:grpSpPr>
          <a:xfrm>
            <a:off x="762000" y="3257550"/>
            <a:ext cx="5143500" cy="2038350"/>
            <a:chOff x="762000" y="3257550"/>
            <a:chExt cx="5143500" cy="2038350"/>
          </a:xfrm>
        </p:grpSpPr>
        <p:sp>
          <p:nvSpPr>
            <p:cNvPr id="19" name="Rectangle 19"/>
            <p:cNvSpPr/>
            <p:nvPr/>
          </p:nvSpPr>
          <p:spPr>
            <a:xfrm>
              <a:off x="762000" y="3257550"/>
              <a:ext cx="5143500" cy="2038350"/>
            </a:xfrm>
            <a:prstGeom prst="roundRect">
              <a:avLst>
                <a:gd name="adj" fmla="val 3738"/>
              </a:avLst>
            </a:prstGeom>
            <a:solidFill>
              <a:srgbClr val="EDF3FB"/>
            </a:solidFill>
            <a:ln>
              <a:noFill/>
            </a:ln>
          </p:spPr>
        </p:sp>
        <p:sp>
          <p:nvSpPr>
            <p:cNvPr id="20" name="Freeform 20"/>
            <p:cNvSpPr/>
            <p:nvPr/>
          </p:nvSpPr>
          <p:spPr>
            <a:xfrm>
              <a:off x="762000" y="3257550"/>
              <a:ext cx="47625" cy="2038350"/>
            </a:xfrm>
            <a:custGeom>
              <a:avLst/>
              <a:gdLst/>
              <a:ahLst/>
              <a:cxnLst/>
              <a:rect l="l" t="t" r="r" b="b"/>
              <a:pathLst>
                <a:path w="47625" h="2038350">
                  <a:moveTo>
                    <a:pt x="0" y="0"/>
                  </a:moveTo>
                  <a:lnTo>
                    <a:pt x="47625" y="0"/>
                  </a:lnTo>
                  <a:lnTo>
                    <a:pt x="47625" y="2038350"/>
                  </a:lnTo>
                  <a:lnTo>
                    <a:pt x="0" y="2038350"/>
                  </a:lnTo>
                  <a:close/>
                </a:path>
              </a:pathLst>
            </a:custGeom>
            <a:solidFill>
              <a:srgbClr val="2F4F98"/>
            </a:solidFill>
            <a:ln>
              <a:noFill/>
            </a:ln>
          </p:spPr>
        </p:sp>
        <p:sp>
          <p:nvSpPr>
            <p:cNvPr id="21" name="TextBox 21"/>
            <p:cNvSpPr txBox="1"/>
            <p:nvPr/>
          </p:nvSpPr>
          <p:spPr>
            <a:xfrm>
              <a:off x="962025" y="3381375"/>
              <a:ext cx="1031392"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测量对象</a:t>
              </a:r>
            </a:p>
          </p:txBody>
        </p:sp>
        <p:sp>
          <p:nvSpPr>
            <p:cNvPr id="22" name="TextBox 22"/>
            <p:cNvSpPr txBox="1"/>
            <p:nvPr/>
          </p:nvSpPr>
          <p:spPr>
            <a:xfrm>
              <a:off x="963168" y="3762375"/>
              <a:ext cx="3579114" cy="930402"/>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内存、软件或配置的完整性测量；</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响应必须同时绑定当前测量与新挑战。</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验证结论针对所测状态与所用挑战。</a:t>
              </a:r>
            </a:p>
          </p:txBody>
        </p:sp>
      </p:grpSp>
      <p:grpSp>
        <p:nvGrpSpPr>
          <p:cNvPr id="28" name="assumption"/>
          <p:cNvGrpSpPr/>
          <p:nvPr/>
        </p:nvGrpSpPr>
        <p:grpSpPr>
          <a:xfrm>
            <a:off x="6248400" y="3257550"/>
            <a:ext cx="5181600" cy="2038350"/>
            <a:chOff x="6248400" y="3257550"/>
            <a:chExt cx="5181600" cy="2038350"/>
          </a:xfrm>
        </p:grpSpPr>
        <p:sp>
          <p:nvSpPr>
            <p:cNvPr id="24" name="Rectangle 24"/>
            <p:cNvSpPr/>
            <p:nvPr/>
          </p:nvSpPr>
          <p:spPr>
            <a:xfrm>
              <a:off x="6248400" y="3257550"/>
              <a:ext cx="5181600" cy="2038350"/>
            </a:xfrm>
            <a:prstGeom prst="roundRect">
              <a:avLst>
                <a:gd name="adj" fmla="val 3738"/>
              </a:avLst>
            </a:prstGeom>
            <a:solidFill>
              <a:srgbClr val="EDF3FB"/>
            </a:solidFill>
            <a:ln>
              <a:noFill/>
            </a:ln>
          </p:spPr>
        </p:sp>
        <p:sp>
          <p:nvSpPr>
            <p:cNvPr id="25" name="Freeform 25"/>
            <p:cNvSpPr/>
            <p:nvPr/>
          </p:nvSpPr>
          <p:spPr>
            <a:xfrm>
              <a:off x="6248400" y="3257550"/>
              <a:ext cx="47625" cy="2038350"/>
            </a:xfrm>
            <a:custGeom>
              <a:avLst/>
              <a:gdLst/>
              <a:ahLst/>
              <a:cxnLst/>
              <a:rect l="l" t="t" r="r" b="b"/>
              <a:pathLst>
                <a:path w="47625" h="2038350">
                  <a:moveTo>
                    <a:pt x="0" y="0"/>
                  </a:moveTo>
                  <a:lnTo>
                    <a:pt x="47625" y="0"/>
                  </a:lnTo>
                  <a:lnTo>
                    <a:pt x="47625" y="2038350"/>
                  </a:lnTo>
                  <a:lnTo>
                    <a:pt x="0" y="2038350"/>
                  </a:lnTo>
                  <a:close/>
                </a:path>
              </a:pathLst>
            </a:custGeom>
            <a:solidFill>
              <a:srgbClr val="159AA8"/>
            </a:solidFill>
            <a:ln>
              <a:noFill/>
            </a:ln>
          </p:spPr>
        </p:sp>
        <p:sp>
          <p:nvSpPr>
            <p:cNvPr id="26" name="TextBox 26"/>
            <p:cNvSpPr txBox="1"/>
            <p:nvPr/>
          </p:nvSpPr>
          <p:spPr>
            <a:xfrm>
              <a:off x="6448425" y="3381375"/>
              <a:ext cx="1031392" cy="367665"/>
            </a:xfrm>
            <a:prstGeom prst="rect">
              <a:avLst/>
            </a:prstGeom>
            <a:noFill/>
            <a:ln>
              <a:noFill/>
            </a:ln>
          </p:spPr>
          <p:txBody>
            <a:bodyPr wrap="none" lIns="0" tIns="0" rIns="0" bIns="0" anchor="t" anchorCtr="0">
              <a:spAutoFit/>
            </a:bodyPr>
            <a:lstStyle/>
            <a:p>
              <a:pPr algn="l"/>
              <a:r>
                <a:rPr lang="zh-CN" sz="1880" b="1" dirty="0">
                  <a:solidFill>
                    <a:srgbClr val="159AA8"/>
                  </a:solidFill>
                  <a:latin typeface="Microsoft YaHei"/>
                  <a:ea typeface="Microsoft YaHei"/>
                  <a:cs typeface="Microsoft YaHei"/>
                </a:rPr>
                <a:t>安全基础</a:t>
              </a:r>
            </a:p>
          </p:txBody>
        </p:sp>
        <p:sp>
          <p:nvSpPr>
            <p:cNvPr id="27" name="TextBox 27"/>
            <p:cNvSpPr txBox="1"/>
            <p:nvPr/>
          </p:nvSpPr>
          <p:spPr>
            <a:xfrm>
              <a:off x="6449568" y="3762375"/>
              <a:ext cx="4102989" cy="930402"/>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攻击者可控制网络和普通软件层；</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设备的最小信任锚仍保持安全。</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ROM 保存测量代码，MPU 隔离受保护状态。</a:t>
              </a:r>
            </a:p>
          </p:txBody>
        </p:sp>
      </p:grpSp>
      <p:grpSp>
        <p:nvGrpSpPr>
          <p:cNvPr id="31" name="takeaway"/>
          <p:cNvGrpSpPr/>
          <p:nvPr/>
        </p:nvGrpSpPr>
        <p:grpSpPr>
          <a:xfrm>
            <a:off x="723900" y="5924550"/>
            <a:ext cx="10744200" cy="466725"/>
            <a:chOff x="723900" y="5924550"/>
            <a:chExt cx="10744200" cy="466725"/>
          </a:xfrm>
        </p:grpSpPr>
        <p:sp>
          <p:nvSpPr>
            <p:cNvPr id="29" name="Rectangle 29"/>
            <p:cNvSpPr/>
            <p:nvPr/>
          </p:nvSpPr>
          <p:spPr>
            <a:xfrm>
              <a:off x="723900" y="5924550"/>
              <a:ext cx="10744200" cy="466725"/>
            </a:xfrm>
            <a:prstGeom prst="roundRect">
              <a:avLst>
                <a:gd name="adj" fmla="val 12245"/>
              </a:avLst>
            </a:prstGeom>
            <a:solidFill>
              <a:srgbClr val="EDF3FB"/>
            </a:solidFill>
            <a:ln>
              <a:noFill/>
            </a:ln>
          </p:spPr>
        </p:sp>
        <p:sp>
          <p:nvSpPr>
            <p:cNvPr id="30" name="TextBox 30"/>
            <p:cNvSpPr txBox="1"/>
            <p:nvPr/>
          </p:nvSpPr>
          <p:spPr>
            <a:xfrm>
              <a:off x="887349" y="6038850"/>
              <a:ext cx="5421762"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远程证明的关键：真实测量 → 挑战绑定 → 可核验的证据。</a:t>
              </a:r>
            </a:p>
          </p:txBody>
        </p:sp>
      </p:grpSp>
    </p:spTree>
  </p:cSld>
  <p:clrMapOvr>
    <a:masterClrMapping/>
  </p:clrMapOvr>
</p:sld>
</file>

<file path=ppt/slides/slide4.xml><?xml version="1.0" encoding="utf-8"?>
<p:sld xmlns:a="http://schemas.openxmlformats.org/drawingml/2006/main" xmlns:p="http://schemas.openxmlformats.org/presentationml/2006/main">
  <p:cSld>
    <p:spTree>
      <p:nvGrpSpPr>
        <p:cNvPr id="1" name=""/>
        <p:cNvGrpSpPr/>
        <p:nvPr/>
      </p:nvGrpSpPr>
      <p:grpSpPr/>
      <p:sp>
        <p:nvSpPr>
          <p:cNvPr id="37" name="矩形 36"/>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8" name="矩形 37"/>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sp>
        <p:nvSpPr>
          <p:cNvPr id="3" name="矩形 2"/>
          <p:cNvSpPr/>
          <p:nvPr/>
        </p:nvSpPr>
        <p:spPr>
          <a:xfrm>
            <a:off x="685800" y="495300"/>
            <a:ext cx="10810875" cy="495300"/>
          </a:xfrm>
          <a:prstGeom prst="rect">
            <a:avLst/>
          </a:prstGeom>
          <a:noFill/>
          <a:ln>
            <a:noFill/>
          </a:ln>
        </p:spPr>
        <p:txBody>
          <a:bodyPr wrap="none" lIns="91440" tIns="67151" rIns="0" bIns="0" anchor="t" anchorCtr="0">
            <a:noAutofit/>
          </a:bodyPr>
          <a:lstStyle/>
          <a:p>
            <a:pPr algn="l"/>
            <a:r>
              <a:rPr lang="zh-CN" sz="2620" b="1" dirty="0">
                <a:solidFill>
                  <a:srgbClr val="172B4D"/>
                </a:solidFill>
                <a:latin typeface="Microsoft YaHei"/>
                <a:ea typeface="Microsoft YaHei"/>
                <a:cs typeface="Microsoft YaHei"/>
              </a:rPr>
              <a:t>场景驱动：让第三方独立核验设备</a:t>
            </a:r>
          </a:p>
        </p:txBody>
      </p:sp>
      <p:sp>
        <p:nvSpPr>
          <p:cNvPr id="4" name="Line 4"/>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7" name="page-footer"/>
          <p:cNvGrpSpPr/>
          <p:nvPr/>
        </p:nvGrpSpPr>
        <p:grpSpPr>
          <a:xfrm>
            <a:off x="776288" y="6524625"/>
            <a:ext cx="10629899" cy="176212"/>
            <a:chOff x="776288" y="6524625"/>
            <a:chExt cx="10629899" cy="176212"/>
          </a:xfrm>
        </p:grpSpPr>
        <p:sp>
          <p:nvSpPr>
            <p:cNvPr id="5" name="TextBox 5"/>
            <p:cNvSpPr txBox="1"/>
            <p:nvPr/>
          </p:nvSpPr>
          <p:spPr>
            <a:xfrm>
              <a:off x="776288" y="6524625"/>
              <a:ext cx="2584818"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01 研究背景 · 论文 III、IV-A；原 PPT 应用场景</a:t>
              </a:r>
            </a:p>
          </p:txBody>
        </p:sp>
        <p:sp>
          <p:nvSpPr>
            <p:cNvPr id="6" name="TextBox 6"/>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04 / 20</a:t>
              </a:r>
            </a:p>
          </p:txBody>
        </p:sp>
      </p:grpSp>
      <p:grpSp>
        <p:nvGrpSpPr>
          <p:cNvPr id="9" name="scenario"/>
          <p:cNvGrpSpPr/>
          <p:nvPr/>
        </p:nvGrpSpPr>
        <p:grpSpPr>
          <a:xfrm>
            <a:off x="791718" y="1524000"/>
            <a:ext cx="9236964" cy="626554"/>
            <a:chOff x="791718" y="1524000"/>
            <a:chExt cx="9236964" cy="626554"/>
          </a:xfrm>
        </p:grpSpPr>
        <p:sp>
          <p:nvSpPr>
            <p:cNvPr id="8" name="TextBox 8"/>
            <p:cNvSpPr txBox="1"/>
            <p:nvPr/>
          </p:nvSpPr>
          <p:spPr>
            <a:xfrm>
              <a:off x="791718" y="1524000"/>
              <a:ext cx="9236964"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一台智能门锁或车载终端，需要向云服务、合作方和用户证明：自己的软件测量符合制造商认可的状</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态，同时避免公开内部秘密。</a:t>
              </a:r>
            </a:p>
          </p:txBody>
        </p:sp>
      </p:grpSp>
      <p:grpSp>
        <p:nvGrpSpPr>
          <p:cNvPr id="14" name="actor-0"/>
          <p:cNvGrpSpPr/>
          <p:nvPr/>
        </p:nvGrpSpPr>
        <p:grpSpPr>
          <a:xfrm>
            <a:off x="762000" y="2514600"/>
            <a:ext cx="3352800" cy="2105025"/>
            <a:chOff x="762000" y="2514600"/>
            <a:chExt cx="3352800" cy="2105025"/>
          </a:xfrm>
        </p:grpSpPr>
        <p:sp>
          <p:nvSpPr>
            <p:cNvPr id="10" name="Rectangle 10"/>
            <p:cNvSpPr/>
            <p:nvPr/>
          </p:nvSpPr>
          <p:spPr>
            <a:xfrm>
              <a:off x="762000" y="2514600"/>
              <a:ext cx="3352800" cy="2105025"/>
            </a:xfrm>
            <a:prstGeom prst="roundRect">
              <a:avLst>
                <a:gd name="adj" fmla="val 3620"/>
              </a:avLst>
            </a:prstGeom>
            <a:solidFill>
              <a:srgbClr val="EDF3FB"/>
            </a:solidFill>
            <a:ln>
              <a:noFill/>
            </a:ln>
          </p:spPr>
        </p:sp>
        <p:sp>
          <p:nvSpPr>
            <p:cNvPr id="11" name="Freeform 11"/>
            <p:cNvSpPr/>
            <p:nvPr/>
          </p:nvSpPr>
          <p:spPr>
            <a:xfrm>
              <a:off x="762000" y="2514600"/>
              <a:ext cx="47625" cy="2105025"/>
            </a:xfrm>
            <a:custGeom>
              <a:avLst/>
              <a:gdLst/>
              <a:ahLst/>
              <a:cxnLst/>
              <a:rect l="l" t="t" r="r" b="b"/>
              <a:pathLst>
                <a:path w="47625" h="2105025">
                  <a:moveTo>
                    <a:pt x="0" y="0"/>
                  </a:moveTo>
                  <a:lnTo>
                    <a:pt x="47625" y="0"/>
                  </a:lnTo>
                  <a:lnTo>
                    <a:pt x="47625" y="2105025"/>
                  </a:lnTo>
                  <a:lnTo>
                    <a:pt x="0" y="2105025"/>
                  </a:lnTo>
                  <a:close/>
                </a:path>
              </a:pathLst>
            </a:custGeom>
            <a:solidFill>
              <a:srgbClr val="2F4F98"/>
            </a:solidFill>
            <a:ln>
              <a:noFill/>
            </a:ln>
          </p:spPr>
        </p:sp>
        <p:sp>
          <p:nvSpPr>
            <p:cNvPr id="12" name="TextBox 12"/>
            <p:cNvSpPr txBox="1"/>
            <p:nvPr/>
          </p:nvSpPr>
          <p:spPr>
            <a:xfrm>
              <a:off x="962025" y="2638425"/>
              <a:ext cx="778307"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制造商</a:t>
              </a:r>
            </a:p>
          </p:txBody>
        </p:sp>
        <p:sp>
          <p:nvSpPr>
            <p:cNvPr id="13" name="TextBox 13"/>
            <p:cNvSpPr txBox="1"/>
            <p:nvPr/>
          </p:nvSpPr>
          <p:spPr>
            <a:xfrm>
              <a:off x="963168" y="3019425"/>
              <a:ext cx="2531364"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准备认可响应的承诺树；</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周期性公布同一个新挑战。</a:t>
              </a:r>
            </a:p>
          </p:txBody>
        </p:sp>
      </p:grpSp>
      <p:grpSp>
        <p:nvGrpSpPr>
          <p:cNvPr id="19" name="actor-1"/>
          <p:cNvGrpSpPr/>
          <p:nvPr/>
        </p:nvGrpSpPr>
        <p:grpSpPr>
          <a:xfrm>
            <a:off x="4400550" y="2514600"/>
            <a:ext cx="3352800" cy="2105025"/>
            <a:chOff x="4400550" y="2514600"/>
            <a:chExt cx="3352800" cy="2105025"/>
          </a:xfrm>
        </p:grpSpPr>
        <p:sp>
          <p:nvSpPr>
            <p:cNvPr id="15" name="Rectangle 15"/>
            <p:cNvSpPr/>
            <p:nvPr/>
          </p:nvSpPr>
          <p:spPr>
            <a:xfrm>
              <a:off x="4400550" y="2514600"/>
              <a:ext cx="3352800" cy="2105025"/>
            </a:xfrm>
            <a:prstGeom prst="roundRect">
              <a:avLst>
                <a:gd name="adj" fmla="val 3620"/>
              </a:avLst>
            </a:prstGeom>
            <a:solidFill>
              <a:srgbClr val="EDF3FB"/>
            </a:solidFill>
            <a:ln>
              <a:noFill/>
            </a:ln>
          </p:spPr>
        </p:sp>
        <p:sp>
          <p:nvSpPr>
            <p:cNvPr id="16" name="Freeform 16"/>
            <p:cNvSpPr/>
            <p:nvPr/>
          </p:nvSpPr>
          <p:spPr>
            <a:xfrm>
              <a:off x="4400550" y="2514600"/>
              <a:ext cx="47625" cy="2105025"/>
            </a:xfrm>
            <a:custGeom>
              <a:avLst/>
              <a:gdLst/>
              <a:ahLst/>
              <a:cxnLst/>
              <a:rect l="l" t="t" r="r" b="b"/>
              <a:pathLst>
                <a:path w="47625" h="2105025">
                  <a:moveTo>
                    <a:pt x="0" y="0"/>
                  </a:moveTo>
                  <a:lnTo>
                    <a:pt x="47625" y="0"/>
                  </a:lnTo>
                  <a:lnTo>
                    <a:pt x="47625" y="2105025"/>
                  </a:lnTo>
                  <a:lnTo>
                    <a:pt x="0" y="2105025"/>
                  </a:lnTo>
                  <a:close/>
                </a:path>
              </a:pathLst>
            </a:custGeom>
            <a:solidFill>
              <a:srgbClr val="2F4F98"/>
            </a:solidFill>
            <a:ln>
              <a:noFill/>
            </a:ln>
          </p:spPr>
        </p:sp>
        <p:sp>
          <p:nvSpPr>
            <p:cNvPr id="17" name="TextBox 17"/>
            <p:cNvSpPr txBox="1"/>
            <p:nvPr/>
          </p:nvSpPr>
          <p:spPr>
            <a:xfrm>
              <a:off x="4600575" y="2638425"/>
              <a:ext cx="525221"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设备</a:t>
              </a:r>
            </a:p>
          </p:txBody>
        </p:sp>
        <p:sp>
          <p:nvSpPr>
            <p:cNvPr id="18" name="TextBox 18"/>
            <p:cNvSpPr txBox="1"/>
            <p:nvPr/>
          </p:nvSpPr>
          <p:spPr>
            <a:xfrm>
              <a:off x="4601718" y="3019425"/>
              <a:ext cx="2531364" cy="930402"/>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读取公开挑战，可信测量；</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生成并提交证明和公开输</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入。</a:t>
              </a:r>
            </a:p>
          </p:txBody>
        </p:sp>
      </p:grpSp>
      <p:grpSp>
        <p:nvGrpSpPr>
          <p:cNvPr id="24" name="actor-2"/>
          <p:cNvGrpSpPr/>
          <p:nvPr/>
        </p:nvGrpSpPr>
        <p:grpSpPr>
          <a:xfrm>
            <a:off x="8039100" y="2514600"/>
            <a:ext cx="3352800" cy="2105025"/>
            <a:chOff x="8039100" y="2514600"/>
            <a:chExt cx="3352800" cy="2105025"/>
          </a:xfrm>
        </p:grpSpPr>
        <p:sp>
          <p:nvSpPr>
            <p:cNvPr id="20" name="Rectangle 20"/>
            <p:cNvSpPr/>
            <p:nvPr/>
          </p:nvSpPr>
          <p:spPr>
            <a:xfrm>
              <a:off x="8039100" y="2514600"/>
              <a:ext cx="3352800" cy="2105025"/>
            </a:xfrm>
            <a:prstGeom prst="roundRect">
              <a:avLst>
                <a:gd name="adj" fmla="val 3620"/>
              </a:avLst>
            </a:prstGeom>
            <a:solidFill>
              <a:srgbClr val="EDF3FB"/>
            </a:solidFill>
            <a:ln>
              <a:noFill/>
            </a:ln>
          </p:spPr>
        </p:sp>
        <p:sp>
          <p:nvSpPr>
            <p:cNvPr id="21" name="Freeform 21"/>
            <p:cNvSpPr/>
            <p:nvPr/>
          </p:nvSpPr>
          <p:spPr>
            <a:xfrm>
              <a:off x="8039100" y="2514600"/>
              <a:ext cx="47625" cy="2105025"/>
            </a:xfrm>
            <a:custGeom>
              <a:avLst/>
              <a:gdLst/>
              <a:ahLst/>
              <a:cxnLst/>
              <a:rect l="l" t="t" r="r" b="b"/>
              <a:pathLst>
                <a:path w="47625" h="2105025">
                  <a:moveTo>
                    <a:pt x="0" y="0"/>
                  </a:moveTo>
                  <a:lnTo>
                    <a:pt x="47625" y="0"/>
                  </a:lnTo>
                  <a:lnTo>
                    <a:pt x="47625" y="2105025"/>
                  </a:lnTo>
                  <a:lnTo>
                    <a:pt x="0" y="2105025"/>
                  </a:lnTo>
                  <a:close/>
                </a:path>
              </a:pathLst>
            </a:custGeom>
            <a:solidFill>
              <a:srgbClr val="2F4F98"/>
            </a:solidFill>
            <a:ln>
              <a:noFill/>
            </a:ln>
          </p:spPr>
        </p:sp>
        <p:sp>
          <p:nvSpPr>
            <p:cNvPr id="22" name="TextBox 22"/>
            <p:cNvSpPr txBox="1"/>
            <p:nvPr/>
          </p:nvSpPr>
          <p:spPr>
            <a:xfrm>
              <a:off x="8239125" y="2638425"/>
              <a:ext cx="1590079"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第三方 / 合约</a:t>
              </a:r>
            </a:p>
          </p:txBody>
        </p:sp>
        <p:sp>
          <p:nvSpPr>
            <p:cNvPr id="23" name="TextBox 23"/>
            <p:cNvSpPr txBox="1"/>
            <p:nvPr/>
          </p:nvSpPr>
          <p:spPr>
            <a:xfrm>
              <a:off x="8240268" y="3019425"/>
              <a:ext cx="2321814" cy="930402"/>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只读取公开信息；</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检查身份、根、挑战及证</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明。</a:t>
              </a:r>
            </a:p>
          </p:txBody>
        </p:sp>
      </p:grpSp>
      <p:grpSp>
        <p:nvGrpSpPr>
          <p:cNvPr id="26" name="actor-arrow-0"/>
          <p:cNvGrpSpPr/>
          <p:nvPr/>
        </p:nvGrpSpPr>
        <p:grpSpPr>
          <a:xfrm>
            <a:off x="4171950" y="3581400"/>
            <a:ext cx="142875" cy="1"/>
            <a:chOff x="4171950" y="3581400"/>
            <a:chExt cx="142875" cy="1"/>
          </a:xfrm>
        </p:grpSpPr>
        <p:sp>
          <p:nvSpPr>
            <p:cNvPr id="25" name="Line 25"/>
            <p:cNvSpPr/>
            <p:nvPr/>
          </p:nvSpPr>
          <p:spPr>
            <a:xfrm>
              <a:off x="4171950" y="3581400"/>
              <a:ext cx="142875" cy="1"/>
            </a:xfrm>
            <a:prstGeom prst="line">
              <a:avLst/>
            </a:prstGeom>
            <a:noFill/>
            <a:ln w="19050">
              <a:solidFill>
                <a:srgbClr val="159AA8"/>
              </a:solidFill>
              <a:tailEnd type="triangle" w="lg" len="lg"/>
            </a:ln>
          </p:spPr>
        </p:sp>
      </p:grpSp>
      <p:grpSp>
        <p:nvGrpSpPr>
          <p:cNvPr id="28" name="actor-arrow-1"/>
          <p:cNvGrpSpPr/>
          <p:nvPr/>
        </p:nvGrpSpPr>
        <p:grpSpPr>
          <a:xfrm>
            <a:off x="7810500" y="3581400"/>
            <a:ext cx="142875" cy="1"/>
            <a:chOff x="7810500" y="3581400"/>
            <a:chExt cx="142875" cy="1"/>
          </a:xfrm>
        </p:grpSpPr>
        <p:sp>
          <p:nvSpPr>
            <p:cNvPr id="27" name="Line 27"/>
            <p:cNvSpPr/>
            <p:nvPr/>
          </p:nvSpPr>
          <p:spPr>
            <a:xfrm>
              <a:off x="7810500" y="3581400"/>
              <a:ext cx="142875" cy="1"/>
            </a:xfrm>
            <a:prstGeom prst="line">
              <a:avLst/>
            </a:prstGeom>
            <a:noFill/>
            <a:ln w="19050">
              <a:solidFill>
                <a:srgbClr val="159AA8"/>
              </a:solidFill>
              <a:tailEnd type="triangle" w="lg" len="lg"/>
            </a:ln>
          </p:spPr>
        </p:sp>
      </p:grpSp>
      <p:grpSp>
        <p:nvGrpSpPr>
          <p:cNvPr id="31" name="goal"/>
          <p:cNvGrpSpPr/>
          <p:nvPr/>
        </p:nvGrpSpPr>
        <p:grpSpPr>
          <a:xfrm>
            <a:off x="819150" y="4905375"/>
            <a:ext cx="7225798" cy="748157"/>
            <a:chOff x="819150" y="4905375"/>
            <a:chExt cx="7225798" cy="748157"/>
          </a:xfrm>
        </p:grpSpPr>
        <p:sp>
          <p:nvSpPr>
            <p:cNvPr id="29" name="TextBox 29"/>
            <p:cNvSpPr txBox="1"/>
            <p:nvPr/>
          </p:nvSpPr>
          <p:spPr>
            <a:xfrm>
              <a:off x="819150" y="4905375"/>
              <a:ext cx="1790649"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希望获得的能力</a:t>
              </a:r>
            </a:p>
          </p:txBody>
        </p:sp>
        <p:sp>
          <p:nvSpPr>
            <p:cNvPr id="30" name="TextBox 30"/>
            <p:cNvSpPr txBox="1"/>
            <p:nvPr/>
          </p:nvSpPr>
          <p:spPr>
            <a:xfrm>
              <a:off x="820293" y="5330825"/>
              <a:ext cx="7224655" cy="322707"/>
            </a:xfrm>
            <a:prstGeom prst="rect">
              <a:avLst/>
            </a:prstGeom>
            <a:noFill/>
            <a:ln>
              <a:noFill/>
            </a:ln>
          </p:spPr>
          <p:txBody>
            <a:bodyPr wrap="none" lIns="0" tIns="0" rIns="0" bIns="0" anchor="t" anchorCtr="0">
              <a:spAutoFit/>
            </a:bodyPr>
            <a:lstStyle/>
            <a:p>
              <a:pPr algn="l"/>
              <a:r>
                <a:rPr lang="zh-CN" sz="1650" dirty="0">
                  <a:solidFill>
                    <a:srgbClr val="172B4D"/>
                  </a:solidFill>
                  <a:latin typeface="Microsoft YaHei"/>
                  <a:ea typeface="Microsoft YaHei"/>
                  <a:cs typeface="Microsoft YaHei"/>
                </a:rPr>
                <a:t>公开可复核 · 不依赖验证者特权数据 · 异步提交与读取 · 不暴露响应见证</a:t>
              </a:r>
            </a:p>
          </p:txBody>
        </p:sp>
      </p:grpSp>
      <p:grpSp>
        <p:nvGrpSpPr>
          <p:cNvPr id="34" name="takeaway"/>
          <p:cNvGrpSpPr/>
          <p:nvPr/>
        </p:nvGrpSpPr>
        <p:grpSpPr>
          <a:xfrm>
            <a:off x="723900" y="5924550"/>
            <a:ext cx="10744200" cy="466725"/>
            <a:chOff x="723900" y="5924550"/>
            <a:chExt cx="10744200" cy="466725"/>
          </a:xfrm>
        </p:grpSpPr>
        <p:sp>
          <p:nvSpPr>
            <p:cNvPr id="32" name="Rectangle 32"/>
            <p:cNvSpPr/>
            <p:nvPr/>
          </p:nvSpPr>
          <p:spPr>
            <a:xfrm>
              <a:off x="723900" y="5924550"/>
              <a:ext cx="10744200" cy="466725"/>
            </a:xfrm>
            <a:prstGeom prst="roundRect">
              <a:avLst>
                <a:gd name="adj" fmla="val 12245"/>
              </a:avLst>
            </a:prstGeom>
            <a:solidFill>
              <a:srgbClr val="EDF3FB"/>
            </a:solidFill>
            <a:ln>
              <a:noFill/>
            </a:ln>
          </p:spPr>
        </p:sp>
        <p:sp>
          <p:nvSpPr>
            <p:cNvPr id="33" name="TextBox 33"/>
            <p:cNvSpPr txBox="1"/>
            <p:nvPr/>
          </p:nvSpPr>
          <p:spPr>
            <a:xfrm>
              <a:off x="887349" y="6038850"/>
              <a:ext cx="6396990"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第三方核验不需要与制造商或设备逐次交互，但仍需读取公开数据。</a:t>
              </a:r>
            </a:p>
          </p:txBody>
        </p:sp>
      </p:grpSp>
    </p:spTree>
  </p:cSld>
  <p:clrMapOvr>
    <a:masterClrMapping/>
  </p:clrMapOvr>
</p:sld>
</file>

<file path=ppt/slides/slide5.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sp>
        <p:nvSpPr>
          <p:cNvPr id="25" name="矩形 24"/>
          <p:cNvSpPr/>
          <p:nvPr/>
        </p:nvSpPr>
        <p:spPr>
          <a:xfrm>
            <a:off x="685800" y="495300"/>
            <a:ext cx="10810875" cy="495300"/>
          </a:xfrm>
          <a:prstGeom prst="rect">
            <a:avLst/>
          </a:prstGeom>
          <a:noFill/>
          <a:ln>
            <a:noFill/>
          </a:ln>
        </p:spPr>
        <p:txBody>
          <a:bodyPr wrap="none" lIns="91440" tIns="67151" rIns="0" bIns="0" anchor="t" anchorCtr="0">
            <a:noAutofit/>
          </a:bodyPr>
          <a:lstStyle/>
          <a:p>
            <a:pPr algn="l"/>
            <a:r>
              <a:rPr lang="zh-CN" sz="2620" b="1" dirty="0">
                <a:solidFill>
                  <a:srgbClr val="172B4D"/>
                </a:solidFill>
                <a:latin typeface="Microsoft YaHei"/>
                <a:ea typeface="Microsoft YaHei"/>
                <a:cs typeface="Microsoft YaHei"/>
              </a:rPr>
              <a:t>研究缺口：公开结果与独立核验的区别</a:t>
            </a:r>
          </a:p>
        </p:txBody>
      </p:sp>
      <p:sp>
        <p:nvSpPr>
          <p:cNvPr id="3" name="Line 3"/>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6" name="page-footer"/>
          <p:cNvGrpSpPr/>
          <p:nvPr/>
        </p:nvGrpSpPr>
        <p:grpSpPr>
          <a:xfrm>
            <a:off x="776288" y="6524625"/>
            <a:ext cx="10629899" cy="176212"/>
            <a:chOff x="776288" y="6524625"/>
            <a:chExt cx="10629899" cy="176212"/>
          </a:xfrm>
        </p:grpSpPr>
        <p:sp>
          <p:nvSpPr>
            <p:cNvPr id="4" name="TextBox 4"/>
            <p:cNvSpPr txBox="1"/>
            <p:nvPr/>
          </p:nvSpPr>
          <p:spPr>
            <a:xfrm>
              <a:off x="776288" y="6524625"/>
              <a:ext cx="2047739"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01 研究背景 · 论文 Table II、III、VIII</a:t>
              </a:r>
            </a:p>
          </p:txBody>
        </p:sp>
        <p:sp>
          <p:nvSpPr>
            <p:cNvPr id="5" name="TextBox 5"/>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05 / 20</a:t>
              </a:r>
            </a:p>
          </p:txBody>
        </p:sp>
      </p:grpSp>
      <p:grpSp>
        <p:nvGrpSpPr>
          <p:cNvPr id="8" name="gap-intro"/>
          <p:cNvGrpSpPr/>
          <p:nvPr/>
        </p:nvGrpSpPr>
        <p:grpSpPr>
          <a:xfrm>
            <a:off x="791337" y="1603375"/>
            <a:ext cx="7450165" cy="337376"/>
            <a:chOff x="791337" y="1603375"/>
            <a:chExt cx="7450165" cy="337376"/>
          </a:xfrm>
        </p:grpSpPr>
        <p:sp>
          <p:nvSpPr>
            <p:cNvPr id="7" name="TextBox 7"/>
            <p:cNvSpPr txBox="1"/>
            <p:nvPr/>
          </p:nvSpPr>
          <p:spPr>
            <a:xfrm>
              <a:off x="791337" y="1603375"/>
              <a:ext cx="7450165" cy="337376"/>
            </a:xfrm>
            <a:prstGeom prst="rect">
              <a:avLst/>
            </a:prstGeom>
            <a:noFill/>
            <a:ln>
              <a:noFill/>
            </a:ln>
          </p:spPr>
          <p:txBody>
            <a:bodyPr wrap="none" lIns="0" tIns="0" rIns="0" bIns="0" anchor="t" anchorCtr="0">
              <a:spAutoFit/>
            </a:bodyPr>
            <a:lstStyle/>
            <a:p>
              <a:pPr algn="l"/>
              <a:r>
                <a:rPr lang="zh-CN" sz="1720" dirty="0">
                  <a:solidFill>
                    <a:srgbClr val="172B4D"/>
                  </a:solidFill>
                  <a:latin typeface="Microsoft YaHei"/>
                  <a:ea typeface="Microsoft YaHei"/>
                  <a:cs typeface="Microsoft YaHei"/>
                </a:rPr>
                <a:t>把“某个可信方判定通过”放到链上，仍不足以让公众独立检查判定过程。</a:t>
              </a:r>
            </a:p>
          </p:txBody>
        </p:sp>
      </p:grpSp>
      <p:grpSp>
        <p:nvGrpSpPr>
          <p:cNvPr id="53" name="prior-comparison"/>
          <p:cNvGrpSpPr/>
          <p:nvPr/>
        </p:nvGrpSpPr>
        <p:grpSpPr>
          <a:xfrm>
            <a:off x="762000" y="2314575"/>
            <a:ext cx="10668000" cy="2352675"/>
            <a:chOff x="762000" y="2314575"/>
            <a:chExt cx="10668000" cy="2352675"/>
          </a:xfrm>
        </p:grpSpPr>
        <p:sp>
          <p:nvSpPr>
            <p:cNvPr id="9" name="Rectangle 9"/>
            <p:cNvSpPr/>
            <p:nvPr/>
          </p:nvSpPr>
          <p:spPr>
            <a:xfrm>
              <a:off x="762000" y="2314575"/>
              <a:ext cx="10668000" cy="470535"/>
            </a:xfrm>
            <a:prstGeom prst="rect">
              <a:avLst/>
            </a:prstGeom>
            <a:solidFill>
              <a:srgbClr val="2F4F98"/>
            </a:solidFill>
            <a:ln>
              <a:noFill/>
            </a:ln>
          </p:spPr>
        </p:sp>
        <p:sp>
          <p:nvSpPr>
            <p:cNvPr id="10" name="Rectangle 10"/>
            <p:cNvSpPr/>
            <p:nvPr/>
          </p:nvSpPr>
          <p:spPr>
            <a:xfrm>
              <a:off x="762000" y="2314575"/>
              <a:ext cx="1953296" cy="470535"/>
            </a:xfrm>
            <a:prstGeom prst="rect">
              <a:avLst/>
            </a:prstGeom>
            <a:solidFill>
              <a:srgbClr val="2F4F98"/>
            </a:solidFill>
            <a:ln w="9525">
              <a:solidFill>
                <a:srgbClr val="D6E1EF"/>
              </a:solidFill>
            </a:ln>
          </p:spPr>
        </p:sp>
        <p:sp>
          <p:nvSpPr>
            <p:cNvPr id="11" name="TextBox 11"/>
            <p:cNvSpPr txBox="1"/>
            <p:nvPr/>
          </p:nvSpPr>
          <p:spPr>
            <a:xfrm>
              <a:off x="1540248" y="2435384"/>
              <a:ext cx="39679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icrosoft YaHei"/>
                  <a:ea typeface="Microsoft YaHei"/>
                  <a:cs typeface="Microsoft YaHei"/>
                </a:rPr>
                <a:t>维度</a:t>
              </a:r>
            </a:p>
          </p:txBody>
        </p:sp>
        <p:sp>
          <p:nvSpPr>
            <p:cNvPr id="12" name="Rectangle 12"/>
            <p:cNvSpPr/>
            <p:nvPr/>
          </p:nvSpPr>
          <p:spPr>
            <a:xfrm>
              <a:off x="2715296" y="2314575"/>
              <a:ext cx="2404056" cy="470535"/>
            </a:xfrm>
            <a:prstGeom prst="rect">
              <a:avLst/>
            </a:prstGeom>
            <a:solidFill>
              <a:srgbClr val="2F4F98"/>
            </a:solidFill>
            <a:ln w="9525">
              <a:solidFill>
                <a:srgbClr val="D6E1EF"/>
              </a:solidFill>
            </a:ln>
          </p:spPr>
        </p:sp>
        <p:sp>
          <p:nvSpPr>
            <p:cNvPr id="13" name="TextBox 13"/>
            <p:cNvSpPr txBox="1"/>
            <p:nvPr/>
          </p:nvSpPr>
          <p:spPr>
            <a:xfrm>
              <a:off x="3560153" y="2435384"/>
              <a:ext cx="714341"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Microsoft YaHei"/>
                  <a:ea typeface="Microsoft YaHei"/>
                  <a:cs typeface="Microsoft YaHei"/>
                </a:rPr>
                <a:t>SCRAPS</a:t>
              </a:r>
            </a:p>
          </p:txBody>
        </p:sp>
        <p:sp>
          <p:nvSpPr>
            <p:cNvPr id="14" name="Rectangle 14"/>
            <p:cNvSpPr/>
            <p:nvPr/>
          </p:nvSpPr>
          <p:spPr>
            <a:xfrm>
              <a:off x="5119352" y="2314575"/>
              <a:ext cx="3155324" cy="470535"/>
            </a:xfrm>
            <a:prstGeom prst="rect">
              <a:avLst/>
            </a:prstGeom>
            <a:solidFill>
              <a:srgbClr val="2F4F98"/>
            </a:solidFill>
            <a:ln w="9525">
              <a:solidFill>
                <a:srgbClr val="D6E1EF"/>
              </a:solidFill>
            </a:ln>
          </p:spPr>
        </p:sp>
        <p:sp>
          <p:nvSpPr>
            <p:cNvPr id="15" name="TextBox 15"/>
            <p:cNvSpPr txBox="1"/>
            <p:nvPr/>
          </p:nvSpPr>
          <p:spPr>
            <a:xfrm>
              <a:off x="6376957" y="2435384"/>
              <a:ext cx="64011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Microsoft YaHei"/>
                  <a:ea typeface="Microsoft YaHei"/>
                  <a:cs typeface="Microsoft YaHei"/>
                </a:rPr>
                <a:t>PROVE</a:t>
              </a:r>
            </a:p>
          </p:txBody>
        </p:sp>
        <p:sp>
          <p:nvSpPr>
            <p:cNvPr id="16" name="Rectangle 16"/>
            <p:cNvSpPr/>
            <p:nvPr/>
          </p:nvSpPr>
          <p:spPr>
            <a:xfrm>
              <a:off x="8274676" y="2314575"/>
              <a:ext cx="3155324" cy="470535"/>
            </a:xfrm>
            <a:prstGeom prst="rect">
              <a:avLst/>
            </a:prstGeom>
            <a:solidFill>
              <a:srgbClr val="2F4F98"/>
            </a:solidFill>
            <a:ln w="9525">
              <a:solidFill>
                <a:srgbClr val="D6E1EF"/>
              </a:solidFill>
            </a:ln>
          </p:spPr>
        </p:sp>
        <p:sp>
          <p:nvSpPr>
            <p:cNvPr id="17" name="TextBox 17"/>
            <p:cNvSpPr txBox="1"/>
            <p:nvPr/>
          </p:nvSpPr>
          <p:spPr>
            <a:xfrm>
              <a:off x="9673258" y="2435384"/>
              <a:ext cx="358161"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Microsoft YaHei"/>
                  <a:ea typeface="Microsoft YaHei"/>
                  <a:cs typeface="Microsoft YaHei"/>
                </a:rPr>
                <a:t>zRA</a:t>
              </a:r>
            </a:p>
          </p:txBody>
        </p:sp>
        <p:sp>
          <p:nvSpPr>
            <p:cNvPr id="18" name="Rectangle 18"/>
            <p:cNvSpPr/>
            <p:nvPr/>
          </p:nvSpPr>
          <p:spPr>
            <a:xfrm>
              <a:off x="762000" y="2785110"/>
              <a:ext cx="1953296" cy="470535"/>
            </a:xfrm>
            <a:prstGeom prst="rect">
              <a:avLst/>
            </a:prstGeom>
            <a:solidFill>
              <a:srgbClr val="FFFFFF"/>
            </a:solidFill>
            <a:ln w="9525">
              <a:solidFill>
                <a:srgbClr val="D6E1EF"/>
              </a:solidFill>
            </a:ln>
          </p:spPr>
        </p:sp>
        <p:sp>
          <p:nvSpPr>
            <p:cNvPr id="19" name="TextBox 19"/>
            <p:cNvSpPr txBox="1"/>
            <p:nvPr/>
          </p:nvSpPr>
          <p:spPr>
            <a:xfrm>
              <a:off x="850011" y="2905919"/>
              <a:ext cx="1161440" cy="278702"/>
            </a:xfrm>
            <a:prstGeom prst="rect">
              <a:avLst/>
            </a:prstGeom>
            <a:noFill/>
            <a:ln>
              <a:noFill/>
            </a:ln>
          </p:spPr>
          <p:txBody>
            <a:bodyPr wrap="none" lIns="0" tIns="0" rIns="0" bIns="0" anchor="t" anchorCtr="0">
              <a:spAutoFit/>
            </a:bodyPr>
            <a:lstStyle/>
            <a:p>
              <a:pPr algn="l"/>
              <a:r>
                <a:rPr lang="zh-CN" sz="1420" dirty="0">
                  <a:solidFill>
                    <a:srgbClr val="172B4D"/>
                  </a:solidFill>
                  <a:latin typeface="Microsoft YaHei"/>
                  <a:ea typeface="Microsoft YaHei"/>
                  <a:cs typeface="Microsoft YaHei"/>
                </a:rPr>
                <a:t>公众验证方式</a:t>
              </a:r>
            </a:p>
          </p:txBody>
        </p:sp>
        <p:sp>
          <p:nvSpPr>
            <p:cNvPr id="20" name="Rectangle 20"/>
            <p:cNvSpPr/>
            <p:nvPr/>
          </p:nvSpPr>
          <p:spPr>
            <a:xfrm>
              <a:off x="2715296" y="2785110"/>
              <a:ext cx="2404056" cy="470535"/>
            </a:xfrm>
            <a:prstGeom prst="rect">
              <a:avLst/>
            </a:prstGeom>
            <a:solidFill>
              <a:srgbClr val="FFFFFF"/>
            </a:solidFill>
            <a:ln w="9525">
              <a:solidFill>
                <a:srgbClr val="D6E1EF"/>
              </a:solidFill>
            </a:ln>
          </p:spPr>
        </p:sp>
        <p:sp>
          <p:nvSpPr>
            <p:cNvPr id="21" name="TextBox 21"/>
            <p:cNvSpPr txBox="1"/>
            <p:nvPr/>
          </p:nvSpPr>
          <p:spPr>
            <a:xfrm>
              <a:off x="3241024" y="2905919"/>
              <a:ext cx="1352601"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依赖代理验证者</a:t>
              </a:r>
            </a:p>
          </p:txBody>
        </p:sp>
        <p:sp>
          <p:nvSpPr>
            <p:cNvPr id="22" name="Rectangle 22"/>
            <p:cNvSpPr/>
            <p:nvPr/>
          </p:nvSpPr>
          <p:spPr>
            <a:xfrm>
              <a:off x="5119352" y="2785110"/>
              <a:ext cx="3155324" cy="470535"/>
            </a:xfrm>
            <a:prstGeom prst="rect">
              <a:avLst/>
            </a:prstGeom>
            <a:solidFill>
              <a:srgbClr val="FFFFFF"/>
            </a:solidFill>
            <a:ln w="9525">
              <a:solidFill>
                <a:srgbClr val="D6E1EF"/>
              </a:solidFill>
            </a:ln>
          </p:spPr>
        </p:sp>
        <p:sp>
          <p:nvSpPr>
            <p:cNvPr id="23" name="TextBox 23"/>
            <p:cNvSpPr txBox="1"/>
            <p:nvPr/>
          </p:nvSpPr>
          <p:spPr>
            <a:xfrm>
              <a:off x="5638393" y="2905919"/>
              <a:ext cx="2117242"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可验证，但依赖链式历史</a:t>
              </a:r>
            </a:p>
          </p:txBody>
        </p:sp>
        <p:sp>
          <p:nvSpPr>
            <p:cNvPr id="24" name="Rectangle 24"/>
            <p:cNvSpPr/>
            <p:nvPr/>
          </p:nvSpPr>
          <p:spPr>
            <a:xfrm>
              <a:off x="8274676" y="2785110"/>
              <a:ext cx="3155324" cy="470535"/>
            </a:xfrm>
            <a:prstGeom prst="rect">
              <a:avLst/>
            </a:prstGeom>
            <a:solidFill>
              <a:srgbClr val="FFFFFF"/>
            </a:solidFill>
            <a:ln w="9525">
              <a:solidFill>
                <a:srgbClr val="D6E1EF"/>
              </a:solidFill>
            </a:ln>
          </p:spPr>
        </p:sp>
        <p:sp>
          <p:nvSpPr>
            <p:cNvPr id="26" name="TextBox 26"/>
            <p:cNvSpPr txBox="1"/>
            <p:nvPr/>
          </p:nvSpPr>
          <p:spPr>
            <a:xfrm>
              <a:off x="8889297" y="2905919"/>
              <a:ext cx="1926082"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独立验证当前公开证明</a:t>
              </a:r>
            </a:p>
          </p:txBody>
        </p:sp>
        <p:sp>
          <p:nvSpPr>
            <p:cNvPr id="27" name="Rectangle 27"/>
            <p:cNvSpPr/>
            <p:nvPr/>
          </p:nvSpPr>
          <p:spPr>
            <a:xfrm>
              <a:off x="762000" y="3255645"/>
              <a:ext cx="1953296" cy="470535"/>
            </a:xfrm>
            <a:prstGeom prst="rect">
              <a:avLst/>
            </a:prstGeom>
            <a:solidFill>
              <a:srgbClr val="FFFFFF"/>
            </a:solidFill>
            <a:ln w="9525">
              <a:solidFill>
                <a:srgbClr val="D6E1EF"/>
              </a:solidFill>
            </a:ln>
          </p:spPr>
        </p:sp>
        <p:sp>
          <p:nvSpPr>
            <p:cNvPr id="28" name="TextBox 28"/>
            <p:cNvSpPr txBox="1"/>
            <p:nvPr/>
          </p:nvSpPr>
          <p:spPr>
            <a:xfrm>
              <a:off x="850011" y="3376454"/>
              <a:ext cx="1161440" cy="278702"/>
            </a:xfrm>
            <a:prstGeom prst="rect">
              <a:avLst/>
            </a:prstGeom>
            <a:noFill/>
            <a:ln>
              <a:noFill/>
            </a:ln>
          </p:spPr>
          <p:txBody>
            <a:bodyPr wrap="none" lIns="0" tIns="0" rIns="0" bIns="0" anchor="t" anchorCtr="0">
              <a:spAutoFit/>
            </a:bodyPr>
            <a:lstStyle/>
            <a:p>
              <a:pPr algn="l"/>
              <a:r>
                <a:rPr lang="zh-CN" sz="1420" dirty="0">
                  <a:solidFill>
                    <a:srgbClr val="172B4D"/>
                  </a:solidFill>
                  <a:latin typeface="Microsoft YaHei"/>
                  <a:ea typeface="Microsoft YaHei"/>
                  <a:cs typeface="Microsoft YaHei"/>
                </a:rPr>
                <a:t>在线基础设施</a:t>
              </a:r>
            </a:p>
          </p:txBody>
        </p:sp>
        <p:sp>
          <p:nvSpPr>
            <p:cNvPr id="29" name="Rectangle 29"/>
            <p:cNvSpPr/>
            <p:nvPr/>
          </p:nvSpPr>
          <p:spPr>
            <a:xfrm>
              <a:off x="2715296" y="3255645"/>
              <a:ext cx="2404056" cy="470535"/>
            </a:xfrm>
            <a:prstGeom prst="rect">
              <a:avLst/>
            </a:prstGeom>
            <a:solidFill>
              <a:srgbClr val="FFFFFF"/>
            </a:solidFill>
            <a:ln w="9525">
              <a:solidFill>
                <a:srgbClr val="D6E1EF"/>
              </a:solidFill>
            </a:ln>
          </p:spPr>
        </p:sp>
        <p:sp>
          <p:nvSpPr>
            <p:cNvPr id="30" name="TextBox 30"/>
            <p:cNvSpPr txBox="1"/>
            <p:nvPr/>
          </p:nvSpPr>
          <p:spPr>
            <a:xfrm>
              <a:off x="3035526" y="3376454"/>
              <a:ext cx="1763596"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私有链 / 代理验证者</a:t>
              </a:r>
            </a:p>
          </p:txBody>
        </p:sp>
        <p:sp>
          <p:nvSpPr>
            <p:cNvPr id="31" name="Rectangle 31"/>
            <p:cNvSpPr/>
            <p:nvPr/>
          </p:nvSpPr>
          <p:spPr>
            <a:xfrm>
              <a:off x="5119352" y="3255645"/>
              <a:ext cx="3155324" cy="470535"/>
            </a:xfrm>
            <a:prstGeom prst="rect">
              <a:avLst/>
            </a:prstGeom>
            <a:solidFill>
              <a:srgbClr val="FFFFFF"/>
            </a:solidFill>
            <a:ln w="9525">
              <a:solidFill>
                <a:srgbClr val="D6E1EF"/>
              </a:solidFill>
            </a:ln>
          </p:spPr>
        </p:sp>
        <p:sp>
          <p:nvSpPr>
            <p:cNvPr id="32" name="TextBox 32"/>
            <p:cNvSpPr txBox="1"/>
            <p:nvPr/>
          </p:nvSpPr>
          <p:spPr>
            <a:xfrm>
              <a:off x="5673379" y="3376454"/>
              <a:ext cx="2047270"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Broker 与可信事件日志</a:t>
              </a:r>
            </a:p>
          </p:txBody>
        </p:sp>
        <p:sp>
          <p:nvSpPr>
            <p:cNvPr id="35" name="Rectangle 35"/>
            <p:cNvSpPr/>
            <p:nvPr/>
          </p:nvSpPr>
          <p:spPr>
            <a:xfrm>
              <a:off x="8274676" y="3255645"/>
              <a:ext cx="3155324" cy="470535"/>
            </a:xfrm>
            <a:prstGeom prst="rect">
              <a:avLst/>
            </a:prstGeom>
            <a:solidFill>
              <a:srgbClr val="FFFFFF"/>
            </a:solidFill>
            <a:ln w="9525">
              <a:solidFill>
                <a:srgbClr val="D6E1EF"/>
              </a:solidFill>
            </a:ln>
          </p:spPr>
        </p:sp>
        <p:sp>
          <p:nvSpPr>
            <p:cNvPr id="36" name="TextBox 36"/>
            <p:cNvSpPr txBox="1"/>
            <p:nvPr/>
          </p:nvSpPr>
          <p:spPr>
            <a:xfrm>
              <a:off x="9080457" y="3376454"/>
              <a:ext cx="1543761"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公开数据基础设施</a:t>
              </a:r>
            </a:p>
          </p:txBody>
        </p:sp>
        <p:sp>
          <p:nvSpPr>
            <p:cNvPr id="37" name="Rectangle 37"/>
            <p:cNvSpPr/>
            <p:nvPr/>
          </p:nvSpPr>
          <p:spPr>
            <a:xfrm>
              <a:off x="762000" y="3726180"/>
              <a:ext cx="1953296" cy="470535"/>
            </a:xfrm>
            <a:prstGeom prst="rect">
              <a:avLst/>
            </a:prstGeom>
            <a:solidFill>
              <a:srgbClr val="FFFFFF"/>
            </a:solidFill>
            <a:ln w="9525">
              <a:solidFill>
                <a:srgbClr val="D6E1EF"/>
              </a:solidFill>
            </a:ln>
          </p:spPr>
        </p:sp>
        <p:sp>
          <p:nvSpPr>
            <p:cNvPr id="38" name="TextBox 38"/>
            <p:cNvSpPr txBox="1"/>
            <p:nvPr/>
          </p:nvSpPr>
          <p:spPr>
            <a:xfrm>
              <a:off x="850011" y="3846989"/>
              <a:ext cx="1161440" cy="278702"/>
            </a:xfrm>
            <a:prstGeom prst="rect">
              <a:avLst/>
            </a:prstGeom>
            <a:noFill/>
            <a:ln>
              <a:noFill/>
            </a:ln>
          </p:spPr>
          <p:txBody>
            <a:bodyPr wrap="none" lIns="0" tIns="0" rIns="0" bIns="0" anchor="t" anchorCtr="0">
              <a:spAutoFit/>
            </a:bodyPr>
            <a:lstStyle/>
            <a:p>
              <a:pPr algn="l"/>
              <a:r>
                <a:rPr lang="zh-CN" sz="1420" dirty="0">
                  <a:solidFill>
                    <a:srgbClr val="172B4D"/>
                  </a:solidFill>
                  <a:latin typeface="Microsoft YaHei"/>
                  <a:ea typeface="Microsoft YaHei"/>
                  <a:cs typeface="Microsoft YaHei"/>
                </a:rPr>
                <a:t>设备额外要求</a:t>
              </a:r>
            </a:p>
          </p:txBody>
        </p:sp>
        <p:sp>
          <p:nvSpPr>
            <p:cNvPr id="39" name="Rectangle 39"/>
            <p:cNvSpPr/>
            <p:nvPr/>
          </p:nvSpPr>
          <p:spPr>
            <a:xfrm>
              <a:off x="2715296" y="3726180"/>
              <a:ext cx="2404056" cy="470535"/>
            </a:xfrm>
            <a:prstGeom prst="rect">
              <a:avLst/>
            </a:prstGeom>
            <a:solidFill>
              <a:srgbClr val="FFFFFF"/>
            </a:solidFill>
            <a:ln w="9525">
              <a:solidFill>
                <a:srgbClr val="D6E1EF"/>
              </a:solidFill>
            </a:ln>
          </p:spPr>
        </p:sp>
        <p:sp>
          <p:nvSpPr>
            <p:cNvPr id="40" name="TextBox 40"/>
            <p:cNvSpPr txBox="1"/>
            <p:nvPr/>
          </p:nvSpPr>
          <p:spPr>
            <a:xfrm>
              <a:off x="3420642" y="3846989"/>
              <a:ext cx="993364"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ROM、MPU</a:t>
              </a:r>
            </a:p>
          </p:txBody>
        </p:sp>
        <p:sp>
          <p:nvSpPr>
            <p:cNvPr id="41" name="Rectangle 41"/>
            <p:cNvSpPr/>
            <p:nvPr/>
          </p:nvSpPr>
          <p:spPr>
            <a:xfrm>
              <a:off x="5119352" y="3726180"/>
              <a:ext cx="3155324" cy="470535"/>
            </a:xfrm>
            <a:prstGeom prst="rect">
              <a:avLst/>
            </a:prstGeom>
            <a:solidFill>
              <a:srgbClr val="FFFFFF"/>
            </a:solidFill>
            <a:ln w="9525">
              <a:solidFill>
                <a:srgbClr val="D6E1EF"/>
              </a:solidFill>
            </a:ln>
          </p:spPr>
        </p:sp>
        <p:sp>
          <p:nvSpPr>
            <p:cNvPr id="42" name="TextBox 42"/>
            <p:cNvSpPr txBox="1"/>
            <p:nvPr/>
          </p:nvSpPr>
          <p:spPr>
            <a:xfrm>
              <a:off x="5421354" y="3846989"/>
              <a:ext cx="2551321"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ROM、MPU、可信事件 / 日志</a:t>
              </a:r>
            </a:p>
          </p:txBody>
        </p:sp>
        <p:sp>
          <p:nvSpPr>
            <p:cNvPr id="43" name="Rectangle 43"/>
            <p:cNvSpPr/>
            <p:nvPr/>
          </p:nvSpPr>
          <p:spPr>
            <a:xfrm>
              <a:off x="8274676" y="3726180"/>
              <a:ext cx="3155324" cy="470535"/>
            </a:xfrm>
            <a:prstGeom prst="rect">
              <a:avLst/>
            </a:prstGeom>
            <a:solidFill>
              <a:srgbClr val="FFFFFF"/>
            </a:solidFill>
            <a:ln w="9525">
              <a:solidFill>
                <a:srgbClr val="D6E1EF"/>
              </a:solidFill>
            </a:ln>
          </p:spPr>
        </p:sp>
        <p:sp>
          <p:nvSpPr>
            <p:cNvPr id="44" name="TextBox 44"/>
            <p:cNvSpPr txBox="1"/>
            <p:nvPr/>
          </p:nvSpPr>
          <p:spPr>
            <a:xfrm>
              <a:off x="9355656" y="3846989"/>
              <a:ext cx="993364"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ROM、MPU</a:t>
              </a:r>
            </a:p>
          </p:txBody>
        </p:sp>
        <p:sp>
          <p:nvSpPr>
            <p:cNvPr id="45" name="Rectangle 45"/>
            <p:cNvSpPr/>
            <p:nvPr/>
          </p:nvSpPr>
          <p:spPr>
            <a:xfrm>
              <a:off x="762000" y="4196715"/>
              <a:ext cx="1953296" cy="470535"/>
            </a:xfrm>
            <a:prstGeom prst="rect">
              <a:avLst/>
            </a:prstGeom>
            <a:solidFill>
              <a:srgbClr val="FFFFFF"/>
            </a:solidFill>
            <a:ln w="9525">
              <a:solidFill>
                <a:srgbClr val="D6E1EF"/>
              </a:solidFill>
            </a:ln>
          </p:spPr>
        </p:sp>
        <p:sp>
          <p:nvSpPr>
            <p:cNvPr id="46" name="TextBox 46"/>
            <p:cNvSpPr txBox="1"/>
            <p:nvPr/>
          </p:nvSpPr>
          <p:spPr>
            <a:xfrm>
              <a:off x="850011" y="4317524"/>
              <a:ext cx="779120" cy="278702"/>
            </a:xfrm>
            <a:prstGeom prst="rect">
              <a:avLst/>
            </a:prstGeom>
            <a:noFill/>
            <a:ln>
              <a:noFill/>
            </a:ln>
          </p:spPr>
          <p:txBody>
            <a:bodyPr wrap="none" lIns="0" tIns="0" rIns="0" bIns="0" anchor="t" anchorCtr="0">
              <a:spAutoFit/>
            </a:bodyPr>
            <a:lstStyle/>
            <a:p>
              <a:pPr algn="l"/>
              <a:r>
                <a:rPr lang="zh-CN" sz="1420" dirty="0">
                  <a:solidFill>
                    <a:srgbClr val="172B4D"/>
                  </a:solidFill>
                  <a:latin typeface="Microsoft YaHei"/>
                  <a:ea typeface="Microsoft YaHei"/>
                  <a:cs typeface="Microsoft YaHei"/>
                </a:rPr>
                <a:t>核心改进</a:t>
              </a:r>
            </a:p>
          </p:txBody>
        </p:sp>
        <p:sp>
          <p:nvSpPr>
            <p:cNvPr id="47" name="Rectangle 47"/>
            <p:cNvSpPr/>
            <p:nvPr/>
          </p:nvSpPr>
          <p:spPr>
            <a:xfrm>
              <a:off x="2715296" y="4196715"/>
              <a:ext cx="2404056" cy="470535"/>
            </a:xfrm>
            <a:prstGeom prst="rect">
              <a:avLst/>
            </a:prstGeom>
            <a:solidFill>
              <a:srgbClr val="FFFFFF"/>
            </a:solidFill>
            <a:ln w="9525">
              <a:solidFill>
                <a:srgbClr val="D6E1EF"/>
              </a:solidFill>
            </a:ln>
          </p:spPr>
        </p:sp>
        <p:sp>
          <p:nvSpPr>
            <p:cNvPr id="48" name="TextBox 48"/>
            <p:cNvSpPr txBox="1"/>
            <p:nvPr/>
          </p:nvSpPr>
          <p:spPr>
            <a:xfrm>
              <a:off x="3336604" y="4317524"/>
              <a:ext cx="1161440"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异步集体证明</a:t>
              </a:r>
            </a:p>
          </p:txBody>
        </p:sp>
        <p:sp>
          <p:nvSpPr>
            <p:cNvPr id="49" name="Rectangle 49"/>
            <p:cNvSpPr/>
            <p:nvPr/>
          </p:nvSpPr>
          <p:spPr>
            <a:xfrm>
              <a:off x="5119352" y="4196715"/>
              <a:ext cx="3155324" cy="470535"/>
            </a:xfrm>
            <a:prstGeom prst="rect">
              <a:avLst/>
            </a:prstGeom>
            <a:solidFill>
              <a:srgbClr val="FFFFFF"/>
            </a:solidFill>
            <a:ln w="9525">
              <a:solidFill>
                <a:srgbClr val="D6E1EF"/>
              </a:solidFill>
            </a:ln>
          </p:spPr>
        </p:sp>
        <p:sp>
          <p:nvSpPr>
            <p:cNvPr id="50" name="TextBox 50"/>
            <p:cNvSpPr txBox="1"/>
            <p:nvPr/>
          </p:nvSpPr>
          <p:spPr>
            <a:xfrm>
              <a:off x="5829553" y="4317524"/>
              <a:ext cx="1734922"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事件触发、链式证据</a:t>
              </a:r>
            </a:p>
          </p:txBody>
        </p:sp>
        <p:sp>
          <p:nvSpPr>
            <p:cNvPr id="51" name="Rectangle 51"/>
            <p:cNvSpPr/>
            <p:nvPr/>
          </p:nvSpPr>
          <p:spPr>
            <a:xfrm>
              <a:off x="8274676" y="4196715"/>
              <a:ext cx="3155324" cy="470535"/>
            </a:xfrm>
            <a:prstGeom prst="rect">
              <a:avLst/>
            </a:prstGeom>
            <a:solidFill>
              <a:srgbClr val="FFFFFF"/>
            </a:solidFill>
            <a:ln w="9525">
              <a:solidFill>
                <a:srgbClr val="D6E1EF"/>
              </a:solidFill>
            </a:ln>
          </p:spPr>
        </p:sp>
        <p:sp>
          <p:nvSpPr>
            <p:cNvPr id="52" name="TextBox 52"/>
            <p:cNvSpPr txBox="1"/>
            <p:nvPr/>
          </p:nvSpPr>
          <p:spPr>
            <a:xfrm>
              <a:off x="8698137" y="4317524"/>
              <a:ext cx="2308403"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承诺成员关系的零知识证明</a:t>
              </a:r>
            </a:p>
          </p:txBody>
        </p:sp>
      </p:grpSp>
      <p:grpSp>
        <p:nvGrpSpPr>
          <p:cNvPr id="56" name="target"/>
          <p:cNvGrpSpPr/>
          <p:nvPr/>
        </p:nvGrpSpPr>
        <p:grpSpPr>
          <a:xfrm>
            <a:off x="790575" y="4972050"/>
            <a:ext cx="6681597" cy="691007"/>
            <a:chOff x="790575" y="4972050"/>
            <a:chExt cx="6681597" cy="691007"/>
          </a:xfrm>
        </p:grpSpPr>
        <p:sp>
          <p:nvSpPr>
            <p:cNvPr id="54" name="TextBox 54"/>
            <p:cNvSpPr txBox="1"/>
            <p:nvPr/>
          </p:nvSpPr>
          <p:spPr>
            <a:xfrm>
              <a:off x="790575" y="4972050"/>
              <a:ext cx="1031392"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论文目标</a:t>
              </a:r>
            </a:p>
          </p:txBody>
        </p:sp>
        <p:sp>
          <p:nvSpPr>
            <p:cNvPr id="55" name="TextBox 55"/>
            <p:cNvSpPr txBox="1"/>
            <p:nvPr/>
          </p:nvSpPr>
          <p:spPr>
            <a:xfrm>
              <a:off x="791718" y="5340350"/>
              <a:ext cx="6680454" cy="322707"/>
            </a:xfrm>
            <a:prstGeom prst="rect">
              <a:avLst/>
            </a:prstGeom>
            <a:noFill/>
            <a:ln>
              <a:noFill/>
            </a:ln>
          </p:spPr>
          <p:txBody>
            <a:bodyPr wrap="none" lIns="0" tIns="0" rIns="0" bIns="0" anchor="t" anchorCtr="0">
              <a:spAutoFit/>
            </a:bodyPr>
            <a:lstStyle/>
            <a:p>
              <a:pPr algn="l"/>
              <a:r>
                <a:rPr lang="zh-CN" sz="1650" dirty="0">
                  <a:solidFill>
                    <a:srgbClr val="172B4D"/>
                  </a:solidFill>
                  <a:latin typeface="Microsoft YaHei"/>
                  <a:ea typeface="Microsoft YaHei"/>
                  <a:cs typeface="Microsoft YaHei"/>
                </a:rPr>
                <a:t>验证者无需设备密钥或参考测量，但仍依赖离线准备与设备信任锚。</a:t>
              </a:r>
            </a:p>
          </p:txBody>
        </p:sp>
      </p:grpSp>
      <p:grpSp>
        <p:nvGrpSpPr>
          <p:cNvPr id="59" name="takeaway"/>
          <p:cNvGrpSpPr/>
          <p:nvPr/>
        </p:nvGrpSpPr>
        <p:grpSpPr>
          <a:xfrm>
            <a:off x="723900" y="5924550"/>
            <a:ext cx="10744200" cy="466725"/>
            <a:chOff x="723900" y="5924550"/>
            <a:chExt cx="10744200" cy="466725"/>
          </a:xfrm>
        </p:grpSpPr>
        <p:sp>
          <p:nvSpPr>
            <p:cNvPr id="57" name="Rectangle 57"/>
            <p:cNvSpPr/>
            <p:nvPr/>
          </p:nvSpPr>
          <p:spPr>
            <a:xfrm>
              <a:off x="723900" y="5924550"/>
              <a:ext cx="10744200" cy="466725"/>
            </a:xfrm>
            <a:prstGeom prst="roundRect">
              <a:avLst>
                <a:gd name="adj" fmla="val 12245"/>
              </a:avLst>
            </a:prstGeom>
            <a:solidFill>
              <a:srgbClr val="EDF3FB"/>
            </a:solidFill>
            <a:ln>
              <a:noFill/>
            </a:ln>
          </p:spPr>
        </p:sp>
        <p:sp>
          <p:nvSpPr>
            <p:cNvPr id="58" name="TextBox 58"/>
            <p:cNvSpPr txBox="1"/>
            <p:nvPr/>
          </p:nvSpPr>
          <p:spPr>
            <a:xfrm>
              <a:off x="887349" y="6038850"/>
              <a:ext cx="6456496"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zRA 的透明性是验证过程可公开复核，而非仅公开一个“通过”标签。</a:t>
              </a:r>
            </a:p>
          </p:txBody>
        </p:sp>
      </p:grpSp>
    </p:spTree>
  </p:cSld>
  <p:clrMapOvr>
    <a:masterClrMapping/>
  </p:clrMapOvr>
</p:sld>
</file>

<file path=ppt/slides/slide6.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sp>
        <p:nvSpPr>
          <p:cNvPr id="25" name="矩形 24"/>
          <p:cNvSpPr/>
          <p:nvPr/>
        </p:nvSpPr>
        <p:spPr>
          <a:xfrm>
            <a:off x="685800" y="495300"/>
            <a:ext cx="10810875" cy="495300"/>
          </a:xfrm>
          <a:prstGeom prst="rect">
            <a:avLst/>
          </a:prstGeom>
          <a:noFill/>
          <a:ln>
            <a:noFill/>
          </a:ln>
        </p:spPr>
        <p:txBody>
          <a:bodyPr wrap="none" lIns="91440" tIns="67151" rIns="0" bIns="0" anchor="t" anchorCtr="0">
            <a:noAutofit/>
          </a:bodyPr>
          <a:lstStyle/>
          <a:p>
            <a:pPr algn="l"/>
            <a:r>
              <a:rPr lang="zh-CN" sz="2620" b="1" dirty="0">
                <a:solidFill>
                  <a:srgbClr val="172B4D"/>
                </a:solidFill>
                <a:latin typeface="Microsoft YaHei"/>
                <a:ea typeface="Microsoft YaHei"/>
                <a:cs typeface="Microsoft YaHei"/>
              </a:rPr>
              <a:t>从交互到独立：两种消息流</a:t>
            </a:r>
          </a:p>
        </p:txBody>
      </p:sp>
      <p:sp>
        <p:nvSpPr>
          <p:cNvPr id="3" name="Line 3"/>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6" name="page-footer"/>
          <p:cNvGrpSpPr/>
          <p:nvPr/>
        </p:nvGrpSpPr>
        <p:grpSpPr>
          <a:xfrm>
            <a:off x="776288" y="6524625"/>
            <a:ext cx="10629899" cy="176212"/>
            <a:chOff x="776288" y="6524625"/>
            <a:chExt cx="10629899" cy="176212"/>
          </a:xfrm>
        </p:grpSpPr>
        <p:sp>
          <p:nvSpPr>
            <p:cNvPr id="4" name="TextBox 4"/>
            <p:cNvSpPr txBox="1"/>
            <p:nvPr/>
          </p:nvSpPr>
          <p:spPr>
            <a:xfrm>
              <a:off x="776288" y="6524625"/>
              <a:ext cx="1922793"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01 研究背景 · 论文 I、IV-A、Fig.2</a:t>
              </a:r>
            </a:p>
          </p:txBody>
        </p:sp>
        <p:sp>
          <p:nvSpPr>
            <p:cNvPr id="5" name="TextBox 5"/>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06 / 20</a:t>
              </a:r>
            </a:p>
          </p:txBody>
        </p:sp>
      </p:grpSp>
      <p:grpSp>
        <p:nvGrpSpPr>
          <p:cNvPr id="18" name="traditional"/>
          <p:cNvGrpSpPr/>
          <p:nvPr/>
        </p:nvGrpSpPr>
        <p:grpSpPr>
          <a:xfrm>
            <a:off x="762000" y="1504950"/>
            <a:ext cx="5143500" cy="3743325"/>
            <a:chOff x="762000" y="1504950"/>
            <a:chExt cx="5143500" cy="3743325"/>
          </a:xfrm>
        </p:grpSpPr>
        <p:sp>
          <p:nvSpPr>
            <p:cNvPr id="7" name="Rectangle 7"/>
            <p:cNvSpPr/>
            <p:nvPr/>
          </p:nvSpPr>
          <p:spPr>
            <a:xfrm>
              <a:off x="762000" y="1504950"/>
              <a:ext cx="5143500" cy="3743325"/>
            </a:xfrm>
            <a:prstGeom prst="roundRect">
              <a:avLst>
                <a:gd name="adj" fmla="val 2036"/>
              </a:avLst>
            </a:prstGeom>
            <a:solidFill>
              <a:srgbClr val="EDF3FB"/>
            </a:solidFill>
            <a:ln>
              <a:noFill/>
            </a:ln>
          </p:spPr>
        </p:sp>
        <p:sp>
          <p:nvSpPr>
            <p:cNvPr id="8" name="TextBox 8"/>
            <p:cNvSpPr txBox="1"/>
            <p:nvPr/>
          </p:nvSpPr>
          <p:spPr>
            <a:xfrm>
              <a:off x="980313" y="1625600"/>
              <a:ext cx="1802603" cy="396050"/>
            </a:xfrm>
            <a:prstGeom prst="rect">
              <a:avLst/>
            </a:prstGeom>
            <a:noFill/>
            <a:ln>
              <a:noFill/>
            </a:ln>
          </p:spPr>
          <p:txBody>
            <a:bodyPr wrap="none" lIns="0" tIns="0" rIns="0" bIns="0" anchor="t" anchorCtr="0">
              <a:spAutoFit/>
            </a:bodyPr>
            <a:lstStyle/>
            <a:p>
              <a:pPr algn="l"/>
              <a:r>
                <a:rPr lang="zh-CN" sz="2020" b="1" dirty="0">
                  <a:solidFill>
                    <a:srgbClr val="2F4F98"/>
                  </a:solidFill>
                  <a:latin typeface="Microsoft YaHei"/>
                  <a:ea typeface="Microsoft YaHei"/>
                  <a:cs typeface="Microsoft YaHei"/>
                </a:rPr>
                <a:t>传统交互式 RA</a:t>
              </a:r>
            </a:p>
          </p:txBody>
        </p:sp>
        <p:sp>
          <p:nvSpPr>
            <p:cNvPr id="9" name="Rectangle 9"/>
            <p:cNvSpPr/>
            <p:nvPr/>
          </p:nvSpPr>
          <p:spPr>
            <a:xfrm>
              <a:off x="1028700" y="2076450"/>
              <a:ext cx="4610100" cy="514350"/>
            </a:xfrm>
            <a:prstGeom prst="roundRect">
              <a:avLst>
                <a:gd name="adj" fmla="val 7407"/>
              </a:avLst>
            </a:prstGeom>
            <a:solidFill>
              <a:srgbClr val="FFFFFF"/>
            </a:solidFill>
            <a:ln w="9525">
              <a:solidFill>
                <a:srgbClr val="D6E1EF"/>
              </a:solidFill>
            </a:ln>
          </p:spPr>
        </p:sp>
        <p:sp>
          <p:nvSpPr>
            <p:cNvPr id="10" name="TextBox 10"/>
            <p:cNvSpPr txBox="1"/>
            <p:nvPr/>
          </p:nvSpPr>
          <p:spPr>
            <a:xfrm>
              <a:off x="2167255" y="2193925"/>
              <a:ext cx="2332990" cy="337376"/>
            </a:xfrm>
            <a:prstGeom prst="rect">
              <a:avLst/>
            </a:prstGeom>
            <a:noFill/>
            <a:ln>
              <a:noFill/>
            </a:ln>
          </p:spPr>
          <p:txBody>
            <a:bodyPr wrap="none" lIns="0" tIns="0" rIns="0" bIns="0" anchor="t" anchorCtr="0">
              <a:spAutoFit/>
            </a:bodyPr>
            <a:lstStyle/>
            <a:p>
              <a:pPr algn="ctr"/>
              <a:r>
                <a:rPr lang="zh-CN" sz="1720" dirty="0">
                  <a:solidFill>
                    <a:srgbClr val="172B4D"/>
                  </a:solidFill>
                  <a:latin typeface="Microsoft YaHei"/>
                  <a:ea typeface="Microsoft YaHei"/>
                  <a:cs typeface="Microsoft YaHei"/>
                </a:rPr>
                <a:t>验证者发起逐设备挑战</a:t>
              </a:r>
            </a:p>
          </p:txBody>
        </p:sp>
        <p:sp>
          <p:nvSpPr>
            <p:cNvPr id="11" name="Rectangle 11"/>
            <p:cNvSpPr/>
            <p:nvPr/>
          </p:nvSpPr>
          <p:spPr>
            <a:xfrm>
              <a:off x="1028700" y="2771775"/>
              <a:ext cx="4610100" cy="514350"/>
            </a:xfrm>
            <a:prstGeom prst="roundRect">
              <a:avLst>
                <a:gd name="adj" fmla="val 7407"/>
              </a:avLst>
            </a:prstGeom>
            <a:solidFill>
              <a:srgbClr val="FFFFFF"/>
            </a:solidFill>
            <a:ln w="9525">
              <a:solidFill>
                <a:srgbClr val="D6E1EF"/>
              </a:solidFill>
            </a:ln>
          </p:spPr>
        </p:sp>
        <p:sp>
          <p:nvSpPr>
            <p:cNvPr id="12" name="TextBox 12"/>
            <p:cNvSpPr txBox="1"/>
            <p:nvPr/>
          </p:nvSpPr>
          <p:spPr>
            <a:xfrm>
              <a:off x="2167255" y="2889250"/>
              <a:ext cx="2332990" cy="337376"/>
            </a:xfrm>
            <a:prstGeom prst="rect">
              <a:avLst/>
            </a:prstGeom>
            <a:noFill/>
            <a:ln>
              <a:noFill/>
            </a:ln>
          </p:spPr>
          <p:txBody>
            <a:bodyPr wrap="none" lIns="0" tIns="0" rIns="0" bIns="0" anchor="t" anchorCtr="0">
              <a:spAutoFit/>
            </a:bodyPr>
            <a:lstStyle/>
            <a:p>
              <a:pPr algn="ctr"/>
              <a:r>
                <a:rPr lang="zh-CN" sz="1720" dirty="0">
                  <a:solidFill>
                    <a:srgbClr val="172B4D"/>
                  </a:solidFill>
                  <a:latin typeface="Microsoft YaHei"/>
                  <a:ea typeface="Microsoft YaHei"/>
                  <a:cs typeface="Microsoft YaHei"/>
                </a:rPr>
                <a:t>设备返回状态相关响应</a:t>
              </a:r>
            </a:p>
          </p:txBody>
        </p:sp>
        <p:sp>
          <p:nvSpPr>
            <p:cNvPr id="13" name="Rectangle 13"/>
            <p:cNvSpPr/>
            <p:nvPr/>
          </p:nvSpPr>
          <p:spPr>
            <a:xfrm>
              <a:off x="1028700" y="3467100"/>
              <a:ext cx="4610100" cy="514350"/>
            </a:xfrm>
            <a:prstGeom prst="roundRect">
              <a:avLst>
                <a:gd name="adj" fmla="val 7407"/>
              </a:avLst>
            </a:prstGeom>
            <a:solidFill>
              <a:srgbClr val="FFFFFF"/>
            </a:solidFill>
            <a:ln w="9525">
              <a:solidFill>
                <a:srgbClr val="D6E1EF"/>
              </a:solidFill>
            </a:ln>
          </p:spPr>
        </p:sp>
        <p:sp>
          <p:nvSpPr>
            <p:cNvPr id="14" name="TextBox 14"/>
            <p:cNvSpPr txBox="1"/>
            <p:nvPr/>
          </p:nvSpPr>
          <p:spPr>
            <a:xfrm>
              <a:off x="1819935" y="3584575"/>
              <a:ext cx="3027629" cy="337376"/>
            </a:xfrm>
            <a:prstGeom prst="rect">
              <a:avLst/>
            </a:prstGeom>
            <a:noFill/>
            <a:ln>
              <a:noFill/>
            </a:ln>
          </p:spPr>
          <p:txBody>
            <a:bodyPr wrap="none" lIns="0" tIns="0" rIns="0" bIns="0" anchor="t" anchorCtr="0">
              <a:spAutoFit/>
            </a:bodyPr>
            <a:lstStyle/>
            <a:p>
              <a:pPr algn="ctr"/>
              <a:r>
                <a:rPr lang="zh-CN" sz="1720" dirty="0">
                  <a:solidFill>
                    <a:srgbClr val="172B4D"/>
                  </a:solidFill>
                  <a:latin typeface="Microsoft YaHei"/>
                  <a:ea typeface="Microsoft YaHei"/>
                  <a:cs typeface="Microsoft YaHei"/>
                </a:rPr>
                <a:t>有特权的验证者比对预期响应</a:t>
              </a:r>
            </a:p>
          </p:txBody>
        </p:sp>
        <p:sp>
          <p:nvSpPr>
            <p:cNvPr id="15" name="Line 15"/>
            <p:cNvSpPr/>
            <p:nvPr/>
          </p:nvSpPr>
          <p:spPr>
            <a:xfrm>
              <a:off x="3333750" y="2638425"/>
              <a:ext cx="1" cy="133350"/>
            </a:xfrm>
            <a:prstGeom prst="line">
              <a:avLst/>
            </a:prstGeom>
            <a:noFill/>
            <a:ln w="19050">
              <a:solidFill>
                <a:srgbClr val="159AA8"/>
              </a:solidFill>
              <a:tailEnd type="triangle" w="lg" len="lg"/>
            </a:ln>
          </p:spPr>
        </p:sp>
        <p:sp>
          <p:nvSpPr>
            <p:cNvPr id="16" name="Line 16"/>
            <p:cNvSpPr/>
            <p:nvPr/>
          </p:nvSpPr>
          <p:spPr>
            <a:xfrm>
              <a:off x="3333750" y="3333750"/>
              <a:ext cx="1" cy="133350"/>
            </a:xfrm>
            <a:prstGeom prst="line">
              <a:avLst/>
            </a:prstGeom>
            <a:noFill/>
            <a:ln w="19050">
              <a:solidFill>
                <a:srgbClr val="159AA8"/>
              </a:solidFill>
              <a:tailEnd type="triangle" w="lg" len="lg"/>
            </a:ln>
          </p:spPr>
        </p:sp>
        <p:sp>
          <p:nvSpPr>
            <p:cNvPr id="17" name="TextBox 17"/>
            <p:cNvSpPr txBox="1"/>
            <p:nvPr/>
          </p:nvSpPr>
          <p:spPr>
            <a:xfrm>
              <a:off x="1020318" y="4378325"/>
              <a:ext cx="3792855" cy="322707"/>
            </a:xfrm>
            <a:prstGeom prst="rect">
              <a:avLst/>
            </a:prstGeom>
            <a:noFill/>
            <a:ln>
              <a:noFill/>
            </a:ln>
          </p:spPr>
          <p:txBody>
            <a:bodyPr wrap="none" lIns="0" tIns="0" rIns="0" bIns="0" anchor="t" anchorCtr="0">
              <a:spAutoFit/>
            </a:bodyPr>
            <a:lstStyle/>
            <a:p>
              <a:pPr algn="l"/>
              <a:r>
                <a:rPr lang="zh-CN" sz="1650" dirty="0">
                  <a:solidFill>
                    <a:srgbClr val="172B4D"/>
                  </a:solidFill>
                  <a:latin typeface="Microsoft YaHei"/>
                  <a:ea typeface="Microsoft YaHei"/>
                  <a:cs typeface="Microsoft YaHei"/>
                </a:rPr>
                <a:t>公众通常无法仅凭原始响应独立复核。</a:t>
              </a:r>
            </a:p>
          </p:txBody>
        </p:sp>
      </p:grpSp>
      <p:grpSp>
        <p:nvGrpSpPr>
          <p:cNvPr id="31" name="zra-flow"/>
          <p:cNvGrpSpPr/>
          <p:nvPr/>
        </p:nvGrpSpPr>
        <p:grpSpPr>
          <a:xfrm>
            <a:off x="6248400" y="1504950"/>
            <a:ext cx="5181600" cy="3743325"/>
            <a:chOff x="6248400" y="1504950"/>
            <a:chExt cx="5181600" cy="3743325"/>
          </a:xfrm>
        </p:grpSpPr>
        <p:sp>
          <p:nvSpPr>
            <p:cNvPr id="19" name="Rectangle 19"/>
            <p:cNvSpPr/>
            <p:nvPr/>
          </p:nvSpPr>
          <p:spPr>
            <a:xfrm>
              <a:off x="6248400" y="1504950"/>
              <a:ext cx="5181600" cy="3743325"/>
            </a:xfrm>
            <a:prstGeom prst="roundRect">
              <a:avLst>
                <a:gd name="adj" fmla="val 2036"/>
              </a:avLst>
            </a:prstGeom>
            <a:solidFill>
              <a:srgbClr val="EDF3FB"/>
            </a:solidFill>
            <a:ln>
              <a:noFill/>
            </a:ln>
          </p:spPr>
        </p:sp>
        <p:sp>
          <p:nvSpPr>
            <p:cNvPr id="20" name="TextBox 20"/>
            <p:cNvSpPr txBox="1"/>
            <p:nvPr/>
          </p:nvSpPr>
          <p:spPr>
            <a:xfrm>
              <a:off x="6466713" y="1625600"/>
              <a:ext cx="2229961" cy="396050"/>
            </a:xfrm>
            <a:prstGeom prst="rect">
              <a:avLst/>
            </a:prstGeom>
            <a:noFill/>
            <a:ln>
              <a:noFill/>
            </a:ln>
          </p:spPr>
          <p:txBody>
            <a:bodyPr wrap="none" lIns="0" tIns="0" rIns="0" bIns="0" anchor="t" anchorCtr="0">
              <a:spAutoFit/>
            </a:bodyPr>
            <a:lstStyle/>
            <a:p>
              <a:pPr algn="l"/>
              <a:r>
                <a:rPr lang="zh-CN" sz="2020" b="1" dirty="0">
                  <a:solidFill>
                    <a:srgbClr val="2F4F98"/>
                  </a:solidFill>
                  <a:latin typeface="Microsoft YaHei"/>
                  <a:ea typeface="Microsoft YaHei"/>
                  <a:cs typeface="Microsoft YaHei"/>
                </a:rPr>
                <a:t>zRA 的公开证据流</a:t>
              </a:r>
            </a:p>
          </p:txBody>
        </p:sp>
        <p:sp>
          <p:nvSpPr>
            <p:cNvPr id="21" name="Rectangle 21"/>
            <p:cNvSpPr/>
            <p:nvPr/>
          </p:nvSpPr>
          <p:spPr>
            <a:xfrm>
              <a:off x="6515100" y="2076450"/>
              <a:ext cx="4648200" cy="514350"/>
            </a:xfrm>
            <a:prstGeom prst="roundRect">
              <a:avLst>
                <a:gd name="adj" fmla="val 7407"/>
              </a:avLst>
            </a:prstGeom>
            <a:solidFill>
              <a:srgbClr val="FFFFFF"/>
            </a:solidFill>
            <a:ln w="9525">
              <a:solidFill>
                <a:srgbClr val="D6E1EF"/>
              </a:solidFill>
            </a:ln>
          </p:spPr>
        </p:sp>
        <p:sp>
          <p:nvSpPr>
            <p:cNvPr id="22" name="TextBox 22"/>
            <p:cNvSpPr txBox="1"/>
            <p:nvPr/>
          </p:nvSpPr>
          <p:spPr>
            <a:xfrm>
              <a:off x="7441159" y="2193925"/>
              <a:ext cx="2796083" cy="337376"/>
            </a:xfrm>
            <a:prstGeom prst="rect">
              <a:avLst/>
            </a:prstGeom>
            <a:noFill/>
            <a:ln>
              <a:noFill/>
            </a:ln>
          </p:spPr>
          <p:txBody>
            <a:bodyPr wrap="none" lIns="0" tIns="0" rIns="0" bIns="0" anchor="t" anchorCtr="0">
              <a:spAutoFit/>
            </a:bodyPr>
            <a:lstStyle/>
            <a:p>
              <a:pPr algn="ctr"/>
              <a:r>
                <a:rPr lang="zh-CN" sz="1720" dirty="0">
                  <a:solidFill>
                    <a:srgbClr val="172B4D"/>
                  </a:solidFill>
                  <a:latin typeface="Microsoft YaHei"/>
                  <a:ea typeface="Microsoft YaHei"/>
                  <a:cs typeface="Microsoft YaHei"/>
                </a:rPr>
                <a:t>制造商公布共享的全局挑战</a:t>
              </a:r>
            </a:p>
          </p:txBody>
        </p:sp>
        <p:sp>
          <p:nvSpPr>
            <p:cNvPr id="23" name="Rectangle 23"/>
            <p:cNvSpPr/>
            <p:nvPr/>
          </p:nvSpPr>
          <p:spPr>
            <a:xfrm>
              <a:off x="6515100" y="2771775"/>
              <a:ext cx="4648200" cy="514350"/>
            </a:xfrm>
            <a:prstGeom prst="roundRect">
              <a:avLst>
                <a:gd name="adj" fmla="val 7407"/>
              </a:avLst>
            </a:prstGeom>
            <a:solidFill>
              <a:srgbClr val="FFFFFF"/>
            </a:solidFill>
            <a:ln w="9525">
              <a:solidFill>
                <a:srgbClr val="D6E1EF"/>
              </a:solidFill>
            </a:ln>
          </p:spPr>
        </p:sp>
        <p:sp>
          <p:nvSpPr>
            <p:cNvPr id="24" name="TextBox 24"/>
            <p:cNvSpPr txBox="1"/>
            <p:nvPr/>
          </p:nvSpPr>
          <p:spPr>
            <a:xfrm>
              <a:off x="7423793" y="2889250"/>
              <a:ext cx="2830815" cy="337376"/>
            </a:xfrm>
            <a:prstGeom prst="rect">
              <a:avLst/>
            </a:prstGeom>
            <a:noFill/>
            <a:ln>
              <a:noFill/>
            </a:ln>
          </p:spPr>
          <p:txBody>
            <a:bodyPr wrap="none" lIns="0" tIns="0" rIns="0" bIns="0" anchor="t" anchorCtr="0">
              <a:spAutoFit/>
            </a:bodyPr>
            <a:lstStyle/>
            <a:p>
              <a:pPr algn="ctr"/>
              <a:r>
                <a:rPr lang="zh-CN" sz="1720" dirty="0">
                  <a:solidFill>
                    <a:srgbClr val="172B4D"/>
                  </a:solidFill>
                  <a:latin typeface="Microsoft YaHei"/>
                  <a:ea typeface="Microsoft YaHei"/>
                  <a:cs typeface="Microsoft YaHei"/>
                </a:rPr>
                <a:t>设备自主提交 π 与公开输入</a:t>
              </a:r>
            </a:p>
          </p:txBody>
        </p:sp>
        <p:sp>
          <p:nvSpPr>
            <p:cNvPr id="26" name="Rectangle 26"/>
            <p:cNvSpPr/>
            <p:nvPr/>
          </p:nvSpPr>
          <p:spPr>
            <a:xfrm>
              <a:off x="6515100" y="3467100"/>
              <a:ext cx="4648200" cy="514350"/>
            </a:xfrm>
            <a:prstGeom prst="roundRect">
              <a:avLst>
                <a:gd name="adj" fmla="val 7407"/>
              </a:avLst>
            </a:prstGeom>
            <a:solidFill>
              <a:srgbClr val="FFFFFF"/>
            </a:solidFill>
            <a:ln w="9525">
              <a:solidFill>
                <a:srgbClr val="D6E1EF"/>
              </a:solidFill>
            </a:ln>
          </p:spPr>
        </p:sp>
        <p:sp>
          <p:nvSpPr>
            <p:cNvPr id="27" name="TextBox 27"/>
            <p:cNvSpPr txBox="1"/>
            <p:nvPr/>
          </p:nvSpPr>
          <p:spPr>
            <a:xfrm>
              <a:off x="7423793" y="3584575"/>
              <a:ext cx="2830815" cy="337376"/>
            </a:xfrm>
            <a:prstGeom prst="rect">
              <a:avLst/>
            </a:prstGeom>
            <a:noFill/>
            <a:ln>
              <a:noFill/>
            </a:ln>
          </p:spPr>
          <p:txBody>
            <a:bodyPr wrap="none" lIns="0" tIns="0" rIns="0" bIns="0" anchor="t" anchorCtr="0">
              <a:spAutoFit/>
            </a:bodyPr>
            <a:lstStyle/>
            <a:p>
              <a:pPr algn="ctr"/>
              <a:r>
                <a:rPr lang="zh-CN" sz="1720" dirty="0">
                  <a:solidFill>
                    <a:srgbClr val="172B4D"/>
                  </a:solidFill>
                  <a:latin typeface="Microsoft YaHei"/>
                  <a:ea typeface="Microsoft YaHei"/>
                  <a:cs typeface="Microsoft YaHei"/>
                </a:rPr>
                <a:t>任何人 / 合约独立完成检查</a:t>
              </a:r>
            </a:p>
          </p:txBody>
        </p:sp>
        <p:sp>
          <p:nvSpPr>
            <p:cNvPr id="28" name="Line 28"/>
            <p:cNvSpPr/>
            <p:nvPr/>
          </p:nvSpPr>
          <p:spPr>
            <a:xfrm>
              <a:off x="8839200" y="2638425"/>
              <a:ext cx="1" cy="133350"/>
            </a:xfrm>
            <a:prstGeom prst="line">
              <a:avLst/>
            </a:prstGeom>
            <a:noFill/>
            <a:ln w="19050">
              <a:solidFill>
                <a:srgbClr val="159AA8"/>
              </a:solidFill>
              <a:tailEnd type="triangle" w="lg" len="lg"/>
            </a:ln>
          </p:spPr>
        </p:sp>
        <p:sp>
          <p:nvSpPr>
            <p:cNvPr id="29" name="Line 29"/>
            <p:cNvSpPr/>
            <p:nvPr/>
          </p:nvSpPr>
          <p:spPr>
            <a:xfrm>
              <a:off x="8839200" y="3333750"/>
              <a:ext cx="1" cy="133350"/>
            </a:xfrm>
            <a:prstGeom prst="line">
              <a:avLst/>
            </a:prstGeom>
            <a:noFill/>
            <a:ln w="19050">
              <a:solidFill>
                <a:srgbClr val="159AA8"/>
              </a:solidFill>
              <a:tailEnd type="triangle" w="lg" len="lg"/>
            </a:ln>
          </p:spPr>
        </p:sp>
        <p:sp>
          <p:nvSpPr>
            <p:cNvPr id="30" name="TextBox 30"/>
            <p:cNvSpPr txBox="1"/>
            <p:nvPr/>
          </p:nvSpPr>
          <p:spPr>
            <a:xfrm>
              <a:off x="6506718" y="4378325"/>
              <a:ext cx="3592944" cy="322707"/>
            </a:xfrm>
            <a:prstGeom prst="rect">
              <a:avLst/>
            </a:prstGeom>
            <a:noFill/>
            <a:ln>
              <a:noFill/>
            </a:ln>
          </p:spPr>
          <p:txBody>
            <a:bodyPr wrap="none" lIns="0" tIns="0" rIns="0" bIns="0" anchor="t" anchorCtr="0">
              <a:spAutoFit/>
            </a:bodyPr>
            <a:lstStyle/>
            <a:p>
              <a:pPr algn="l"/>
              <a:r>
                <a:rPr lang="zh-CN" sz="1650" dirty="0">
                  <a:solidFill>
                    <a:srgbClr val="172B4D"/>
                  </a:solidFill>
                  <a:latin typeface="Microsoft YaHei"/>
                  <a:ea typeface="Microsoft YaHei"/>
                  <a:cs typeface="Microsoft YaHei"/>
                </a:rPr>
                <a:t>不再在线询问“本设备应返回什么”。</a:t>
              </a:r>
            </a:p>
          </p:txBody>
        </p:sp>
      </p:grpSp>
      <p:grpSp>
        <p:nvGrpSpPr>
          <p:cNvPr id="36" name="takeaway"/>
          <p:cNvGrpSpPr/>
          <p:nvPr/>
        </p:nvGrpSpPr>
        <p:grpSpPr>
          <a:xfrm>
            <a:off x="723900" y="5924550"/>
            <a:ext cx="10744200" cy="466725"/>
            <a:chOff x="723900" y="5924550"/>
            <a:chExt cx="10744200" cy="466725"/>
          </a:xfrm>
        </p:grpSpPr>
        <p:sp>
          <p:nvSpPr>
            <p:cNvPr id="32" name="Rectangle 32"/>
            <p:cNvSpPr/>
            <p:nvPr/>
          </p:nvSpPr>
          <p:spPr>
            <a:xfrm>
              <a:off x="723900" y="5924550"/>
              <a:ext cx="10744200" cy="466725"/>
            </a:xfrm>
            <a:prstGeom prst="roundRect">
              <a:avLst>
                <a:gd name="adj" fmla="val 12245"/>
              </a:avLst>
            </a:prstGeom>
            <a:solidFill>
              <a:srgbClr val="EDF3FB"/>
            </a:solidFill>
            <a:ln>
              <a:noFill/>
            </a:ln>
          </p:spPr>
        </p:sp>
        <p:sp>
          <p:nvSpPr>
            <p:cNvPr id="35" name="TextBox 35"/>
            <p:cNvSpPr txBox="1"/>
            <p:nvPr/>
          </p:nvSpPr>
          <p:spPr>
            <a:xfrm>
              <a:off x="887349" y="6038850"/>
              <a:ext cx="7068057"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“非交互”消除逐次可信方往返；公开读取、证明提交与挑战更新仍然存在。</a:t>
              </a:r>
            </a:p>
          </p:txBody>
        </p:sp>
      </p:grpSp>
    </p:spTree>
  </p:cSld>
  <p:clrMapOvr>
    <a:masterClrMapping/>
  </p:clrMapOvr>
</p:sld>
</file>

<file path=ppt/slides/slide7.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grpSp>
        <p:nvGrpSpPr>
          <p:cNvPr id="3" name="page-title"/>
          <p:cNvGrpSpPr/>
          <p:nvPr/>
        </p:nvGrpSpPr>
        <p:grpSpPr>
          <a:xfrm>
            <a:off x="763905" y="528320"/>
            <a:ext cx="5317236" cy="513398"/>
            <a:chOff x="763905" y="528320"/>
            <a:chExt cx="5317236" cy="513398"/>
          </a:xfrm>
        </p:grpSpPr>
        <p:sp>
          <p:nvSpPr>
            <p:cNvPr id="2" name="TextBox 2"/>
            <p:cNvSpPr txBox="1"/>
            <p:nvPr/>
          </p:nvSpPr>
          <p:spPr>
            <a:xfrm>
              <a:off x="763905" y="528320"/>
              <a:ext cx="5317236" cy="513398"/>
            </a:xfrm>
            <a:prstGeom prst="rect">
              <a:avLst/>
            </a:prstGeom>
            <a:noFill/>
            <a:ln>
              <a:noFill/>
            </a:ln>
          </p:spPr>
          <p:txBody>
            <a:bodyPr wrap="none" lIns="0" tIns="0" rIns="0" bIns="0" anchor="t" anchorCtr="0">
              <a:spAutoFit/>
            </a:bodyPr>
            <a:lstStyle/>
            <a:p>
              <a:pPr algn="l"/>
              <a:r>
                <a:rPr lang="zh-CN" sz="2620" b="1" dirty="0">
                  <a:solidFill>
                    <a:srgbClr val="172B4D"/>
                  </a:solidFill>
                  <a:latin typeface="Microsoft YaHei"/>
                  <a:ea typeface="Microsoft YaHei"/>
                  <a:cs typeface="Microsoft YaHei"/>
                </a:rPr>
                <a:t>设备侧信任边界：测量与证明分工</a:t>
              </a:r>
            </a:p>
          </p:txBody>
        </p:sp>
      </p:grpSp>
      <p:sp>
        <p:nvSpPr>
          <p:cNvPr id="4" name="Line 4"/>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7" name="page-footer"/>
          <p:cNvGrpSpPr/>
          <p:nvPr/>
        </p:nvGrpSpPr>
        <p:grpSpPr>
          <a:xfrm>
            <a:off x="776288" y="6524625"/>
            <a:ext cx="10629899" cy="176212"/>
            <a:chOff x="776288" y="6524625"/>
            <a:chExt cx="10629899" cy="176212"/>
          </a:xfrm>
        </p:grpSpPr>
        <p:sp>
          <p:nvSpPr>
            <p:cNvPr id="5" name="TextBox 5"/>
            <p:cNvSpPr txBox="1"/>
            <p:nvPr/>
          </p:nvSpPr>
          <p:spPr>
            <a:xfrm>
              <a:off x="776288" y="6524625"/>
              <a:ext cx="2204999"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02 zRA 设计 · 论文 Fig.4、附录 C、V-A</a:t>
              </a:r>
            </a:p>
          </p:txBody>
        </p:sp>
        <p:sp>
          <p:nvSpPr>
            <p:cNvPr id="6" name="TextBox 6"/>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07 / 20</a:t>
              </a:r>
            </a:p>
          </p:txBody>
        </p:sp>
      </p:grpSp>
      <p:grpSp>
        <p:nvGrpSpPr>
          <p:cNvPr id="12" name="trust-anchor"/>
          <p:cNvGrpSpPr/>
          <p:nvPr/>
        </p:nvGrpSpPr>
        <p:grpSpPr>
          <a:xfrm>
            <a:off x="762000" y="1533525"/>
            <a:ext cx="4029075" cy="3238500"/>
            <a:chOff x="762000" y="1533525"/>
            <a:chExt cx="4029075" cy="3238500"/>
          </a:xfrm>
        </p:grpSpPr>
        <p:sp>
          <p:nvSpPr>
            <p:cNvPr id="8" name="Rectangle 8"/>
            <p:cNvSpPr/>
            <p:nvPr/>
          </p:nvSpPr>
          <p:spPr>
            <a:xfrm>
              <a:off x="762000" y="1533525"/>
              <a:ext cx="4029075" cy="3238500"/>
            </a:xfrm>
            <a:prstGeom prst="roundRect">
              <a:avLst>
                <a:gd name="adj" fmla="val 2353"/>
              </a:avLst>
            </a:prstGeom>
            <a:solidFill>
              <a:srgbClr val="EDF3FB"/>
            </a:solidFill>
            <a:ln>
              <a:noFill/>
            </a:ln>
          </p:spPr>
        </p:sp>
        <p:sp>
          <p:nvSpPr>
            <p:cNvPr id="9" name="Freeform 9"/>
            <p:cNvSpPr/>
            <p:nvPr/>
          </p:nvSpPr>
          <p:spPr>
            <a:xfrm>
              <a:off x="762000" y="1533525"/>
              <a:ext cx="47625" cy="3238500"/>
            </a:xfrm>
            <a:custGeom>
              <a:avLst/>
              <a:gdLst/>
              <a:ahLst/>
              <a:cxnLst/>
              <a:rect l="l" t="t" r="r" b="b"/>
              <a:pathLst>
                <a:path w="47625" h="3238500">
                  <a:moveTo>
                    <a:pt x="0" y="0"/>
                  </a:moveTo>
                  <a:lnTo>
                    <a:pt x="47625" y="0"/>
                  </a:lnTo>
                  <a:lnTo>
                    <a:pt x="47625" y="3238500"/>
                  </a:lnTo>
                  <a:lnTo>
                    <a:pt x="0" y="3238500"/>
                  </a:lnTo>
                  <a:close/>
                </a:path>
              </a:pathLst>
            </a:custGeom>
            <a:solidFill>
              <a:srgbClr val="159AA8"/>
            </a:solidFill>
            <a:ln>
              <a:noFill/>
            </a:ln>
          </p:spPr>
        </p:sp>
        <p:sp>
          <p:nvSpPr>
            <p:cNvPr id="10" name="TextBox 10"/>
            <p:cNvSpPr txBox="1"/>
            <p:nvPr/>
          </p:nvSpPr>
          <p:spPr>
            <a:xfrm>
              <a:off x="962025" y="1657350"/>
              <a:ext cx="3054167" cy="367665"/>
            </a:xfrm>
            <a:prstGeom prst="rect">
              <a:avLst/>
            </a:prstGeom>
            <a:noFill/>
            <a:ln>
              <a:noFill/>
            </a:ln>
          </p:spPr>
          <p:txBody>
            <a:bodyPr wrap="none" lIns="0" tIns="0" rIns="0" bIns="0" anchor="t" anchorCtr="0">
              <a:spAutoFit/>
            </a:bodyPr>
            <a:lstStyle/>
            <a:p>
              <a:pPr algn="l"/>
              <a:r>
                <a:rPr lang="zh-CN" sz="1880" b="1" dirty="0">
                  <a:solidFill>
                    <a:srgbClr val="159AA8"/>
                  </a:solidFill>
                  <a:latin typeface="Microsoft YaHei"/>
                  <a:ea typeface="Microsoft YaHei"/>
                  <a:cs typeface="Microsoft YaHei"/>
                </a:rPr>
                <a:t>可信信任锚：ROM ＋ MPU</a:t>
              </a:r>
            </a:p>
          </p:txBody>
        </p:sp>
        <p:sp>
          <p:nvSpPr>
            <p:cNvPr id="11" name="TextBox 11"/>
            <p:cNvSpPr txBox="1"/>
            <p:nvPr/>
          </p:nvSpPr>
          <p:spPr>
            <a:xfrm>
              <a:off x="963168" y="2038350"/>
              <a:ext cx="3170492" cy="1538097"/>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ROM：固定测量与响应生成代码。</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MPU：保护内部状态 S_i 的访问。</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先取得真实测量 m_i，再计算响</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应。</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示例：r_i = Hash(S_i | c_i | m_i)</a:t>
              </a:r>
            </a:p>
          </p:txBody>
        </p:sp>
      </p:grpSp>
      <p:grpSp>
        <p:nvGrpSpPr>
          <p:cNvPr id="17" name="software"/>
          <p:cNvGrpSpPr/>
          <p:nvPr/>
        </p:nvGrpSpPr>
        <p:grpSpPr>
          <a:xfrm>
            <a:off x="5753100" y="1533525"/>
            <a:ext cx="5676900" cy="3238500"/>
            <a:chOff x="5753100" y="1533525"/>
            <a:chExt cx="5676900" cy="3238500"/>
          </a:xfrm>
        </p:grpSpPr>
        <p:sp>
          <p:nvSpPr>
            <p:cNvPr id="13" name="Rectangle 13"/>
            <p:cNvSpPr/>
            <p:nvPr/>
          </p:nvSpPr>
          <p:spPr>
            <a:xfrm>
              <a:off x="5753100" y="1533525"/>
              <a:ext cx="5676900" cy="3238500"/>
            </a:xfrm>
            <a:prstGeom prst="roundRect">
              <a:avLst>
                <a:gd name="adj" fmla="val 2353"/>
              </a:avLst>
            </a:prstGeom>
            <a:solidFill>
              <a:srgbClr val="EDF3FB"/>
            </a:solidFill>
            <a:ln>
              <a:noFill/>
            </a:ln>
          </p:spPr>
        </p:sp>
        <p:sp>
          <p:nvSpPr>
            <p:cNvPr id="14" name="Freeform 14"/>
            <p:cNvSpPr/>
            <p:nvPr/>
          </p:nvSpPr>
          <p:spPr>
            <a:xfrm>
              <a:off x="5753100" y="1533525"/>
              <a:ext cx="47625" cy="3238500"/>
            </a:xfrm>
            <a:custGeom>
              <a:avLst/>
              <a:gdLst/>
              <a:ahLst/>
              <a:cxnLst/>
              <a:rect l="l" t="t" r="r" b="b"/>
              <a:pathLst>
                <a:path w="47625" h="3238500">
                  <a:moveTo>
                    <a:pt x="0" y="0"/>
                  </a:moveTo>
                  <a:lnTo>
                    <a:pt x="47625" y="0"/>
                  </a:lnTo>
                  <a:lnTo>
                    <a:pt x="47625" y="3238500"/>
                  </a:lnTo>
                  <a:lnTo>
                    <a:pt x="0" y="3238500"/>
                  </a:lnTo>
                  <a:close/>
                </a:path>
              </a:pathLst>
            </a:custGeom>
            <a:solidFill>
              <a:srgbClr val="2F4F98"/>
            </a:solidFill>
            <a:ln>
              <a:noFill/>
            </a:ln>
          </p:spPr>
        </p:sp>
        <p:sp>
          <p:nvSpPr>
            <p:cNvPr id="15" name="TextBox 15"/>
            <p:cNvSpPr txBox="1"/>
            <p:nvPr/>
          </p:nvSpPr>
          <p:spPr>
            <a:xfrm>
              <a:off x="5953125" y="1657350"/>
              <a:ext cx="3056077"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普通软件层：生成公开证明</a:t>
              </a:r>
            </a:p>
          </p:txBody>
        </p:sp>
        <p:sp>
          <p:nvSpPr>
            <p:cNvPr id="16" name="TextBox 16"/>
            <p:cNvSpPr txBox="1"/>
            <p:nvPr/>
          </p:nvSpPr>
          <p:spPr>
            <a:xfrm>
              <a:off x="5954268" y="2038350"/>
              <a:ext cx="3903916" cy="1234249"/>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取得响应 r_i、当前挑战与 Merkle 路径。</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计算承诺叶子，检查其到根的成员关系。</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生成 zkSNARK 证明，再签名并提交。</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电路执行不要求额外 TEE。</a:t>
              </a:r>
            </a:p>
          </p:txBody>
        </p:sp>
      </p:grpSp>
      <p:grpSp>
        <p:nvGrpSpPr>
          <p:cNvPr id="20" name="response-link"/>
          <p:cNvGrpSpPr/>
          <p:nvPr/>
        </p:nvGrpSpPr>
        <p:grpSpPr>
          <a:xfrm>
            <a:off x="4895850" y="2470150"/>
            <a:ext cx="695325" cy="387351"/>
            <a:chOff x="4895850" y="2470150"/>
            <a:chExt cx="695325" cy="387351"/>
          </a:xfrm>
        </p:grpSpPr>
        <p:sp>
          <p:nvSpPr>
            <p:cNvPr id="18" name="Line 18"/>
            <p:cNvSpPr/>
            <p:nvPr/>
          </p:nvSpPr>
          <p:spPr>
            <a:xfrm>
              <a:off x="4895850" y="2857500"/>
              <a:ext cx="695325" cy="1"/>
            </a:xfrm>
            <a:prstGeom prst="line">
              <a:avLst/>
            </a:prstGeom>
            <a:noFill/>
            <a:ln w="23812">
              <a:solidFill>
                <a:srgbClr val="159AA8"/>
              </a:solidFill>
              <a:tailEnd type="triangle" w="lg" len="lg"/>
            </a:ln>
          </p:spPr>
        </p:sp>
        <p:sp>
          <p:nvSpPr>
            <p:cNvPr id="19" name="TextBox 19"/>
            <p:cNvSpPr txBox="1"/>
            <p:nvPr/>
          </p:nvSpPr>
          <p:spPr>
            <a:xfrm>
              <a:off x="5051504" y="2470150"/>
              <a:ext cx="374493" cy="352044"/>
            </a:xfrm>
            <a:prstGeom prst="rect">
              <a:avLst/>
            </a:prstGeom>
            <a:noFill/>
            <a:ln>
              <a:noFill/>
            </a:ln>
          </p:spPr>
          <p:txBody>
            <a:bodyPr wrap="none" lIns="0" tIns="0" rIns="0" bIns="0" anchor="t" anchorCtr="0">
              <a:spAutoFit/>
            </a:bodyPr>
            <a:lstStyle/>
            <a:p>
              <a:pPr algn="ctr"/>
              <a:r>
                <a:rPr lang="en-US" sz="1800" b="1" dirty="0">
                  <a:solidFill>
                    <a:srgbClr val="159AA8"/>
                  </a:solidFill>
                  <a:latin typeface="Microsoft YaHei"/>
                  <a:ea typeface="Microsoft YaHei"/>
                  <a:cs typeface="Microsoft YaHei"/>
                </a:rPr>
                <a:t>r_i</a:t>
              </a:r>
            </a:p>
          </p:txBody>
        </p:sp>
      </p:grpSp>
      <p:grpSp>
        <p:nvGrpSpPr>
          <p:cNvPr id="22" name="boundary-note"/>
          <p:cNvGrpSpPr/>
          <p:nvPr/>
        </p:nvGrpSpPr>
        <p:grpSpPr>
          <a:xfrm>
            <a:off x="791337" y="5073650"/>
            <a:ext cx="9301226" cy="655034"/>
            <a:chOff x="791337" y="5073650"/>
            <a:chExt cx="9301226" cy="655034"/>
          </a:xfrm>
        </p:grpSpPr>
        <p:sp>
          <p:nvSpPr>
            <p:cNvPr id="21" name="TextBox 21"/>
            <p:cNvSpPr txBox="1"/>
            <p:nvPr/>
          </p:nvSpPr>
          <p:spPr>
            <a:xfrm>
              <a:off x="791337" y="5073650"/>
              <a:ext cx="9301226" cy="655034"/>
            </a:xfrm>
            <a:prstGeom prst="rect">
              <a:avLst/>
            </a:prstGeom>
            <a:noFill/>
            <a:ln>
              <a:noFill/>
            </a:ln>
          </p:spPr>
          <p:txBody>
            <a:bodyPr wrap="none" lIns="0" tIns="0" rIns="0" bIns="0" anchor="t" anchorCtr="0">
              <a:spAutoFit/>
            </a:bodyPr>
            <a:lstStyle/>
            <a:p>
              <a:pPr algn="l">
                <a:lnSpc>
                  <a:spcPts val="2501"/>
                </a:lnSpc>
              </a:pPr>
              <a:r>
                <a:rPr lang="zh-CN" sz="1720" dirty="0">
                  <a:solidFill>
                    <a:srgbClr val="172B4D"/>
                  </a:solidFill>
                  <a:latin typeface="Microsoft YaHei"/>
                  <a:ea typeface="Microsoft YaHei"/>
                  <a:cs typeface="Microsoft YaHei"/>
                </a:rPr>
                <a:t>ZK 电路证明的是“给定响应对应的承诺属于认可树”；真实测量是否可信，仍由设备信任锚和预先</a:t>
              </a:r>
              <a:br>
                <a:rPr lang="zh-CN" sz="1720" dirty="0">
                  <a:solidFill>
                    <a:srgbClr val="172B4D"/>
                  </a:solidFill>
                  <a:latin typeface="Microsoft YaHei"/>
                  <a:ea typeface="Microsoft YaHei"/>
                  <a:cs typeface="Microsoft YaHei"/>
                </a:rPr>
              </a:br>
              <a:r>
                <a:rPr lang="zh-CN" sz="1720" dirty="0">
                  <a:solidFill>
                    <a:srgbClr val="172B4D"/>
                  </a:solidFill>
                  <a:latin typeface="Microsoft YaHei"/>
                  <a:ea typeface="Microsoft YaHei"/>
                  <a:cs typeface="Microsoft YaHei"/>
                </a:rPr>
                <a:t>认可的响应决定。</a:t>
              </a:r>
            </a:p>
          </p:txBody>
        </p:sp>
      </p:grpSp>
      <p:grpSp>
        <p:nvGrpSpPr>
          <p:cNvPr id="25" name="takeaway"/>
          <p:cNvGrpSpPr/>
          <p:nvPr/>
        </p:nvGrpSpPr>
        <p:grpSpPr>
          <a:xfrm>
            <a:off x="723900" y="5924550"/>
            <a:ext cx="10744200" cy="466725"/>
            <a:chOff x="723900" y="5924550"/>
            <a:chExt cx="10744200" cy="466725"/>
          </a:xfrm>
        </p:grpSpPr>
        <p:sp>
          <p:nvSpPr>
            <p:cNvPr id="23" name="Rectangle 23"/>
            <p:cNvSpPr/>
            <p:nvPr/>
          </p:nvSpPr>
          <p:spPr>
            <a:xfrm>
              <a:off x="723900" y="5924550"/>
              <a:ext cx="10744200" cy="466725"/>
            </a:xfrm>
            <a:prstGeom prst="roundRect">
              <a:avLst>
                <a:gd name="adj" fmla="val 12245"/>
              </a:avLst>
            </a:prstGeom>
            <a:solidFill>
              <a:srgbClr val="EDF3FB"/>
            </a:solidFill>
            <a:ln>
              <a:noFill/>
            </a:ln>
          </p:spPr>
        </p:sp>
        <p:sp>
          <p:nvSpPr>
            <p:cNvPr id="24" name="TextBox 24"/>
            <p:cNvSpPr txBox="1"/>
            <p:nvPr/>
          </p:nvSpPr>
          <p:spPr>
            <a:xfrm>
              <a:off x="887349" y="6038850"/>
              <a:ext cx="7247788"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零知识证明不会替代可信测量；它把正确响应的验证变成可公开核验的计算。</a:t>
              </a:r>
            </a:p>
          </p:txBody>
        </p:sp>
      </p:grpSp>
    </p:spTree>
  </p:cSld>
  <p:clrMapOvr>
    <a:masterClrMapping/>
  </p:clrMapOvr>
</p:sld>
</file>

<file path=ppt/slides/slide8.xml><?xml version="1.0" encoding="utf-8"?>
<p:sld xmlns:a="http://schemas.openxmlformats.org/drawingml/2006/main" xmlns:p="http://schemas.openxmlformats.org/presentationml/2006/main">
  <p:cSld>
    <p:spTree>
      <p:nvGrpSpPr>
        <p:cNvPr id="1" name=""/>
        <p:cNvGrpSpPr/>
        <p:nvPr/>
      </p:nvGrpSpPr>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sp>
        <p:nvSpPr>
          <p:cNvPr id="25" name="矩形 24"/>
          <p:cNvSpPr/>
          <p:nvPr/>
        </p:nvSpPr>
        <p:spPr>
          <a:xfrm>
            <a:off x="685800" y="495300"/>
            <a:ext cx="10810875" cy="495300"/>
          </a:xfrm>
          <a:prstGeom prst="rect">
            <a:avLst/>
          </a:prstGeom>
          <a:noFill/>
          <a:ln>
            <a:noFill/>
          </a:ln>
        </p:spPr>
        <p:txBody>
          <a:bodyPr wrap="none" lIns="91440" tIns="67151" rIns="0" bIns="0" anchor="t" anchorCtr="0">
            <a:noAutofit/>
          </a:bodyPr>
          <a:lstStyle/>
          <a:p>
            <a:pPr algn="l"/>
            <a:r>
              <a:rPr lang="zh-CN" sz="2620" b="1" dirty="0">
                <a:solidFill>
                  <a:srgbClr val="172B4D"/>
                </a:solidFill>
                <a:latin typeface="Microsoft YaHei"/>
                <a:ea typeface="Microsoft YaHei"/>
                <a:cs typeface="Microsoft YaHei"/>
              </a:rPr>
              <a:t>三大组件：各自承担什么任务</a:t>
            </a:r>
          </a:p>
        </p:txBody>
      </p:sp>
      <p:sp>
        <p:nvSpPr>
          <p:cNvPr id="3" name="Line 3"/>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6" name="page-footer"/>
          <p:cNvGrpSpPr/>
          <p:nvPr/>
        </p:nvGrpSpPr>
        <p:grpSpPr>
          <a:xfrm>
            <a:off x="776288" y="6524625"/>
            <a:ext cx="10629899" cy="176212"/>
            <a:chOff x="776288" y="6524625"/>
            <a:chExt cx="10629899" cy="176212"/>
          </a:xfrm>
        </p:grpSpPr>
        <p:sp>
          <p:nvSpPr>
            <p:cNvPr id="4" name="TextBox 4"/>
            <p:cNvSpPr txBox="1"/>
            <p:nvPr/>
          </p:nvSpPr>
          <p:spPr>
            <a:xfrm>
              <a:off x="776288" y="6524625"/>
              <a:ext cx="2382458"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02 zRA 设计 · 论文 II、IV-A、Listing 1 / 2</a:t>
              </a:r>
            </a:p>
          </p:txBody>
        </p:sp>
        <p:sp>
          <p:nvSpPr>
            <p:cNvPr id="5" name="TextBox 5"/>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08 / 20</a:t>
              </a:r>
            </a:p>
          </p:txBody>
        </p:sp>
      </p:grpSp>
      <p:grpSp>
        <p:nvGrpSpPr>
          <p:cNvPr id="12" name="primitive-0"/>
          <p:cNvGrpSpPr/>
          <p:nvPr/>
        </p:nvGrpSpPr>
        <p:grpSpPr>
          <a:xfrm>
            <a:off x="762000" y="1638300"/>
            <a:ext cx="3352800" cy="3533775"/>
            <a:chOff x="762000" y="1638300"/>
            <a:chExt cx="3352800" cy="3533775"/>
          </a:xfrm>
        </p:grpSpPr>
        <p:sp>
          <p:nvSpPr>
            <p:cNvPr id="7" name="Rectangle 7"/>
            <p:cNvSpPr/>
            <p:nvPr/>
          </p:nvSpPr>
          <p:spPr>
            <a:xfrm>
              <a:off x="762000" y="1638300"/>
              <a:ext cx="3352800" cy="3533775"/>
            </a:xfrm>
            <a:prstGeom prst="roundRect">
              <a:avLst>
                <a:gd name="adj" fmla="val 2273"/>
              </a:avLst>
            </a:prstGeom>
            <a:solidFill>
              <a:srgbClr val="EDF3FB"/>
            </a:solidFill>
            <a:ln>
              <a:noFill/>
            </a:ln>
          </p:spPr>
        </p:sp>
        <p:sp>
          <p:nvSpPr>
            <p:cNvPr id="8" name="Freeform 8"/>
            <p:cNvSpPr/>
            <p:nvPr/>
          </p:nvSpPr>
          <p:spPr>
            <a:xfrm>
              <a:off x="762000" y="1638300"/>
              <a:ext cx="47625" cy="3533775"/>
            </a:xfrm>
            <a:custGeom>
              <a:avLst/>
              <a:gdLst/>
              <a:ahLst/>
              <a:cxnLst/>
              <a:rect l="l" t="t" r="r" b="b"/>
              <a:pathLst>
                <a:path w="47625" h="3533775">
                  <a:moveTo>
                    <a:pt x="0" y="0"/>
                  </a:moveTo>
                  <a:lnTo>
                    <a:pt x="47625" y="0"/>
                  </a:lnTo>
                  <a:lnTo>
                    <a:pt x="47625" y="3533775"/>
                  </a:lnTo>
                  <a:lnTo>
                    <a:pt x="0" y="3533775"/>
                  </a:lnTo>
                  <a:close/>
                </a:path>
              </a:pathLst>
            </a:custGeom>
            <a:solidFill>
              <a:srgbClr val="2F4F98"/>
            </a:solidFill>
            <a:ln>
              <a:noFill/>
            </a:ln>
          </p:spPr>
        </p:sp>
        <p:sp>
          <p:nvSpPr>
            <p:cNvPr id="9" name="TextBox 9"/>
            <p:cNvSpPr txBox="1"/>
            <p:nvPr/>
          </p:nvSpPr>
          <p:spPr>
            <a:xfrm>
              <a:off x="962025" y="1762125"/>
              <a:ext cx="1083514" cy="367665"/>
            </a:xfrm>
            <a:prstGeom prst="rect">
              <a:avLst/>
            </a:prstGeom>
            <a:noFill/>
            <a:ln>
              <a:noFill/>
            </a:ln>
          </p:spPr>
          <p:txBody>
            <a:bodyPr wrap="none" lIns="0" tIns="0" rIns="0" bIns="0" anchor="t" anchorCtr="0">
              <a:spAutoFit/>
            </a:bodyPr>
            <a:lstStyle/>
            <a:p>
              <a:pPr algn="l"/>
              <a:r>
                <a:rPr lang="en-US" sz="1880" b="1" dirty="0">
                  <a:solidFill>
                    <a:srgbClr val="2F4F98"/>
                  </a:solidFill>
                  <a:latin typeface="Microsoft YaHei"/>
                  <a:ea typeface="Microsoft YaHei"/>
                  <a:cs typeface="Microsoft YaHei"/>
                </a:rPr>
                <a:t>zkSNARK</a:t>
              </a:r>
            </a:p>
          </p:txBody>
        </p:sp>
        <p:sp>
          <p:nvSpPr>
            <p:cNvPr id="10" name="TextBox 10"/>
            <p:cNvSpPr txBox="1"/>
            <p:nvPr/>
          </p:nvSpPr>
          <p:spPr>
            <a:xfrm>
              <a:off x="962787" y="2130425"/>
              <a:ext cx="2420366" cy="1290352"/>
            </a:xfrm>
            <a:prstGeom prst="rect">
              <a:avLst/>
            </a:prstGeom>
            <a:noFill/>
            <a:ln>
              <a:noFill/>
            </a:ln>
          </p:spPr>
          <p:txBody>
            <a:bodyPr wrap="none" lIns="0" tIns="0" rIns="0" bIns="0" anchor="t" anchorCtr="0">
              <a:spAutoFit/>
            </a:bodyPr>
            <a:lstStyle/>
            <a:p>
              <a:pPr algn="l">
                <a:lnSpc>
                  <a:spcPts val="2501"/>
                </a:lnSpc>
              </a:pPr>
              <a:r>
                <a:rPr lang="zh-CN" sz="1720" dirty="0">
                  <a:solidFill>
                    <a:srgbClr val="172B4D"/>
                  </a:solidFill>
                  <a:latin typeface="Microsoft YaHei"/>
                  <a:ea typeface="Microsoft YaHei"/>
                  <a:cs typeface="Microsoft YaHei"/>
                </a:rPr>
                <a:t>证明者知道一个正确响应</a:t>
              </a:r>
              <a:br>
                <a:rPr lang="zh-CN" sz="1720" dirty="0">
                  <a:solidFill>
                    <a:srgbClr val="172B4D"/>
                  </a:solidFill>
                  <a:latin typeface="Microsoft YaHei"/>
                  <a:ea typeface="Microsoft YaHei"/>
                  <a:cs typeface="Microsoft YaHei"/>
                </a:rPr>
              </a:br>
              <a:r>
                <a:rPr lang="zh-CN" sz="1720" dirty="0">
                  <a:solidFill>
                    <a:srgbClr val="172B4D"/>
                  </a:solidFill>
                  <a:latin typeface="Microsoft YaHei"/>
                  <a:ea typeface="Microsoft YaHei"/>
                  <a:cs typeface="Microsoft YaHei"/>
                </a:rPr>
                <a:t>及其成员路径；验证者只</a:t>
              </a:r>
              <a:br>
                <a:rPr lang="zh-CN" sz="1720" dirty="0">
                  <a:solidFill>
                    <a:srgbClr val="172B4D"/>
                  </a:solidFill>
                  <a:latin typeface="Microsoft YaHei"/>
                  <a:ea typeface="Microsoft YaHei"/>
                  <a:cs typeface="Microsoft YaHei"/>
                </a:rPr>
              </a:br>
              <a:r>
                <a:rPr lang="zh-CN" sz="1720" dirty="0">
                  <a:solidFill>
                    <a:srgbClr val="172B4D"/>
                  </a:solidFill>
                  <a:latin typeface="Microsoft YaHei"/>
                  <a:ea typeface="Microsoft YaHei"/>
                  <a:cs typeface="Microsoft YaHei"/>
                </a:rPr>
                <a:t>检查短证明，无需看到见</a:t>
              </a:r>
              <a:br>
                <a:rPr lang="zh-CN" sz="1720" dirty="0">
                  <a:solidFill>
                    <a:srgbClr val="172B4D"/>
                  </a:solidFill>
                  <a:latin typeface="Microsoft YaHei"/>
                  <a:ea typeface="Microsoft YaHei"/>
                  <a:cs typeface="Microsoft YaHei"/>
                </a:rPr>
              </a:br>
              <a:r>
                <a:rPr lang="zh-CN" sz="1720" dirty="0">
                  <a:solidFill>
                    <a:srgbClr val="172B4D"/>
                  </a:solidFill>
                  <a:latin typeface="Microsoft YaHei"/>
                  <a:ea typeface="Microsoft YaHei"/>
                  <a:cs typeface="Microsoft YaHei"/>
                </a:rPr>
                <a:t>证。</a:t>
              </a:r>
            </a:p>
          </p:txBody>
        </p:sp>
        <p:sp>
          <p:nvSpPr>
            <p:cNvPr id="11" name="TextBox 11"/>
            <p:cNvSpPr txBox="1"/>
            <p:nvPr/>
          </p:nvSpPr>
          <p:spPr>
            <a:xfrm>
              <a:off x="964311" y="4232275"/>
              <a:ext cx="2196574" cy="278702"/>
            </a:xfrm>
            <a:prstGeom prst="rect">
              <a:avLst/>
            </a:prstGeom>
            <a:noFill/>
            <a:ln>
              <a:noFill/>
            </a:ln>
          </p:spPr>
          <p:txBody>
            <a:bodyPr wrap="none" lIns="0" tIns="0" rIns="0" bIns="0" anchor="t" anchorCtr="0">
              <a:spAutoFit/>
            </a:bodyPr>
            <a:lstStyle/>
            <a:p>
              <a:pPr algn="l"/>
              <a:r>
                <a:rPr lang="zh-CN" sz="1420" b="1" dirty="0">
                  <a:solidFill>
                    <a:srgbClr val="159AA8"/>
                  </a:solidFill>
                  <a:latin typeface="Microsoft YaHei"/>
                  <a:ea typeface="Microsoft YaHei"/>
                  <a:cs typeface="Microsoft YaHei"/>
                </a:rPr>
                <a:t>完备性 · 可靠性 · 零知识</a:t>
              </a:r>
            </a:p>
          </p:txBody>
        </p:sp>
      </p:grpSp>
      <p:grpSp>
        <p:nvGrpSpPr>
          <p:cNvPr id="18" name="primitive-1"/>
          <p:cNvGrpSpPr/>
          <p:nvPr/>
        </p:nvGrpSpPr>
        <p:grpSpPr>
          <a:xfrm>
            <a:off x="4400550" y="1638300"/>
            <a:ext cx="3352800" cy="3533775"/>
            <a:chOff x="4400550" y="1638300"/>
            <a:chExt cx="3352800" cy="3533775"/>
          </a:xfrm>
        </p:grpSpPr>
        <p:sp>
          <p:nvSpPr>
            <p:cNvPr id="13" name="Rectangle 13"/>
            <p:cNvSpPr/>
            <p:nvPr/>
          </p:nvSpPr>
          <p:spPr>
            <a:xfrm>
              <a:off x="4400550" y="1638300"/>
              <a:ext cx="3352800" cy="3533775"/>
            </a:xfrm>
            <a:prstGeom prst="roundRect">
              <a:avLst>
                <a:gd name="adj" fmla="val 2273"/>
              </a:avLst>
            </a:prstGeom>
            <a:solidFill>
              <a:srgbClr val="EDF3FB"/>
            </a:solidFill>
            <a:ln>
              <a:noFill/>
            </a:ln>
          </p:spPr>
        </p:sp>
        <p:sp>
          <p:nvSpPr>
            <p:cNvPr id="14" name="Freeform 14"/>
            <p:cNvSpPr/>
            <p:nvPr/>
          </p:nvSpPr>
          <p:spPr>
            <a:xfrm>
              <a:off x="4400550" y="1638300"/>
              <a:ext cx="47625" cy="3533775"/>
            </a:xfrm>
            <a:custGeom>
              <a:avLst/>
              <a:gdLst/>
              <a:ahLst/>
              <a:cxnLst/>
              <a:rect l="l" t="t" r="r" b="b"/>
              <a:pathLst>
                <a:path w="47625" h="3533775">
                  <a:moveTo>
                    <a:pt x="0" y="0"/>
                  </a:moveTo>
                  <a:lnTo>
                    <a:pt x="47625" y="0"/>
                  </a:lnTo>
                  <a:lnTo>
                    <a:pt x="47625" y="3533775"/>
                  </a:lnTo>
                  <a:lnTo>
                    <a:pt x="0" y="3533775"/>
                  </a:lnTo>
                  <a:close/>
                </a:path>
              </a:pathLst>
            </a:custGeom>
            <a:solidFill>
              <a:srgbClr val="2F4F98"/>
            </a:solidFill>
            <a:ln>
              <a:noFill/>
            </a:ln>
          </p:spPr>
        </p:sp>
        <p:sp>
          <p:nvSpPr>
            <p:cNvPr id="15" name="TextBox 15"/>
            <p:cNvSpPr txBox="1"/>
            <p:nvPr/>
          </p:nvSpPr>
          <p:spPr>
            <a:xfrm>
              <a:off x="4600575" y="1762125"/>
              <a:ext cx="1564352" cy="367665"/>
            </a:xfrm>
            <a:prstGeom prst="rect">
              <a:avLst/>
            </a:prstGeom>
            <a:noFill/>
            <a:ln>
              <a:noFill/>
            </a:ln>
          </p:spPr>
          <p:txBody>
            <a:bodyPr wrap="none" lIns="0" tIns="0" rIns="0" bIns="0" anchor="t" anchorCtr="0">
              <a:spAutoFit/>
            </a:bodyPr>
            <a:lstStyle/>
            <a:p>
              <a:pPr algn="l"/>
              <a:r>
                <a:rPr lang="en-US" sz="1880" b="1" dirty="0">
                  <a:solidFill>
                    <a:srgbClr val="2F4F98"/>
                  </a:solidFill>
                  <a:latin typeface="Microsoft YaHei"/>
                  <a:ea typeface="Microsoft YaHei"/>
                  <a:cs typeface="Microsoft YaHei"/>
                </a:rPr>
                <a:t>Merkle Tree</a:t>
              </a:r>
            </a:p>
          </p:txBody>
        </p:sp>
        <p:sp>
          <p:nvSpPr>
            <p:cNvPr id="16" name="TextBox 16"/>
            <p:cNvSpPr txBox="1"/>
            <p:nvPr/>
          </p:nvSpPr>
          <p:spPr>
            <a:xfrm>
              <a:off x="4601337" y="2130425"/>
              <a:ext cx="2606040" cy="972693"/>
            </a:xfrm>
            <a:prstGeom prst="rect">
              <a:avLst/>
            </a:prstGeom>
            <a:noFill/>
            <a:ln>
              <a:noFill/>
            </a:ln>
          </p:spPr>
          <p:txBody>
            <a:bodyPr wrap="none" lIns="0" tIns="0" rIns="0" bIns="0" anchor="t" anchorCtr="0">
              <a:spAutoFit/>
            </a:bodyPr>
            <a:lstStyle/>
            <a:p>
              <a:pPr algn="l">
                <a:lnSpc>
                  <a:spcPts val="2501"/>
                </a:lnSpc>
              </a:pPr>
              <a:r>
                <a:rPr lang="zh-CN" sz="1720" dirty="0">
                  <a:solidFill>
                    <a:srgbClr val="172B4D"/>
                  </a:solidFill>
                  <a:latin typeface="Microsoft YaHei"/>
                  <a:ea typeface="Microsoft YaHei"/>
                  <a:cs typeface="Microsoft YaHei"/>
                </a:rPr>
                <a:t>设备内组织未来挑战的响</a:t>
              </a:r>
              <a:br>
                <a:rPr lang="zh-CN" sz="1720" dirty="0">
                  <a:solidFill>
                    <a:srgbClr val="172B4D"/>
                  </a:solidFill>
                  <a:latin typeface="Microsoft YaHei"/>
                  <a:ea typeface="Microsoft YaHei"/>
                  <a:cs typeface="Microsoft YaHei"/>
                </a:rPr>
              </a:br>
              <a:r>
                <a:rPr lang="zh-CN" sz="1720" dirty="0">
                  <a:solidFill>
                    <a:srgbClr val="172B4D"/>
                  </a:solidFill>
                  <a:latin typeface="Microsoft YaHei"/>
                  <a:ea typeface="Microsoft YaHei"/>
                  <a:cs typeface="Microsoft YaHei"/>
                </a:rPr>
                <a:t>应承诺；再把设备根组成</a:t>
              </a:r>
              <a:br>
                <a:rPr lang="zh-CN" sz="1720" dirty="0">
                  <a:solidFill>
                    <a:srgbClr val="172B4D"/>
                  </a:solidFill>
                  <a:latin typeface="Microsoft YaHei"/>
                  <a:ea typeface="Microsoft YaHei"/>
                  <a:cs typeface="Microsoft YaHei"/>
                </a:rPr>
              </a:br>
              <a:r>
                <a:rPr lang="zh-CN" sz="1720" dirty="0">
                  <a:solidFill>
                    <a:srgbClr val="172B4D"/>
                  </a:solidFill>
                  <a:latin typeface="Microsoft YaHei"/>
                  <a:ea typeface="Microsoft YaHei"/>
                  <a:cs typeface="Microsoft YaHei"/>
                </a:rPr>
                <a:t>全局树，统一到公开根 R。</a:t>
              </a:r>
            </a:p>
          </p:txBody>
        </p:sp>
        <p:sp>
          <p:nvSpPr>
            <p:cNvPr id="17" name="TextBox 17"/>
            <p:cNvSpPr txBox="1"/>
            <p:nvPr/>
          </p:nvSpPr>
          <p:spPr>
            <a:xfrm>
              <a:off x="4602861" y="4232275"/>
              <a:ext cx="2327519" cy="278702"/>
            </a:xfrm>
            <a:prstGeom prst="rect">
              <a:avLst/>
            </a:prstGeom>
            <a:noFill/>
            <a:ln>
              <a:noFill/>
            </a:ln>
          </p:spPr>
          <p:txBody>
            <a:bodyPr wrap="none" lIns="0" tIns="0" rIns="0" bIns="0" anchor="t" anchorCtr="0">
              <a:spAutoFit/>
            </a:bodyPr>
            <a:lstStyle/>
            <a:p>
              <a:pPr algn="l"/>
              <a:r>
                <a:rPr lang="zh-CN" sz="1420" b="1" dirty="0">
                  <a:solidFill>
                    <a:srgbClr val="159AA8"/>
                  </a:solidFill>
                  <a:latin typeface="Microsoft YaHei"/>
                  <a:ea typeface="Microsoft YaHei"/>
                  <a:cs typeface="Microsoft YaHei"/>
                </a:rPr>
                <a:t>路径长度 h · 逐层检查哈希</a:t>
              </a:r>
            </a:p>
          </p:txBody>
        </p:sp>
      </p:grpSp>
      <p:grpSp>
        <p:nvGrpSpPr>
          <p:cNvPr id="24" name="primitive-2"/>
          <p:cNvGrpSpPr/>
          <p:nvPr/>
        </p:nvGrpSpPr>
        <p:grpSpPr>
          <a:xfrm>
            <a:off x="8039100" y="1638300"/>
            <a:ext cx="3352800" cy="3533775"/>
            <a:chOff x="8039100" y="1638300"/>
            <a:chExt cx="3352800" cy="3533775"/>
          </a:xfrm>
        </p:grpSpPr>
        <p:sp>
          <p:nvSpPr>
            <p:cNvPr id="19" name="Rectangle 19"/>
            <p:cNvSpPr/>
            <p:nvPr/>
          </p:nvSpPr>
          <p:spPr>
            <a:xfrm>
              <a:off x="8039100" y="1638300"/>
              <a:ext cx="3352800" cy="3533775"/>
            </a:xfrm>
            <a:prstGeom prst="roundRect">
              <a:avLst>
                <a:gd name="adj" fmla="val 2273"/>
              </a:avLst>
            </a:prstGeom>
            <a:solidFill>
              <a:srgbClr val="EDF3FB"/>
            </a:solidFill>
            <a:ln>
              <a:noFill/>
            </a:ln>
          </p:spPr>
        </p:sp>
        <p:sp>
          <p:nvSpPr>
            <p:cNvPr id="20" name="Freeform 20"/>
            <p:cNvSpPr/>
            <p:nvPr/>
          </p:nvSpPr>
          <p:spPr>
            <a:xfrm>
              <a:off x="8039100" y="1638300"/>
              <a:ext cx="47625" cy="3533775"/>
            </a:xfrm>
            <a:custGeom>
              <a:avLst/>
              <a:gdLst/>
              <a:ahLst/>
              <a:cxnLst/>
              <a:rect l="l" t="t" r="r" b="b"/>
              <a:pathLst>
                <a:path w="47625" h="3533775">
                  <a:moveTo>
                    <a:pt x="0" y="0"/>
                  </a:moveTo>
                  <a:lnTo>
                    <a:pt x="47625" y="0"/>
                  </a:lnTo>
                  <a:lnTo>
                    <a:pt x="47625" y="3533775"/>
                  </a:lnTo>
                  <a:lnTo>
                    <a:pt x="0" y="3533775"/>
                  </a:lnTo>
                  <a:close/>
                </a:path>
              </a:pathLst>
            </a:custGeom>
            <a:solidFill>
              <a:srgbClr val="2F4F98"/>
            </a:solidFill>
            <a:ln>
              <a:noFill/>
            </a:ln>
          </p:spPr>
        </p:sp>
        <p:sp>
          <p:nvSpPr>
            <p:cNvPr id="21" name="TextBox 21"/>
            <p:cNvSpPr txBox="1"/>
            <p:nvPr/>
          </p:nvSpPr>
          <p:spPr>
            <a:xfrm>
              <a:off x="8239125" y="1762125"/>
              <a:ext cx="1716131"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Poseidon 承诺</a:t>
              </a:r>
            </a:p>
          </p:txBody>
        </p:sp>
        <p:sp>
          <p:nvSpPr>
            <p:cNvPr id="22" name="TextBox 22"/>
            <p:cNvSpPr txBox="1"/>
            <p:nvPr/>
          </p:nvSpPr>
          <p:spPr>
            <a:xfrm>
              <a:off x="8239887" y="2130425"/>
              <a:ext cx="2420366" cy="972693"/>
            </a:xfrm>
            <a:prstGeom prst="rect">
              <a:avLst/>
            </a:prstGeom>
            <a:noFill/>
            <a:ln>
              <a:noFill/>
            </a:ln>
          </p:spPr>
          <p:txBody>
            <a:bodyPr wrap="none" lIns="0" tIns="0" rIns="0" bIns="0" anchor="t" anchorCtr="0">
              <a:spAutoFit/>
            </a:bodyPr>
            <a:lstStyle/>
            <a:p>
              <a:pPr algn="l">
                <a:lnSpc>
                  <a:spcPts val="2501"/>
                </a:lnSpc>
              </a:pPr>
              <a:r>
                <a:rPr lang="zh-CN" sz="1720" dirty="0">
                  <a:solidFill>
                    <a:srgbClr val="172B4D"/>
                  </a:solidFill>
                  <a:latin typeface="Microsoft YaHei"/>
                  <a:ea typeface="Microsoft YaHei"/>
                  <a:cs typeface="Microsoft YaHei"/>
                </a:rPr>
                <a:t>把设备身份、挑战与响应</a:t>
              </a:r>
              <a:br>
                <a:rPr lang="zh-CN" sz="1720" dirty="0">
                  <a:solidFill>
                    <a:srgbClr val="172B4D"/>
                  </a:solidFill>
                  <a:latin typeface="Microsoft YaHei"/>
                  <a:ea typeface="Microsoft YaHei"/>
                  <a:cs typeface="Microsoft YaHei"/>
                </a:rPr>
              </a:br>
              <a:r>
                <a:rPr lang="zh-CN" sz="1720" dirty="0">
                  <a:solidFill>
                    <a:srgbClr val="172B4D"/>
                  </a:solidFill>
                  <a:latin typeface="Microsoft YaHei"/>
                  <a:ea typeface="Microsoft YaHei"/>
                  <a:cs typeface="Microsoft YaHei"/>
                </a:rPr>
                <a:t>绑定成叶子；采用适合算</a:t>
              </a:r>
              <a:br>
                <a:rPr lang="zh-CN" sz="1720" dirty="0">
                  <a:solidFill>
                    <a:srgbClr val="172B4D"/>
                  </a:solidFill>
                  <a:latin typeface="Microsoft YaHei"/>
                  <a:ea typeface="Microsoft YaHei"/>
                  <a:cs typeface="Microsoft YaHei"/>
                </a:rPr>
              </a:br>
              <a:r>
                <a:rPr lang="zh-CN" sz="1720" dirty="0">
                  <a:solidFill>
                    <a:srgbClr val="172B4D"/>
                  </a:solidFill>
                  <a:latin typeface="Microsoft YaHei"/>
                  <a:ea typeface="Microsoft YaHei"/>
                  <a:cs typeface="Microsoft YaHei"/>
                </a:rPr>
                <a:t>术电路的哈希函数。</a:t>
              </a:r>
            </a:p>
          </p:txBody>
        </p:sp>
        <p:sp>
          <p:nvSpPr>
            <p:cNvPr id="23" name="TextBox 23"/>
            <p:cNvSpPr txBox="1"/>
            <p:nvPr/>
          </p:nvSpPr>
          <p:spPr>
            <a:xfrm>
              <a:off x="8241411" y="4206875"/>
              <a:ext cx="2396319" cy="541115"/>
            </a:xfrm>
            <a:prstGeom prst="rect">
              <a:avLst/>
            </a:prstGeom>
            <a:noFill/>
            <a:ln>
              <a:noFill/>
            </a:ln>
          </p:spPr>
          <p:txBody>
            <a:bodyPr wrap="none" lIns="0" tIns="0" rIns="0" bIns="0" anchor="t" anchorCtr="0">
              <a:spAutoFit/>
            </a:bodyPr>
            <a:lstStyle/>
            <a:p>
              <a:pPr algn="l">
                <a:lnSpc>
                  <a:spcPts val="2066"/>
                </a:lnSpc>
              </a:pPr>
              <a:r>
                <a:rPr lang="zh-CN" sz="1420" b="1" dirty="0">
                  <a:solidFill>
                    <a:srgbClr val="159AA8"/>
                  </a:solidFill>
                  <a:latin typeface="Microsoft YaHei"/>
                  <a:ea typeface="Microsoft YaHei"/>
                  <a:cs typeface="Microsoft YaHei"/>
                </a:rPr>
                <a:t>叶子绑定身份与挑战 · 隐藏响</a:t>
              </a:r>
              <a:br>
                <a:rPr lang="zh-CN" sz="1420" b="1" dirty="0">
                  <a:solidFill>
                    <a:srgbClr val="159AA8"/>
                  </a:solidFill>
                  <a:latin typeface="Microsoft YaHei"/>
                  <a:ea typeface="Microsoft YaHei"/>
                  <a:cs typeface="Microsoft YaHei"/>
                </a:rPr>
              </a:br>
              <a:r>
                <a:rPr lang="zh-CN" sz="1420" b="1" dirty="0">
                  <a:solidFill>
                    <a:srgbClr val="159AA8"/>
                  </a:solidFill>
                  <a:latin typeface="Microsoft YaHei"/>
                  <a:ea typeface="Microsoft YaHei"/>
                  <a:cs typeface="Microsoft YaHei"/>
                </a:rPr>
                <a:t>应</a:t>
              </a:r>
            </a:p>
          </p:txBody>
        </p:sp>
      </p:grpSp>
      <p:grpSp>
        <p:nvGrpSpPr>
          <p:cNvPr id="27" name="composition"/>
          <p:cNvGrpSpPr/>
          <p:nvPr/>
        </p:nvGrpSpPr>
        <p:grpSpPr>
          <a:xfrm>
            <a:off x="791718" y="5473700"/>
            <a:ext cx="8679845" cy="322707"/>
            <a:chOff x="791718" y="5473700"/>
            <a:chExt cx="8679845" cy="322707"/>
          </a:xfrm>
        </p:grpSpPr>
        <p:sp>
          <p:nvSpPr>
            <p:cNvPr id="26" name="TextBox 26"/>
            <p:cNvSpPr txBox="1"/>
            <p:nvPr/>
          </p:nvSpPr>
          <p:spPr>
            <a:xfrm>
              <a:off x="791718" y="5473700"/>
              <a:ext cx="8679845" cy="322707"/>
            </a:xfrm>
            <a:prstGeom prst="rect">
              <a:avLst/>
            </a:prstGeom>
            <a:noFill/>
            <a:ln>
              <a:noFill/>
            </a:ln>
          </p:spPr>
          <p:txBody>
            <a:bodyPr wrap="none" lIns="0" tIns="0" rIns="0" bIns="0" anchor="t" anchorCtr="0">
              <a:spAutoFit/>
            </a:bodyPr>
            <a:lstStyle/>
            <a:p>
              <a:pPr algn="l"/>
              <a:r>
                <a:rPr lang="zh-CN" sz="1650" dirty="0">
                  <a:solidFill>
                    <a:srgbClr val="172B4D"/>
                  </a:solidFill>
                  <a:latin typeface="Microsoft YaHei"/>
                  <a:ea typeface="Microsoft YaHei"/>
                  <a:cs typeface="Microsoft YaHei"/>
                </a:rPr>
                <a:t>承诺给出“认可答案”的锚点；Merkle 路径定位它；zkSNARK 隐藏见证并证明检查正确。</a:t>
              </a:r>
            </a:p>
          </p:txBody>
        </p:sp>
      </p:grpSp>
      <p:grpSp>
        <p:nvGrpSpPr>
          <p:cNvPr id="30" name="takeaway"/>
          <p:cNvGrpSpPr/>
          <p:nvPr/>
        </p:nvGrpSpPr>
        <p:grpSpPr>
          <a:xfrm>
            <a:off x="723900" y="5924550"/>
            <a:ext cx="10744200" cy="466725"/>
            <a:chOff x="723900" y="5924550"/>
            <a:chExt cx="10744200" cy="466725"/>
          </a:xfrm>
        </p:grpSpPr>
        <p:sp>
          <p:nvSpPr>
            <p:cNvPr id="28" name="Rectangle 28"/>
            <p:cNvSpPr/>
            <p:nvPr/>
          </p:nvSpPr>
          <p:spPr>
            <a:xfrm>
              <a:off x="723900" y="5924550"/>
              <a:ext cx="10744200" cy="466725"/>
            </a:xfrm>
            <a:prstGeom prst="roundRect">
              <a:avLst>
                <a:gd name="adj" fmla="val 12245"/>
              </a:avLst>
            </a:prstGeom>
            <a:solidFill>
              <a:srgbClr val="EDF3FB"/>
            </a:solidFill>
            <a:ln>
              <a:noFill/>
            </a:ln>
          </p:spPr>
        </p:sp>
        <p:sp>
          <p:nvSpPr>
            <p:cNvPr id="29" name="TextBox 29"/>
            <p:cNvSpPr txBox="1"/>
            <p:nvPr/>
          </p:nvSpPr>
          <p:spPr>
            <a:xfrm>
              <a:off x="887349" y="6038850"/>
              <a:ext cx="6133809"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Merkle 树中保存的是响应承诺，不是直接公开的设备内部状态。</a:t>
              </a:r>
            </a:p>
          </p:txBody>
        </p:sp>
      </p:grpSp>
    </p:spTree>
  </p:cSld>
  <p:clrMapOvr>
    <a:masterClrMapping/>
  </p:clrMapOvr>
</p:sld>
</file>

<file path=ppt/slides/slide9.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sp>
        <p:nvSpPr>
          <p:cNvPr id="25" name="矩形 24"/>
          <p:cNvSpPr/>
          <p:nvPr/>
        </p:nvSpPr>
        <p:spPr>
          <a:xfrm>
            <a:off x="685800" y="495300"/>
            <a:ext cx="10810875" cy="495300"/>
          </a:xfrm>
          <a:prstGeom prst="rect">
            <a:avLst/>
          </a:prstGeom>
          <a:noFill/>
          <a:ln>
            <a:noFill/>
          </a:ln>
        </p:spPr>
        <p:txBody>
          <a:bodyPr wrap="none" lIns="91440" tIns="67151" rIns="0" bIns="0" anchor="t" anchorCtr="0">
            <a:noAutofit/>
          </a:bodyPr>
          <a:lstStyle/>
          <a:p>
            <a:pPr algn="l"/>
            <a:r>
              <a:rPr lang="zh-CN" sz="2620" b="1" dirty="0">
                <a:solidFill>
                  <a:srgbClr val="172B4D"/>
                </a:solidFill>
                <a:latin typeface="Microsoft YaHei"/>
                <a:ea typeface="Microsoft YaHei"/>
                <a:cs typeface="Microsoft YaHei"/>
              </a:rPr>
              <a:t>四阶段：离线准备与在线证明分开</a:t>
            </a:r>
          </a:p>
        </p:txBody>
      </p:sp>
      <p:sp>
        <p:nvSpPr>
          <p:cNvPr id="3" name="Line 3"/>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6" name="page-footer"/>
          <p:cNvGrpSpPr/>
          <p:nvPr/>
        </p:nvGrpSpPr>
        <p:grpSpPr>
          <a:xfrm>
            <a:off x="776288" y="6524625"/>
            <a:ext cx="10629899" cy="176212"/>
            <a:chOff x="776288" y="6524625"/>
            <a:chExt cx="10629899" cy="176212"/>
          </a:xfrm>
        </p:grpSpPr>
        <p:sp>
          <p:nvSpPr>
            <p:cNvPr id="4" name="TextBox 4"/>
            <p:cNvSpPr txBox="1"/>
            <p:nvPr/>
          </p:nvSpPr>
          <p:spPr>
            <a:xfrm>
              <a:off x="776288" y="6524625"/>
              <a:ext cx="2338045"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02 zRA 设计 · 论文 IV-A、Fig.2、Alg.1–3</a:t>
              </a:r>
            </a:p>
          </p:txBody>
        </p:sp>
        <p:sp>
          <p:nvSpPr>
            <p:cNvPr id="5" name="TextBox 5"/>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09 / 20</a:t>
              </a:r>
            </a:p>
          </p:txBody>
        </p:sp>
      </p:grpSp>
      <p:grpSp>
        <p:nvGrpSpPr>
          <p:cNvPr id="11" name="phase-0"/>
          <p:cNvGrpSpPr/>
          <p:nvPr/>
        </p:nvGrpSpPr>
        <p:grpSpPr>
          <a:xfrm>
            <a:off x="762000" y="1495425"/>
            <a:ext cx="10639425" cy="866775"/>
            <a:chOff x="762000" y="1495425"/>
            <a:chExt cx="10639425" cy="866775"/>
          </a:xfrm>
        </p:grpSpPr>
        <p:sp>
          <p:nvSpPr>
            <p:cNvPr id="7" name="Rectangle 7"/>
            <p:cNvSpPr/>
            <p:nvPr/>
          </p:nvSpPr>
          <p:spPr>
            <a:xfrm>
              <a:off x="762000" y="1495425"/>
              <a:ext cx="2905125" cy="866775"/>
            </a:xfrm>
            <a:prstGeom prst="roundRect">
              <a:avLst>
                <a:gd name="adj" fmla="val 6593"/>
              </a:avLst>
            </a:prstGeom>
            <a:solidFill>
              <a:srgbClr val="EDF3FB"/>
            </a:solidFill>
            <a:ln>
              <a:noFill/>
            </a:ln>
          </p:spPr>
        </p:sp>
        <p:sp>
          <p:nvSpPr>
            <p:cNvPr id="8" name="TextBox 8"/>
            <p:cNvSpPr txBox="1"/>
            <p:nvPr/>
          </p:nvSpPr>
          <p:spPr>
            <a:xfrm>
              <a:off x="943356" y="1784350"/>
              <a:ext cx="944612" cy="352044"/>
            </a:xfrm>
            <a:prstGeom prst="rect">
              <a:avLst/>
            </a:prstGeom>
            <a:noFill/>
            <a:ln>
              <a:noFill/>
            </a:ln>
          </p:spPr>
          <p:txBody>
            <a:bodyPr wrap="none" lIns="0" tIns="0" rIns="0" bIns="0" anchor="t" anchorCtr="0">
              <a:spAutoFit/>
            </a:bodyPr>
            <a:lstStyle/>
            <a:p>
              <a:pPr algn="l"/>
              <a:r>
                <a:rPr lang="en-US" sz="1800" b="1" dirty="0">
                  <a:solidFill>
                    <a:srgbClr val="2F4F98"/>
                  </a:solidFill>
                  <a:latin typeface="Microsoft YaHei"/>
                  <a:ea typeface="Microsoft YaHei"/>
                  <a:cs typeface="Microsoft YaHei"/>
                </a:rPr>
                <a:t>1 Setup</a:t>
              </a:r>
            </a:p>
          </p:txBody>
        </p:sp>
        <p:sp>
          <p:nvSpPr>
            <p:cNvPr id="9" name="TextBox 9"/>
            <p:cNvSpPr txBox="1"/>
            <p:nvPr/>
          </p:nvSpPr>
          <p:spPr>
            <a:xfrm>
              <a:off x="3906393" y="1571625"/>
              <a:ext cx="6512814"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制造商：预生成挑战序列与每设备正确响应，构建两层树；公开根、树</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与证明参数。</a:t>
              </a:r>
            </a:p>
          </p:txBody>
        </p:sp>
        <p:sp>
          <p:nvSpPr>
            <p:cNvPr id="10" name="Line 10"/>
            <p:cNvSpPr/>
            <p:nvPr/>
          </p:nvSpPr>
          <p:spPr>
            <a:xfrm>
              <a:off x="3867150" y="2333625"/>
              <a:ext cx="7534275" cy="9525"/>
            </a:xfrm>
            <a:custGeom>
              <a:avLst/>
              <a:gdLst/>
              <a:ahLst/>
              <a:cxnLst/>
              <a:rect l="l" t="t" r="r" b="b"/>
              <a:pathLst>
                <a:path w="7534275" h="9525">
                  <a:moveTo>
                    <a:pt x="0" y="0"/>
                  </a:moveTo>
                  <a:lnTo>
                    <a:pt x="7534275" y="0"/>
                  </a:lnTo>
                </a:path>
              </a:pathLst>
            </a:custGeom>
            <a:noFill/>
            <a:ln w="14288">
              <a:solidFill>
                <a:srgbClr val="D6E1EF"/>
              </a:solidFill>
            </a:ln>
          </p:spPr>
        </p:sp>
      </p:grpSp>
      <p:grpSp>
        <p:nvGrpSpPr>
          <p:cNvPr id="16" name="phase-1"/>
          <p:cNvGrpSpPr/>
          <p:nvPr/>
        </p:nvGrpSpPr>
        <p:grpSpPr>
          <a:xfrm>
            <a:off x="762000" y="2495550"/>
            <a:ext cx="10639425" cy="866775"/>
            <a:chOff x="762000" y="2495550"/>
            <a:chExt cx="10639425" cy="866775"/>
          </a:xfrm>
        </p:grpSpPr>
        <p:sp>
          <p:nvSpPr>
            <p:cNvPr id="12" name="Rectangle 12"/>
            <p:cNvSpPr/>
            <p:nvPr/>
          </p:nvSpPr>
          <p:spPr>
            <a:xfrm>
              <a:off x="762000" y="2495550"/>
              <a:ext cx="2905125" cy="866775"/>
            </a:xfrm>
            <a:prstGeom prst="roundRect">
              <a:avLst>
                <a:gd name="adj" fmla="val 6593"/>
              </a:avLst>
            </a:prstGeom>
            <a:solidFill>
              <a:srgbClr val="EDF3FB"/>
            </a:solidFill>
            <a:ln>
              <a:noFill/>
            </a:ln>
          </p:spPr>
        </p:sp>
        <p:sp>
          <p:nvSpPr>
            <p:cNvPr id="13" name="TextBox 13"/>
            <p:cNvSpPr txBox="1"/>
            <p:nvPr/>
          </p:nvSpPr>
          <p:spPr>
            <a:xfrm>
              <a:off x="943356" y="2784475"/>
              <a:ext cx="2299821" cy="352044"/>
            </a:xfrm>
            <a:prstGeom prst="rect">
              <a:avLst/>
            </a:prstGeom>
            <a:noFill/>
            <a:ln>
              <a:noFill/>
            </a:ln>
          </p:spPr>
          <p:txBody>
            <a:bodyPr wrap="none" lIns="0" tIns="0" rIns="0" bIns="0" anchor="t" anchorCtr="0">
              <a:spAutoFit/>
            </a:bodyPr>
            <a:lstStyle/>
            <a:p>
              <a:pPr algn="l"/>
              <a:r>
                <a:rPr lang="en-US" sz="1800" b="1" dirty="0">
                  <a:solidFill>
                    <a:srgbClr val="2F4F98"/>
                  </a:solidFill>
                  <a:latin typeface="Microsoft YaHei"/>
                  <a:ea typeface="Microsoft YaHei"/>
                  <a:cs typeface="Microsoft YaHei"/>
                </a:rPr>
                <a:t>2 Update Challenge</a:t>
              </a:r>
            </a:p>
          </p:txBody>
        </p:sp>
        <p:sp>
          <p:nvSpPr>
            <p:cNvPr id="14" name="TextBox 14"/>
            <p:cNvSpPr txBox="1"/>
            <p:nvPr/>
          </p:nvSpPr>
          <p:spPr>
            <a:xfrm>
              <a:off x="3906393" y="2571750"/>
              <a:ext cx="6449949"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制造商：按周期仅公布一个新挑战 c_i；所有设备共用，未发布的未来</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挑战仍保密。</a:t>
              </a:r>
            </a:p>
          </p:txBody>
        </p:sp>
        <p:sp>
          <p:nvSpPr>
            <p:cNvPr id="15" name="Line 15"/>
            <p:cNvSpPr/>
            <p:nvPr/>
          </p:nvSpPr>
          <p:spPr>
            <a:xfrm>
              <a:off x="3867150" y="3333750"/>
              <a:ext cx="7534275" cy="9525"/>
            </a:xfrm>
            <a:custGeom>
              <a:avLst/>
              <a:gdLst/>
              <a:ahLst/>
              <a:cxnLst/>
              <a:rect l="l" t="t" r="r" b="b"/>
              <a:pathLst>
                <a:path w="7534275" h="9525">
                  <a:moveTo>
                    <a:pt x="0" y="0"/>
                  </a:moveTo>
                  <a:lnTo>
                    <a:pt x="7534275" y="0"/>
                  </a:lnTo>
                </a:path>
              </a:pathLst>
            </a:custGeom>
            <a:noFill/>
            <a:ln w="14288">
              <a:solidFill>
                <a:srgbClr val="D6E1EF"/>
              </a:solidFill>
            </a:ln>
          </p:spPr>
        </p:sp>
      </p:grpSp>
      <p:grpSp>
        <p:nvGrpSpPr>
          <p:cNvPr id="21" name="phase-2"/>
          <p:cNvGrpSpPr/>
          <p:nvPr/>
        </p:nvGrpSpPr>
        <p:grpSpPr>
          <a:xfrm>
            <a:off x="762000" y="3495675"/>
            <a:ext cx="10639425" cy="866775"/>
            <a:chOff x="762000" y="3495675"/>
            <a:chExt cx="10639425" cy="866775"/>
          </a:xfrm>
        </p:grpSpPr>
        <p:sp>
          <p:nvSpPr>
            <p:cNvPr id="17" name="Rectangle 17"/>
            <p:cNvSpPr/>
            <p:nvPr/>
          </p:nvSpPr>
          <p:spPr>
            <a:xfrm>
              <a:off x="762000" y="3495675"/>
              <a:ext cx="2905125" cy="866775"/>
            </a:xfrm>
            <a:prstGeom prst="roundRect">
              <a:avLst>
                <a:gd name="adj" fmla="val 6593"/>
              </a:avLst>
            </a:prstGeom>
            <a:solidFill>
              <a:srgbClr val="EDF3FB"/>
            </a:solidFill>
            <a:ln>
              <a:noFill/>
            </a:ln>
          </p:spPr>
        </p:sp>
        <p:sp>
          <p:nvSpPr>
            <p:cNvPr id="18" name="TextBox 18"/>
            <p:cNvSpPr txBox="1"/>
            <p:nvPr/>
          </p:nvSpPr>
          <p:spPr>
            <a:xfrm>
              <a:off x="943356" y="3784600"/>
              <a:ext cx="1718966" cy="352044"/>
            </a:xfrm>
            <a:prstGeom prst="rect">
              <a:avLst/>
            </a:prstGeom>
            <a:noFill/>
            <a:ln>
              <a:noFill/>
            </a:ln>
          </p:spPr>
          <p:txBody>
            <a:bodyPr wrap="none" lIns="0" tIns="0" rIns="0" bIns="0" anchor="t" anchorCtr="0">
              <a:spAutoFit/>
            </a:bodyPr>
            <a:lstStyle/>
            <a:p>
              <a:pPr algn="l"/>
              <a:r>
                <a:rPr lang="en-US" sz="1800" b="1" dirty="0">
                  <a:solidFill>
                    <a:srgbClr val="2F4F98"/>
                  </a:solidFill>
                  <a:latin typeface="Microsoft YaHei"/>
                  <a:ea typeface="Microsoft YaHei"/>
                  <a:cs typeface="Microsoft YaHei"/>
                </a:rPr>
                <a:t>3 Attestation</a:t>
              </a:r>
            </a:p>
          </p:txBody>
        </p:sp>
        <p:sp>
          <p:nvSpPr>
            <p:cNvPr id="19" name="TextBox 19"/>
            <p:cNvSpPr txBox="1"/>
            <p:nvPr/>
          </p:nvSpPr>
          <p:spPr>
            <a:xfrm>
              <a:off x="3906393" y="3571875"/>
              <a:ext cx="6837616"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设备：读取最新挑战，可信计算 r_i；生成 π，签名并提交 (π, R, c_i, pk</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_k)。</a:t>
              </a:r>
            </a:p>
          </p:txBody>
        </p:sp>
        <p:sp>
          <p:nvSpPr>
            <p:cNvPr id="20" name="Line 20"/>
            <p:cNvSpPr/>
            <p:nvPr/>
          </p:nvSpPr>
          <p:spPr>
            <a:xfrm>
              <a:off x="3867150" y="4333875"/>
              <a:ext cx="7534275" cy="9525"/>
            </a:xfrm>
            <a:custGeom>
              <a:avLst/>
              <a:gdLst/>
              <a:ahLst/>
              <a:cxnLst/>
              <a:rect l="l" t="t" r="r" b="b"/>
              <a:pathLst>
                <a:path w="7534275" h="9525">
                  <a:moveTo>
                    <a:pt x="0" y="0"/>
                  </a:moveTo>
                  <a:lnTo>
                    <a:pt x="7534275" y="0"/>
                  </a:lnTo>
                </a:path>
              </a:pathLst>
            </a:custGeom>
            <a:noFill/>
            <a:ln w="14288">
              <a:solidFill>
                <a:srgbClr val="D6E1EF"/>
              </a:solidFill>
            </a:ln>
          </p:spPr>
        </p:sp>
      </p:grpSp>
      <p:grpSp>
        <p:nvGrpSpPr>
          <p:cNvPr id="27" name="phase-3"/>
          <p:cNvGrpSpPr/>
          <p:nvPr/>
        </p:nvGrpSpPr>
        <p:grpSpPr>
          <a:xfrm>
            <a:off x="762000" y="4495800"/>
            <a:ext cx="10639425" cy="866775"/>
            <a:chOff x="762000" y="4495800"/>
            <a:chExt cx="10639425" cy="866775"/>
          </a:xfrm>
        </p:grpSpPr>
        <p:sp>
          <p:nvSpPr>
            <p:cNvPr id="22" name="Rectangle 22"/>
            <p:cNvSpPr/>
            <p:nvPr/>
          </p:nvSpPr>
          <p:spPr>
            <a:xfrm>
              <a:off x="762000" y="4495800"/>
              <a:ext cx="2905125" cy="866775"/>
            </a:xfrm>
            <a:prstGeom prst="roundRect">
              <a:avLst>
                <a:gd name="adj" fmla="val 6593"/>
              </a:avLst>
            </a:prstGeom>
            <a:solidFill>
              <a:srgbClr val="EDF3FB"/>
            </a:solidFill>
            <a:ln>
              <a:noFill/>
            </a:ln>
          </p:spPr>
        </p:sp>
        <p:sp>
          <p:nvSpPr>
            <p:cNvPr id="23" name="TextBox 23"/>
            <p:cNvSpPr txBox="1"/>
            <p:nvPr/>
          </p:nvSpPr>
          <p:spPr>
            <a:xfrm>
              <a:off x="943356" y="4784725"/>
              <a:ext cx="1731022" cy="352044"/>
            </a:xfrm>
            <a:prstGeom prst="rect">
              <a:avLst/>
            </a:prstGeom>
            <a:noFill/>
            <a:ln>
              <a:noFill/>
            </a:ln>
          </p:spPr>
          <p:txBody>
            <a:bodyPr wrap="none" lIns="0" tIns="0" rIns="0" bIns="0" anchor="t" anchorCtr="0">
              <a:spAutoFit/>
            </a:bodyPr>
            <a:lstStyle/>
            <a:p>
              <a:pPr algn="l"/>
              <a:r>
                <a:rPr lang="en-US" sz="1800" b="1" dirty="0">
                  <a:solidFill>
                    <a:srgbClr val="2F4F98"/>
                  </a:solidFill>
                  <a:latin typeface="Microsoft YaHei"/>
                  <a:ea typeface="Microsoft YaHei"/>
                  <a:cs typeface="Microsoft YaHei"/>
                </a:rPr>
                <a:t>4 Verification</a:t>
              </a:r>
            </a:p>
          </p:txBody>
        </p:sp>
        <p:sp>
          <p:nvSpPr>
            <p:cNvPr id="24" name="TextBox 24"/>
            <p:cNvSpPr txBox="1"/>
            <p:nvPr/>
          </p:nvSpPr>
          <p:spPr>
            <a:xfrm>
              <a:off x="3906393" y="4572000"/>
              <a:ext cx="6544246"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公众 / 合约：检查证明、提交身份、认可根以及最新挑战；任一失败则</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拒绝。</a:t>
              </a:r>
            </a:p>
          </p:txBody>
        </p:sp>
        <p:sp>
          <p:nvSpPr>
            <p:cNvPr id="26" name="Line 26"/>
            <p:cNvSpPr/>
            <p:nvPr/>
          </p:nvSpPr>
          <p:spPr>
            <a:xfrm>
              <a:off x="3867150" y="5334000"/>
              <a:ext cx="7534275" cy="9525"/>
            </a:xfrm>
            <a:custGeom>
              <a:avLst/>
              <a:gdLst/>
              <a:ahLst/>
              <a:cxnLst/>
              <a:rect l="l" t="t" r="r" b="b"/>
              <a:pathLst>
                <a:path w="7534275" h="9525">
                  <a:moveTo>
                    <a:pt x="0" y="0"/>
                  </a:moveTo>
                  <a:lnTo>
                    <a:pt x="7534275" y="0"/>
                  </a:lnTo>
                </a:path>
              </a:pathLst>
            </a:custGeom>
            <a:noFill/>
            <a:ln w="14288">
              <a:solidFill>
                <a:srgbClr val="D6E1EF"/>
              </a:solidFill>
            </a:ln>
          </p:spPr>
        </p:sp>
      </p:grpSp>
      <p:grpSp>
        <p:nvGrpSpPr>
          <p:cNvPr id="30" name="takeaway"/>
          <p:cNvGrpSpPr/>
          <p:nvPr/>
        </p:nvGrpSpPr>
        <p:grpSpPr>
          <a:xfrm>
            <a:off x="723900" y="5924550"/>
            <a:ext cx="10744200" cy="466725"/>
            <a:chOff x="723900" y="5924550"/>
            <a:chExt cx="10744200" cy="466725"/>
          </a:xfrm>
        </p:grpSpPr>
        <p:sp>
          <p:nvSpPr>
            <p:cNvPr id="28" name="Rectangle 28"/>
            <p:cNvSpPr/>
            <p:nvPr/>
          </p:nvSpPr>
          <p:spPr>
            <a:xfrm>
              <a:off x="723900" y="5924550"/>
              <a:ext cx="10744200" cy="466725"/>
            </a:xfrm>
            <a:prstGeom prst="roundRect">
              <a:avLst>
                <a:gd name="adj" fmla="val 12245"/>
              </a:avLst>
            </a:prstGeom>
            <a:solidFill>
              <a:srgbClr val="EDF3FB"/>
            </a:solidFill>
            <a:ln>
              <a:noFill/>
            </a:ln>
          </p:spPr>
        </p:sp>
        <p:sp>
          <p:nvSpPr>
            <p:cNvPr id="29" name="TextBox 29"/>
            <p:cNvSpPr txBox="1"/>
            <p:nvPr/>
          </p:nvSpPr>
          <p:spPr>
            <a:xfrm>
              <a:off x="887349" y="6038850"/>
              <a:ext cx="7673188"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同一个挑战在周期内服务所有设备；验证者无需计算或保存每台设备的预期响应。</a:t>
              </a:r>
            </a:p>
          </p:txBody>
        </p:sp>
      </p:grpSp>
    </p:spTree>
  </p:cSld>
  <p:clrMapOvr>
    <a:masterClrMapping/>
  </p:clrMapOvr>
</p:sld>
</file>

<file path=ppt/slides/slide10.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sp>
        <p:nvSpPr>
          <p:cNvPr id="25" name="矩形 24"/>
          <p:cNvSpPr/>
          <p:nvPr/>
        </p:nvSpPr>
        <p:spPr>
          <a:xfrm>
            <a:off x="685800" y="495300"/>
            <a:ext cx="10810875" cy="495300"/>
          </a:xfrm>
          <a:prstGeom prst="rect">
            <a:avLst/>
          </a:prstGeom>
          <a:noFill/>
          <a:ln>
            <a:noFill/>
          </a:ln>
        </p:spPr>
        <p:txBody>
          <a:bodyPr wrap="none" lIns="91440" tIns="67151" rIns="0" bIns="0" anchor="t" anchorCtr="0">
            <a:noAutofit/>
          </a:bodyPr>
          <a:lstStyle/>
          <a:p>
            <a:pPr algn="l"/>
            <a:r>
              <a:rPr lang="zh-CN" sz="2620" b="1" dirty="0">
                <a:solidFill>
                  <a:srgbClr val="172B4D"/>
                </a:solidFill>
                <a:latin typeface="Microsoft YaHei"/>
                <a:ea typeface="Microsoft YaHei"/>
                <a:cs typeface="Microsoft YaHei"/>
              </a:rPr>
              <a:t>Setup：响应承诺与两层 Merkle 树</a:t>
            </a:r>
          </a:p>
        </p:txBody>
      </p:sp>
      <p:sp>
        <p:nvSpPr>
          <p:cNvPr id="3" name="Line 3"/>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6" name="page-footer"/>
          <p:cNvGrpSpPr/>
          <p:nvPr/>
        </p:nvGrpSpPr>
        <p:grpSpPr>
          <a:xfrm>
            <a:off x="776288" y="6524625"/>
            <a:ext cx="10629899" cy="176212"/>
            <a:chOff x="776288" y="6524625"/>
            <a:chExt cx="10629899" cy="176212"/>
          </a:xfrm>
        </p:grpSpPr>
        <p:sp>
          <p:nvSpPr>
            <p:cNvPr id="4" name="TextBox 4"/>
            <p:cNvSpPr txBox="1"/>
            <p:nvPr/>
          </p:nvSpPr>
          <p:spPr>
            <a:xfrm>
              <a:off x="776288" y="6524625"/>
              <a:ext cx="2272665"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02 zRA 设计 · 论文 IV-A1、Fig.3、Alg.1</a:t>
              </a:r>
            </a:p>
          </p:txBody>
        </p:sp>
        <p:sp>
          <p:nvSpPr>
            <p:cNvPr id="5" name="TextBox 5"/>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10 / 20</a:t>
              </a:r>
            </a:p>
          </p:txBody>
        </p:sp>
      </p:grpSp>
      <p:grpSp>
        <p:nvGrpSpPr>
          <p:cNvPr id="11" name="leaf-formula"/>
          <p:cNvGrpSpPr/>
          <p:nvPr/>
        </p:nvGrpSpPr>
        <p:grpSpPr>
          <a:xfrm>
            <a:off x="762000" y="1495425"/>
            <a:ext cx="10668000" cy="990600"/>
            <a:chOff x="762000" y="1495425"/>
            <a:chExt cx="10668000" cy="990600"/>
          </a:xfrm>
        </p:grpSpPr>
        <p:sp>
          <p:nvSpPr>
            <p:cNvPr id="7" name="Rectangle 7"/>
            <p:cNvSpPr/>
            <p:nvPr/>
          </p:nvSpPr>
          <p:spPr>
            <a:xfrm>
              <a:off x="762000" y="1495425"/>
              <a:ext cx="10668000" cy="990600"/>
            </a:xfrm>
            <a:prstGeom prst="roundRect">
              <a:avLst>
                <a:gd name="adj" fmla="val 7692"/>
              </a:avLst>
            </a:prstGeom>
            <a:solidFill>
              <a:srgbClr val="EDF3FB"/>
            </a:solidFill>
            <a:ln>
              <a:noFill/>
            </a:ln>
          </p:spPr>
        </p:sp>
        <p:sp>
          <p:nvSpPr>
            <p:cNvPr id="8" name="TextBox 8"/>
            <p:cNvSpPr txBox="1"/>
            <p:nvPr/>
          </p:nvSpPr>
          <p:spPr>
            <a:xfrm>
              <a:off x="981837" y="1631950"/>
              <a:ext cx="2796083" cy="337376"/>
            </a:xfrm>
            <a:prstGeom prst="rect">
              <a:avLst/>
            </a:prstGeom>
            <a:noFill/>
            <a:ln>
              <a:noFill/>
            </a:ln>
          </p:spPr>
          <p:txBody>
            <a:bodyPr wrap="none" lIns="0" tIns="0" rIns="0" bIns="0" anchor="t" anchorCtr="0">
              <a:spAutoFit/>
            </a:bodyPr>
            <a:lstStyle/>
            <a:p>
              <a:pPr algn="l"/>
              <a:r>
                <a:rPr lang="zh-CN" sz="1720" b="1" dirty="0">
                  <a:solidFill>
                    <a:srgbClr val="2F4F98"/>
                  </a:solidFill>
                  <a:latin typeface="Microsoft YaHei"/>
                  <a:ea typeface="Microsoft YaHei"/>
                  <a:cs typeface="Microsoft YaHei"/>
                </a:rPr>
                <a:t>叶子（沿用论文协议记号）</a:t>
              </a:r>
            </a:p>
          </p:txBody>
        </p:sp>
        <p:sp>
          <p:nvSpPr>
            <p:cNvPr id="9" name="TextBox 9"/>
            <p:cNvSpPr txBox="1"/>
            <p:nvPr/>
          </p:nvSpPr>
          <p:spPr>
            <a:xfrm>
              <a:off x="979932" y="1993900"/>
              <a:ext cx="5488851" cy="410718"/>
            </a:xfrm>
            <a:prstGeom prst="rect">
              <a:avLst/>
            </a:prstGeom>
            <a:noFill/>
            <a:ln>
              <a:noFill/>
            </a:ln>
          </p:spPr>
          <p:txBody>
            <a:bodyPr wrap="none" lIns="0" tIns="0" rIns="0" bIns="0" anchor="t" anchorCtr="0">
              <a:spAutoFit/>
            </a:bodyPr>
            <a:lstStyle/>
            <a:p>
              <a:pPr algn="l"/>
              <a:r>
                <a:rPr lang="en-US" sz="2100" b="1" dirty="0">
                  <a:solidFill>
                    <a:srgbClr val="172B4D"/>
                  </a:solidFill>
                  <a:latin typeface="Microsoft YaHei"/>
                  <a:ea typeface="Microsoft YaHei"/>
                  <a:cs typeface="Microsoft YaHei"/>
                </a:rPr>
                <a:t>l_{k,i} = H_pos^3(pk_k, r_{k,i}, c_i)</a:t>
              </a:r>
            </a:p>
          </p:txBody>
        </p:sp>
        <p:sp>
          <p:nvSpPr>
            <p:cNvPr id="10" name="TextBox 10"/>
            <p:cNvSpPr txBox="1"/>
            <p:nvPr/>
          </p:nvSpPr>
          <p:spPr>
            <a:xfrm>
              <a:off x="6792087" y="2032000"/>
              <a:ext cx="3319378" cy="337376"/>
            </a:xfrm>
            <a:prstGeom prst="rect">
              <a:avLst/>
            </a:prstGeom>
            <a:noFill/>
            <a:ln>
              <a:noFill/>
            </a:ln>
          </p:spPr>
          <p:txBody>
            <a:bodyPr wrap="none" lIns="0" tIns="0" rIns="0" bIns="0" anchor="t" anchorCtr="0">
              <a:spAutoFit/>
            </a:bodyPr>
            <a:lstStyle/>
            <a:p>
              <a:pPr algn="l"/>
              <a:r>
                <a:rPr lang="zh-CN" sz="1720" b="1" dirty="0">
                  <a:solidFill>
                    <a:srgbClr val="159AA8"/>
                  </a:solidFill>
                  <a:latin typeface="Microsoft YaHei"/>
                  <a:ea typeface="Microsoft YaHei"/>
                  <a:cs typeface="Microsoft YaHei"/>
                </a:rPr>
                <a:t>绑定：设备身份 ＋ 响应 ＋ 挑战</a:t>
              </a:r>
            </a:p>
          </p:txBody>
        </p:sp>
      </p:grpSp>
      <p:grpSp>
        <p:nvGrpSpPr>
          <p:cNvPr id="37" name="merkle-diagram"/>
          <p:cNvGrpSpPr/>
          <p:nvPr/>
        </p:nvGrpSpPr>
        <p:grpSpPr>
          <a:xfrm>
            <a:off x="1609725" y="2800350"/>
            <a:ext cx="5343525" cy="2497900"/>
            <a:chOff x="1609725" y="2800350"/>
            <a:chExt cx="5343525" cy="2497900"/>
          </a:xfrm>
        </p:grpSpPr>
        <p:sp>
          <p:nvSpPr>
            <p:cNvPr id="12" name="Rectangle 12"/>
            <p:cNvSpPr/>
            <p:nvPr/>
          </p:nvSpPr>
          <p:spPr>
            <a:xfrm>
              <a:off x="2914650" y="2800350"/>
              <a:ext cx="2476500" cy="457200"/>
            </a:xfrm>
            <a:prstGeom prst="roundRect">
              <a:avLst>
                <a:gd name="adj" fmla="val 10417"/>
              </a:avLst>
            </a:prstGeom>
            <a:solidFill>
              <a:srgbClr val="2F4F98"/>
            </a:solidFill>
            <a:ln>
              <a:noFill/>
            </a:ln>
          </p:spPr>
        </p:sp>
        <p:sp>
          <p:nvSpPr>
            <p:cNvPr id="13" name="TextBox 13"/>
            <p:cNvSpPr txBox="1"/>
            <p:nvPr/>
          </p:nvSpPr>
          <p:spPr>
            <a:xfrm>
              <a:off x="3666028" y="2898775"/>
              <a:ext cx="973745"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icrosoft YaHei"/>
                  <a:ea typeface="Microsoft YaHei"/>
                  <a:cs typeface="Microsoft YaHei"/>
                </a:rPr>
                <a:t>全局根 R</a:t>
              </a:r>
            </a:p>
          </p:txBody>
        </p:sp>
        <p:sp>
          <p:nvSpPr>
            <p:cNvPr id="14" name="Line 14"/>
            <p:cNvSpPr/>
            <p:nvPr/>
          </p:nvSpPr>
          <p:spPr>
            <a:xfrm>
              <a:off x="2486025" y="3324225"/>
              <a:ext cx="1666875" cy="400050"/>
            </a:xfrm>
            <a:custGeom>
              <a:avLst/>
              <a:gdLst/>
              <a:ahLst/>
              <a:cxnLst/>
              <a:rect l="l" t="t" r="r" b="b"/>
              <a:pathLst>
                <a:path w="1666875" h="400050">
                  <a:moveTo>
                    <a:pt x="1666875" y="0"/>
                  </a:moveTo>
                  <a:lnTo>
                    <a:pt x="0" y="400050"/>
                  </a:lnTo>
                </a:path>
              </a:pathLst>
            </a:custGeom>
            <a:noFill/>
            <a:ln w="19050">
              <a:solidFill>
                <a:srgbClr val="159AA8"/>
              </a:solidFill>
            </a:ln>
          </p:spPr>
        </p:sp>
        <p:sp>
          <p:nvSpPr>
            <p:cNvPr id="15" name="Rectangle 15"/>
            <p:cNvSpPr/>
            <p:nvPr/>
          </p:nvSpPr>
          <p:spPr>
            <a:xfrm>
              <a:off x="1724025" y="3781425"/>
              <a:ext cx="1524000" cy="476250"/>
            </a:xfrm>
            <a:prstGeom prst="roundRect">
              <a:avLst>
                <a:gd name="adj" fmla="val 10000"/>
              </a:avLst>
            </a:prstGeom>
            <a:solidFill>
              <a:srgbClr val="EDF3FB"/>
            </a:solidFill>
            <a:ln w="9525">
              <a:solidFill>
                <a:srgbClr val="2F4F98"/>
              </a:solidFill>
            </a:ln>
          </p:spPr>
        </p:sp>
        <p:sp>
          <p:nvSpPr>
            <p:cNvPr id="16" name="TextBox 16"/>
            <p:cNvSpPr txBox="1"/>
            <p:nvPr/>
          </p:nvSpPr>
          <p:spPr>
            <a:xfrm>
              <a:off x="1904188" y="3892550"/>
              <a:ext cx="1163673" cy="322707"/>
            </a:xfrm>
            <a:prstGeom prst="rect">
              <a:avLst/>
            </a:prstGeom>
            <a:noFill/>
            <a:ln>
              <a:noFill/>
            </a:ln>
          </p:spPr>
          <p:txBody>
            <a:bodyPr wrap="none" lIns="0" tIns="0" rIns="0" bIns="0" anchor="t" anchorCtr="0">
              <a:spAutoFit/>
            </a:bodyPr>
            <a:lstStyle/>
            <a:p>
              <a:pPr algn="ctr"/>
              <a:r>
                <a:rPr lang="zh-CN" sz="1650" b="1" dirty="0">
                  <a:solidFill>
                    <a:srgbClr val="2F4F98"/>
                  </a:solidFill>
                  <a:latin typeface="Microsoft YaHei"/>
                  <a:ea typeface="Microsoft YaHei"/>
                  <a:cs typeface="Microsoft YaHei"/>
                </a:rPr>
                <a:t>设备根 R_1</a:t>
              </a:r>
            </a:p>
          </p:txBody>
        </p:sp>
        <p:sp>
          <p:nvSpPr>
            <p:cNvPr id="17" name="Line 17"/>
            <p:cNvSpPr/>
            <p:nvPr/>
          </p:nvSpPr>
          <p:spPr>
            <a:xfrm>
              <a:off x="2009775" y="4295775"/>
              <a:ext cx="476250" cy="466725"/>
            </a:xfrm>
            <a:custGeom>
              <a:avLst/>
              <a:gdLst/>
              <a:ahLst/>
              <a:cxnLst/>
              <a:rect l="l" t="t" r="r" b="b"/>
              <a:pathLst>
                <a:path w="476250" h="466725">
                  <a:moveTo>
                    <a:pt x="476250" y="0"/>
                  </a:moveTo>
                  <a:lnTo>
                    <a:pt x="0" y="466725"/>
                  </a:lnTo>
                </a:path>
              </a:pathLst>
            </a:custGeom>
            <a:noFill/>
            <a:ln w="19050">
              <a:solidFill>
                <a:srgbClr val="159AA8"/>
              </a:solidFill>
            </a:ln>
          </p:spPr>
        </p:sp>
        <p:sp>
          <p:nvSpPr>
            <p:cNvPr id="18" name="Rectangle 18"/>
            <p:cNvSpPr/>
            <p:nvPr/>
          </p:nvSpPr>
          <p:spPr>
            <a:xfrm>
              <a:off x="1609725" y="4810125"/>
              <a:ext cx="838200" cy="428625"/>
            </a:xfrm>
            <a:prstGeom prst="roundRect">
              <a:avLst>
                <a:gd name="adj" fmla="val 8889"/>
              </a:avLst>
            </a:prstGeom>
            <a:solidFill>
              <a:srgbClr val="EDF3FB"/>
            </a:solidFill>
            <a:ln w="9525">
              <a:solidFill>
                <a:srgbClr val="D6E1EF"/>
              </a:solidFill>
            </a:ln>
          </p:spPr>
        </p:sp>
        <p:sp>
          <p:nvSpPr>
            <p:cNvPr id="19" name="TextBox 19"/>
            <p:cNvSpPr txBox="1"/>
            <p:nvPr/>
          </p:nvSpPr>
          <p:spPr>
            <a:xfrm>
              <a:off x="1681705" y="4892675"/>
              <a:ext cx="694239" cy="322707"/>
            </a:xfrm>
            <a:prstGeom prst="rect">
              <a:avLst/>
            </a:prstGeom>
            <a:noFill/>
            <a:ln>
              <a:noFill/>
            </a:ln>
          </p:spPr>
          <p:txBody>
            <a:bodyPr wrap="none" lIns="0" tIns="0" rIns="0" bIns="0" anchor="t" anchorCtr="0">
              <a:spAutoFit/>
            </a:bodyPr>
            <a:lstStyle/>
            <a:p>
              <a:pPr algn="ctr"/>
              <a:r>
                <a:rPr lang="en-US" sz="1650" dirty="0">
                  <a:solidFill>
                    <a:srgbClr val="172B4D"/>
                  </a:solidFill>
                  <a:latin typeface="Microsoft YaHei"/>
                  <a:ea typeface="Microsoft YaHei"/>
                  <a:cs typeface="Microsoft YaHei"/>
                </a:rPr>
                <a:t>l_k,_1</a:t>
              </a:r>
            </a:p>
          </p:txBody>
        </p:sp>
        <p:sp>
          <p:nvSpPr>
            <p:cNvPr id="20" name="Line 20"/>
            <p:cNvSpPr/>
            <p:nvPr/>
          </p:nvSpPr>
          <p:spPr>
            <a:xfrm>
              <a:off x="2486025" y="4295775"/>
              <a:ext cx="581025" cy="466725"/>
            </a:xfrm>
            <a:custGeom>
              <a:avLst/>
              <a:gdLst/>
              <a:ahLst/>
              <a:cxnLst/>
              <a:rect l="l" t="t" r="r" b="b"/>
              <a:pathLst>
                <a:path w="581025" h="466725">
                  <a:moveTo>
                    <a:pt x="0" y="0"/>
                  </a:moveTo>
                  <a:lnTo>
                    <a:pt x="581025" y="466725"/>
                  </a:lnTo>
                </a:path>
              </a:pathLst>
            </a:custGeom>
            <a:noFill/>
            <a:ln w="19050">
              <a:solidFill>
                <a:srgbClr val="159AA8"/>
              </a:solidFill>
            </a:ln>
          </p:spPr>
        </p:sp>
        <p:sp>
          <p:nvSpPr>
            <p:cNvPr id="21" name="Rectangle 21"/>
            <p:cNvSpPr/>
            <p:nvPr/>
          </p:nvSpPr>
          <p:spPr>
            <a:xfrm>
              <a:off x="2667000" y="4810125"/>
              <a:ext cx="838200" cy="428625"/>
            </a:xfrm>
            <a:prstGeom prst="roundRect">
              <a:avLst>
                <a:gd name="adj" fmla="val 8889"/>
              </a:avLst>
            </a:prstGeom>
            <a:solidFill>
              <a:srgbClr val="EDF3FB"/>
            </a:solidFill>
            <a:ln w="9525">
              <a:solidFill>
                <a:srgbClr val="D6E1EF"/>
              </a:solidFill>
            </a:ln>
          </p:spPr>
        </p:sp>
        <p:sp>
          <p:nvSpPr>
            <p:cNvPr id="22" name="TextBox 22"/>
            <p:cNvSpPr txBox="1"/>
            <p:nvPr/>
          </p:nvSpPr>
          <p:spPr>
            <a:xfrm>
              <a:off x="2716768" y="4892675"/>
              <a:ext cx="738664" cy="322707"/>
            </a:xfrm>
            <a:prstGeom prst="rect">
              <a:avLst/>
            </a:prstGeom>
            <a:noFill/>
            <a:ln>
              <a:noFill/>
            </a:ln>
          </p:spPr>
          <p:txBody>
            <a:bodyPr wrap="none" lIns="0" tIns="0" rIns="0" bIns="0" anchor="t" anchorCtr="0">
              <a:spAutoFit/>
            </a:bodyPr>
            <a:lstStyle/>
            <a:p>
              <a:pPr algn="ctr"/>
              <a:r>
                <a:rPr lang="en-US" sz="1650" dirty="0">
                  <a:solidFill>
                    <a:srgbClr val="172B4D"/>
                  </a:solidFill>
                  <a:latin typeface="Microsoft YaHei"/>
                  <a:ea typeface="Microsoft YaHei"/>
                  <a:cs typeface="Microsoft YaHei"/>
                </a:rPr>
                <a:t>l_k,_m</a:t>
              </a:r>
            </a:p>
          </p:txBody>
        </p:sp>
        <p:sp>
          <p:nvSpPr>
            <p:cNvPr id="23" name="Line 23"/>
            <p:cNvSpPr/>
            <p:nvPr/>
          </p:nvSpPr>
          <p:spPr>
            <a:xfrm>
              <a:off x="4152900" y="3324225"/>
              <a:ext cx="1781175" cy="400050"/>
            </a:xfrm>
            <a:custGeom>
              <a:avLst/>
              <a:gdLst/>
              <a:ahLst/>
              <a:cxnLst/>
              <a:rect l="l" t="t" r="r" b="b"/>
              <a:pathLst>
                <a:path w="1781175" h="400050">
                  <a:moveTo>
                    <a:pt x="0" y="0"/>
                  </a:moveTo>
                  <a:lnTo>
                    <a:pt x="1781175" y="400050"/>
                  </a:lnTo>
                </a:path>
              </a:pathLst>
            </a:custGeom>
            <a:noFill/>
            <a:ln w="19050">
              <a:solidFill>
                <a:srgbClr val="159AA8"/>
              </a:solidFill>
            </a:ln>
          </p:spPr>
        </p:sp>
        <p:sp>
          <p:nvSpPr>
            <p:cNvPr id="24" name="Rectangle 24"/>
            <p:cNvSpPr/>
            <p:nvPr/>
          </p:nvSpPr>
          <p:spPr>
            <a:xfrm>
              <a:off x="5172075" y="3781425"/>
              <a:ext cx="1524000" cy="476250"/>
            </a:xfrm>
            <a:prstGeom prst="roundRect">
              <a:avLst>
                <a:gd name="adj" fmla="val 10000"/>
              </a:avLst>
            </a:prstGeom>
            <a:solidFill>
              <a:srgbClr val="EDF3FB"/>
            </a:solidFill>
            <a:ln w="9525">
              <a:solidFill>
                <a:srgbClr val="2F4F98"/>
              </a:solidFill>
            </a:ln>
          </p:spPr>
        </p:sp>
        <p:sp>
          <p:nvSpPr>
            <p:cNvPr id="26" name="TextBox 26"/>
            <p:cNvSpPr txBox="1"/>
            <p:nvPr/>
          </p:nvSpPr>
          <p:spPr>
            <a:xfrm>
              <a:off x="5358674" y="3892550"/>
              <a:ext cx="1150801" cy="322707"/>
            </a:xfrm>
            <a:prstGeom prst="rect">
              <a:avLst/>
            </a:prstGeom>
            <a:noFill/>
            <a:ln>
              <a:noFill/>
            </a:ln>
          </p:spPr>
          <p:txBody>
            <a:bodyPr wrap="none" lIns="0" tIns="0" rIns="0" bIns="0" anchor="t" anchorCtr="0">
              <a:spAutoFit/>
            </a:bodyPr>
            <a:lstStyle/>
            <a:p>
              <a:pPr algn="ctr"/>
              <a:r>
                <a:rPr lang="zh-CN" sz="1650" b="1" dirty="0">
                  <a:solidFill>
                    <a:srgbClr val="2F4F98"/>
                  </a:solidFill>
                  <a:latin typeface="Microsoft YaHei"/>
                  <a:ea typeface="Microsoft YaHei"/>
                  <a:cs typeface="Microsoft YaHei"/>
                </a:rPr>
                <a:t>设备根 R_n</a:t>
              </a:r>
            </a:p>
          </p:txBody>
        </p:sp>
        <p:sp>
          <p:nvSpPr>
            <p:cNvPr id="27" name="Line 27"/>
            <p:cNvSpPr/>
            <p:nvPr/>
          </p:nvSpPr>
          <p:spPr>
            <a:xfrm>
              <a:off x="5457825" y="4295775"/>
              <a:ext cx="476250" cy="466725"/>
            </a:xfrm>
            <a:custGeom>
              <a:avLst/>
              <a:gdLst/>
              <a:ahLst/>
              <a:cxnLst/>
              <a:rect l="l" t="t" r="r" b="b"/>
              <a:pathLst>
                <a:path w="476250" h="466725">
                  <a:moveTo>
                    <a:pt x="476250" y="0"/>
                  </a:moveTo>
                  <a:lnTo>
                    <a:pt x="0" y="466725"/>
                  </a:lnTo>
                </a:path>
              </a:pathLst>
            </a:custGeom>
            <a:noFill/>
            <a:ln w="19050">
              <a:solidFill>
                <a:srgbClr val="159AA8"/>
              </a:solidFill>
            </a:ln>
          </p:spPr>
        </p:sp>
        <p:sp>
          <p:nvSpPr>
            <p:cNvPr id="28" name="Rectangle 28"/>
            <p:cNvSpPr/>
            <p:nvPr/>
          </p:nvSpPr>
          <p:spPr>
            <a:xfrm>
              <a:off x="5057775" y="4810125"/>
              <a:ext cx="838200" cy="428625"/>
            </a:xfrm>
            <a:prstGeom prst="roundRect">
              <a:avLst>
                <a:gd name="adj" fmla="val 8889"/>
              </a:avLst>
            </a:prstGeom>
            <a:solidFill>
              <a:srgbClr val="EDF3FB"/>
            </a:solidFill>
            <a:ln w="9525">
              <a:solidFill>
                <a:srgbClr val="D6E1EF"/>
              </a:solidFill>
            </a:ln>
          </p:spPr>
        </p:sp>
        <p:sp>
          <p:nvSpPr>
            <p:cNvPr id="29" name="TextBox 29"/>
            <p:cNvSpPr txBox="1"/>
            <p:nvPr/>
          </p:nvSpPr>
          <p:spPr>
            <a:xfrm>
              <a:off x="5129755" y="4892675"/>
              <a:ext cx="694239" cy="322707"/>
            </a:xfrm>
            <a:prstGeom prst="rect">
              <a:avLst/>
            </a:prstGeom>
            <a:noFill/>
            <a:ln>
              <a:noFill/>
            </a:ln>
          </p:spPr>
          <p:txBody>
            <a:bodyPr wrap="none" lIns="0" tIns="0" rIns="0" bIns="0" anchor="t" anchorCtr="0">
              <a:spAutoFit/>
            </a:bodyPr>
            <a:lstStyle/>
            <a:p>
              <a:pPr algn="ctr"/>
              <a:r>
                <a:rPr lang="en-US" sz="1650" dirty="0">
                  <a:solidFill>
                    <a:srgbClr val="172B4D"/>
                  </a:solidFill>
                  <a:latin typeface="Microsoft YaHei"/>
                  <a:ea typeface="Microsoft YaHei"/>
                  <a:cs typeface="Microsoft YaHei"/>
                </a:rPr>
                <a:t>l_k,_1</a:t>
              </a:r>
            </a:p>
          </p:txBody>
        </p:sp>
        <p:sp>
          <p:nvSpPr>
            <p:cNvPr id="30" name="Line 30"/>
            <p:cNvSpPr/>
            <p:nvPr/>
          </p:nvSpPr>
          <p:spPr>
            <a:xfrm>
              <a:off x="5934075" y="4295775"/>
              <a:ext cx="581025" cy="466725"/>
            </a:xfrm>
            <a:custGeom>
              <a:avLst/>
              <a:gdLst/>
              <a:ahLst/>
              <a:cxnLst/>
              <a:rect l="l" t="t" r="r" b="b"/>
              <a:pathLst>
                <a:path w="581025" h="466725">
                  <a:moveTo>
                    <a:pt x="0" y="0"/>
                  </a:moveTo>
                  <a:lnTo>
                    <a:pt x="581025" y="466725"/>
                  </a:lnTo>
                </a:path>
              </a:pathLst>
            </a:custGeom>
            <a:noFill/>
            <a:ln w="19050">
              <a:solidFill>
                <a:srgbClr val="159AA8"/>
              </a:solidFill>
            </a:ln>
          </p:spPr>
        </p:sp>
        <p:sp>
          <p:nvSpPr>
            <p:cNvPr id="31" name="Rectangle 31"/>
            <p:cNvSpPr/>
            <p:nvPr/>
          </p:nvSpPr>
          <p:spPr>
            <a:xfrm>
              <a:off x="6115050" y="4810125"/>
              <a:ext cx="838200" cy="428625"/>
            </a:xfrm>
            <a:prstGeom prst="roundRect">
              <a:avLst>
                <a:gd name="adj" fmla="val 8889"/>
              </a:avLst>
            </a:prstGeom>
            <a:solidFill>
              <a:srgbClr val="EDF3FB"/>
            </a:solidFill>
            <a:ln w="9525">
              <a:solidFill>
                <a:srgbClr val="D6E1EF"/>
              </a:solidFill>
            </a:ln>
          </p:spPr>
        </p:sp>
        <p:sp>
          <p:nvSpPr>
            <p:cNvPr id="32" name="TextBox 32"/>
            <p:cNvSpPr txBox="1"/>
            <p:nvPr/>
          </p:nvSpPr>
          <p:spPr>
            <a:xfrm>
              <a:off x="6164818" y="4892675"/>
              <a:ext cx="738664" cy="322707"/>
            </a:xfrm>
            <a:prstGeom prst="rect">
              <a:avLst/>
            </a:prstGeom>
            <a:noFill/>
            <a:ln>
              <a:noFill/>
            </a:ln>
          </p:spPr>
          <p:txBody>
            <a:bodyPr wrap="none" lIns="0" tIns="0" rIns="0" bIns="0" anchor="t" anchorCtr="0">
              <a:spAutoFit/>
            </a:bodyPr>
            <a:lstStyle/>
            <a:p>
              <a:pPr algn="ctr"/>
              <a:r>
                <a:rPr lang="en-US" sz="1650" dirty="0">
                  <a:solidFill>
                    <a:srgbClr val="172B4D"/>
                  </a:solidFill>
                  <a:latin typeface="Microsoft YaHei"/>
                  <a:ea typeface="Microsoft YaHei"/>
                  <a:cs typeface="Microsoft YaHei"/>
                </a:rPr>
                <a:t>l_k,_m</a:t>
              </a:r>
            </a:p>
          </p:txBody>
        </p:sp>
        <p:sp>
          <p:nvSpPr>
            <p:cNvPr id="35" name="TextBox 35"/>
            <p:cNvSpPr txBox="1"/>
            <p:nvPr/>
          </p:nvSpPr>
          <p:spPr>
            <a:xfrm>
              <a:off x="4058307" y="3873500"/>
              <a:ext cx="170137" cy="396050"/>
            </a:xfrm>
            <a:prstGeom prst="rect">
              <a:avLst/>
            </a:prstGeom>
            <a:noFill/>
            <a:ln>
              <a:noFill/>
            </a:ln>
          </p:spPr>
          <p:txBody>
            <a:bodyPr wrap="none" lIns="0" tIns="0" rIns="0" bIns="0" anchor="t" anchorCtr="0">
              <a:spAutoFit/>
            </a:bodyPr>
            <a:lstStyle/>
            <a:p>
              <a:pPr algn="ctr"/>
              <a:r>
                <a:rPr lang="zh-CN" sz="2020" dirty="0">
                  <a:solidFill>
                    <a:srgbClr val="52657E"/>
                  </a:solidFill>
                  <a:latin typeface="Microsoft YaHei"/>
                  <a:ea typeface="Microsoft YaHei"/>
                  <a:cs typeface="Microsoft YaHei"/>
                </a:rPr>
                <a:t>…</a:t>
              </a:r>
            </a:p>
          </p:txBody>
        </p:sp>
        <p:sp>
          <p:nvSpPr>
            <p:cNvPr id="36" name="TextBox 36"/>
            <p:cNvSpPr txBox="1"/>
            <p:nvPr/>
          </p:nvSpPr>
          <p:spPr>
            <a:xfrm>
              <a:off x="4058307" y="4902200"/>
              <a:ext cx="170137" cy="396050"/>
            </a:xfrm>
            <a:prstGeom prst="rect">
              <a:avLst/>
            </a:prstGeom>
            <a:noFill/>
            <a:ln>
              <a:noFill/>
            </a:ln>
          </p:spPr>
          <p:txBody>
            <a:bodyPr wrap="none" lIns="0" tIns="0" rIns="0" bIns="0" anchor="t" anchorCtr="0">
              <a:spAutoFit/>
            </a:bodyPr>
            <a:lstStyle/>
            <a:p>
              <a:pPr algn="ctr"/>
              <a:r>
                <a:rPr lang="zh-CN" sz="2020" dirty="0">
                  <a:solidFill>
                    <a:srgbClr val="52657E"/>
                  </a:solidFill>
                  <a:latin typeface="Microsoft YaHei"/>
                  <a:ea typeface="Microsoft YaHei"/>
                  <a:cs typeface="Microsoft YaHei"/>
                </a:rPr>
                <a:t>…</a:t>
              </a:r>
            </a:p>
          </p:txBody>
        </p:sp>
      </p:grpSp>
      <p:grpSp>
        <p:nvGrpSpPr>
          <p:cNvPr id="42" name="height-scale"/>
          <p:cNvGrpSpPr/>
          <p:nvPr/>
        </p:nvGrpSpPr>
        <p:grpSpPr>
          <a:xfrm>
            <a:off x="7639050" y="2724150"/>
            <a:ext cx="3790950" cy="2790825"/>
            <a:chOff x="7639050" y="2724150"/>
            <a:chExt cx="3790950" cy="2790825"/>
          </a:xfrm>
        </p:grpSpPr>
        <p:sp>
          <p:nvSpPr>
            <p:cNvPr id="38" name="Rectangle 38"/>
            <p:cNvSpPr/>
            <p:nvPr/>
          </p:nvSpPr>
          <p:spPr>
            <a:xfrm>
              <a:off x="7639050" y="2724150"/>
              <a:ext cx="3790950" cy="2790825"/>
            </a:xfrm>
            <a:prstGeom prst="roundRect">
              <a:avLst>
                <a:gd name="adj" fmla="val 2730"/>
              </a:avLst>
            </a:prstGeom>
            <a:solidFill>
              <a:srgbClr val="EDF3FB"/>
            </a:solidFill>
            <a:ln>
              <a:noFill/>
            </a:ln>
          </p:spPr>
        </p:sp>
        <p:sp>
          <p:nvSpPr>
            <p:cNvPr id="39" name="Freeform 39"/>
            <p:cNvSpPr/>
            <p:nvPr/>
          </p:nvSpPr>
          <p:spPr>
            <a:xfrm>
              <a:off x="7639050" y="2724150"/>
              <a:ext cx="47625" cy="2790825"/>
            </a:xfrm>
            <a:custGeom>
              <a:avLst/>
              <a:gdLst/>
              <a:ahLst/>
              <a:cxnLst/>
              <a:rect l="l" t="t" r="r" b="b"/>
              <a:pathLst>
                <a:path w="47625" h="2790825">
                  <a:moveTo>
                    <a:pt x="0" y="0"/>
                  </a:moveTo>
                  <a:lnTo>
                    <a:pt x="47625" y="0"/>
                  </a:lnTo>
                  <a:lnTo>
                    <a:pt x="47625" y="2790825"/>
                  </a:lnTo>
                  <a:lnTo>
                    <a:pt x="0" y="2790825"/>
                  </a:lnTo>
                  <a:close/>
                </a:path>
              </a:pathLst>
            </a:custGeom>
            <a:solidFill>
              <a:srgbClr val="2F4F98"/>
            </a:solidFill>
            <a:ln>
              <a:noFill/>
            </a:ln>
          </p:spPr>
        </p:sp>
        <p:sp>
          <p:nvSpPr>
            <p:cNvPr id="40" name="TextBox 40"/>
            <p:cNvSpPr txBox="1"/>
            <p:nvPr/>
          </p:nvSpPr>
          <p:spPr>
            <a:xfrm>
              <a:off x="7839075" y="2847975"/>
              <a:ext cx="1284478"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规模与高度</a:t>
              </a:r>
            </a:p>
          </p:txBody>
        </p:sp>
        <p:sp>
          <p:nvSpPr>
            <p:cNvPr id="41" name="TextBox 41"/>
            <p:cNvSpPr txBox="1"/>
            <p:nvPr/>
          </p:nvSpPr>
          <p:spPr>
            <a:xfrm>
              <a:off x="7840599" y="3241675"/>
              <a:ext cx="2885440" cy="1469136"/>
            </a:xfrm>
            <a:prstGeom prst="rect">
              <a:avLst/>
            </a:prstGeom>
            <a:noFill/>
            <a:ln>
              <a:noFill/>
            </a:ln>
          </p:spPr>
          <p:txBody>
            <a:bodyPr wrap="none" lIns="0" tIns="0" rIns="0" bIns="0" anchor="t" anchorCtr="0">
              <a:spAutoFit/>
            </a:bodyPr>
            <a:lstStyle/>
            <a:p>
              <a:pPr algn="l">
                <a:lnSpc>
                  <a:spcPts val="2284"/>
                </a:lnSpc>
              </a:pPr>
              <a:r>
                <a:rPr lang="zh-CN" sz="1580" dirty="0">
                  <a:solidFill>
                    <a:srgbClr val="172B4D"/>
                  </a:solidFill>
                  <a:latin typeface="Microsoft YaHei"/>
                  <a:ea typeface="Microsoft YaHei"/>
                  <a:cs typeface="Microsoft YaHei"/>
                </a:rPr>
                <a:t>n：设备数量；m：每设备证明次</a:t>
              </a:r>
              <a:br>
                <a:rPr lang="zh-CN" sz="1580" dirty="0">
                  <a:solidFill>
                    <a:srgbClr val="172B4D"/>
                  </a:solidFill>
                  <a:latin typeface="Microsoft YaHei"/>
                  <a:ea typeface="Microsoft YaHei"/>
                  <a:cs typeface="Microsoft YaHei"/>
                </a:rPr>
              </a:br>
              <a:r>
                <a:rPr lang="zh-CN" sz="1580" dirty="0">
                  <a:solidFill>
                    <a:srgbClr val="172B4D"/>
                  </a:solidFill>
                  <a:latin typeface="Microsoft YaHei"/>
                  <a:ea typeface="Microsoft YaHei"/>
                  <a:cs typeface="Microsoft YaHei"/>
                </a:rPr>
                <a:t>数。</a:t>
              </a:r>
              <a:br>
                <a:rPr lang="zh-CN" sz="1580" dirty="0">
                  <a:solidFill>
                    <a:srgbClr val="172B4D"/>
                  </a:solidFill>
                  <a:latin typeface="Microsoft YaHei"/>
                  <a:ea typeface="Microsoft YaHei"/>
                  <a:cs typeface="Microsoft YaHei"/>
                </a:rPr>
              </a:br>
              <a:r>
                <a:rPr lang="en-US" sz="1580" dirty="0">
                  <a:solidFill>
                    <a:srgbClr val="172B4D"/>
                  </a:solidFill>
                  <a:latin typeface="Microsoft YaHei"/>
                  <a:ea typeface="Microsoft YaHei"/>
                  <a:cs typeface="Microsoft YaHei"/>
                </a:rPr>
                <a:t>h = ceil(log2 m) + ceil(log2 n)</a:t>
              </a:r>
              <a:br>
                <a:rPr lang="en-US" sz="1580" dirty="0">
                  <a:solidFill>
                    <a:srgbClr val="172B4D"/>
                  </a:solidFill>
                  <a:latin typeface="Microsoft YaHei"/>
                  <a:ea typeface="Microsoft YaHei"/>
                  <a:cs typeface="Microsoft YaHei"/>
                </a:rPr>
              </a:br>
              <a:r>
                <a:rPr lang="zh-CN" sz="1580" dirty="0">
                  <a:solidFill>
                    <a:srgbClr val="172B4D"/>
                  </a:solidFill>
                  <a:latin typeface="Microsoft YaHei"/>
                  <a:ea typeface="Microsoft YaHei"/>
                  <a:cs typeface="Microsoft YaHei"/>
                </a:rPr>
                <a:t>路径沿两层树到达同一全局根。</a:t>
              </a:r>
              <a:br>
                <a:rPr lang="zh-CN" sz="1580" dirty="0">
                  <a:solidFill>
                    <a:srgbClr val="172B4D"/>
                  </a:solidFill>
                  <a:latin typeface="Microsoft YaHei"/>
                  <a:ea typeface="Microsoft YaHei"/>
                  <a:cs typeface="Microsoft YaHei"/>
                </a:rPr>
              </a:br>
              <a:r>
                <a:rPr lang="zh-CN" sz="1580" dirty="0">
                  <a:solidFill>
                    <a:srgbClr val="172B4D"/>
                  </a:solidFill>
                  <a:latin typeface="Microsoft YaHei"/>
                  <a:ea typeface="Microsoft YaHei"/>
                  <a:cs typeface="Microsoft YaHei"/>
                </a:rPr>
                <a:t>h = 40 可容纳约 10^6 × 10^6。</a:t>
              </a:r>
            </a:p>
          </p:txBody>
        </p:sp>
      </p:grpSp>
      <p:grpSp>
        <p:nvGrpSpPr>
          <p:cNvPr id="45" name="takeaway"/>
          <p:cNvGrpSpPr/>
          <p:nvPr/>
        </p:nvGrpSpPr>
        <p:grpSpPr>
          <a:xfrm>
            <a:off x="723900" y="5924550"/>
            <a:ext cx="10744200" cy="466725"/>
            <a:chOff x="723900" y="5924550"/>
            <a:chExt cx="10744200" cy="466725"/>
          </a:xfrm>
        </p:grpSpPr>
        <p:sp>
          <p:nvSpPr>
            <p:cNvPr id="43" name="Rectangle 43"/>
            <p:cNvSpPr/>
            <p:nvPr/>
          </p:nvSpPr>
          <p:spPr>
            <a:xfrm>
              <a:off x="723900" y="5924550"/>
              <a:ext cx="10744200" cy="466725"/>
            </a:xfrm>
            <a:prstGeom prst="roundRect">
              <a:avLst>
                <a:gd name="adj" fmla="val 12245"/>
              </a:avLst>
            </a:prstGeom>
            <a:solidFill>
              <a:srgbClr val="EDF3FB"/>
            </a:solidFill>
            <a:ln>
              <a:noFill/>
            </a:ln>
          </p:spPr>
        </p:sp>
        <p:sp>
          <p:nvSpPr>
            <p:cNvPr id="44" name="TextBox 44"/>
            <p:cNvSpPr txBox="1"/>
            <p:nvPr/>
          </p:nvSpPr>
          <p:spPr>
            <a:xfrm>
              <a:off x="887349" y="6038850"/>
              <a:ext cx="7341643"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整棵承诺树可公开；未来挑战序列保密，Setup 的预计算规模随 n × m 增长。</a:t>
              </a:r>
            </a:p>
          </p:txBody>
        </p:sp>
      </p:grpSp>
    </p:spTree>
  </p:cSld>
  <p:clrMapOvr>
    <a:masterClrMapping/>
  </p:clrMapOvr>
</p:sld>
</file>

<file path=ppt/slides/slide11.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sp>
        <p:nvSpPr>
          <p:cNvPr id="26" name="矩形 25"/>
          <p:cNvSpPr/>
          <p:nvPr/>
        </p:nvSpPr>
        <p:spPr>
          <a:xfrm>
            <a:off x="685800" y="495300"/>
            <a:ext cx="10810875" cy="495300"/>
          </a:xfrm>
          <a:prstGeom prst="rect">
            <a:avLst/>
          </a:prstGeom>
          <a:noFill/>
          <a:ln>
            <a:noFill/>
          </a:ln>
        </p:spPr>
        <p:txBody>
          <a:bodyPr wrap="none" lIns="91440" tIns="67151" rIns="0" bIns="0" anchor="t" anchorCtr="0">
            <a:noAutofit/>
          </a:bodyPr>
          <a:lstStyle/>
          <a:p>
            <a:pPr algn="l"/>
            <a:r>
              <a:rPr lang="zh-CN" sz="2620" b="1" dirty="0">
                <a:solidFill>
                  <a:srgbClr val="172B4D"/>
                </a:solidFill>
                <a:latin typeface="Microsoft YaHei"/>
                <a:ea typeface="Microsoft YaHei"/>
                <a:cs typeface="Microsoft YaHei"/>
              </a:rPr>
              <a:t>Attestation：公开输入、见证与约束</a:t>
            </a:r>
          </a:p>
        </p:txBody>
      </p:sp>
      <p:sp>
        <p:nvSpPr>
          <p:cNvPr id="3" name="Line 3"/>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6" name="page-footer"/>
          <p:cNvGrpSpPr/>
          <p:nvPr/>
        </p:nvGrpSpPr>
        <p:grpSpPr>
          <a:xfrm>
            <a:off x="776288" y="6524625"/>
            <a:ext cx="10629899" cy="176212"/>
            <a:chOff x="776288" y="6524625"/>
            <a:chExt cx="10629899" cy="176212"/>
          </a:xfrm>
        </p:grpSpPr>
        <p:sp>
          <p:nvSpPr>
            <p:cNvPr id="4" name="TextBox 4"/>
            <p:cNvSpPr txBox="1"/>
            <p:nvPr/>
          </p:nvSpPr>
          <p:spPr>
            <a:xfrm>
              <a:off x="776288" y="6524625"/>
              <a:ext cx="2647291"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02 zRA 设计 · 论文式(1)、Alg.2、Listing 1 / 2</a:t>
              </a:r>
            </a:p>
          </p:txBody>
        </p:sp>
        <p:sp>
          <p:nvSpPr>
            <p:cNvPr id="5" name="TextBox 5"/>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11 / 20</a:t>
              </a:r>
            </a:p>
          </p:txBody>
        </p:sp>
      </p:grpSp>
      <p:grpSp>
        <p:nvGrpSpPr>
          <p:cNvPr id="11" name="public-inputs"/>
          <p:cNvGrpSpPr/>
          <p:nvPr/>
        </p:nvGrpSpPr>
        <p:grpSpPr>
          <a:xfrm>
            <a:off x="762000" y="1495425"/>
            <a:ext cx="5143500" cy="1638300"/>
            <a:chOff x="762000" y="1495425"/>
            <a:chExt cx="5143500" cy="1638300"/>
          </a:xfrm>
        </p:grpSpPr>
        <p:sp>
          <p:nvSpPr>
            <p:cNvPr id="7" name="Rectangle 7"/>
            <p:cNvSpPr/>
            <p:nvPr/>
          </p:nvSpPr>
          <p:spPr>
            <a:xfrm>
              <a:off x="762000" y="1495425"/>
              <a:ext cx="5143500" cy="1638300"/>
            </a:xfrm>
            <a:prstGeom prst="roundRect">
              <a:avLst>
                <a:gd name="adj" fmla="val 4651"/>
              </a:avLst>
            </a:prstGeom>
            <a:solidFill>
              <a:srgbClr val="EDF3FB"/>
            </a:solidFill>
            <a:ln>
              <a:noFill/>
            </a:ln>
          </p:spPr>
        </p:sp>
        <p:sp>
          <p:nvSpPr>
            <p:cNvPr id="8" name="Freeform 8"/>
            <p:cNvSpPr/>
            <p:nvPr/>
          </p:nvSpPr>
          <p:spPr>
            <a:xfrm>
              <a:off x="762000" y="1495425"/>
              <a:ext cx="47625" cy="1638300"/>
            </a:xfrm>
            <a:custGeom>
              <a:avLst/>
              <a:gdLst/>
              <a:ahLst/>
              <a:cxnLst/>
              <a:rect l="l" t="t" r="r" b="b"/>
              <a:pathLst>
                <a:path w="47625" h="1638300">
                  <a:moveTo>
                    <a:pt x="0" y="0"/>
                  </a:moveTo>
                  <a:lnTo>
                    <a:pt x="47625" y="0"/>
                  </a:lnTo>
                  <a:lnTo>
                    <a:pt x="47625" y="1638300"/>
                  </a:lnTo>
                  <a:lnTo>
                    <a:pt x="0" y="1638300"/>
                  </a:lnTo>
                  <a:close/>
                </a:path>
              </a:pathLst>
            </a:custGeom>
            <a:solidFill>
              <a:srgbClr val="2F4F98"/>
            </a:solidFill>
            <a:ln>
              <a:noFill/>
            </a:ln>
          </p:spPr>
        </p:sp>
        <p:sp>
          <p:nvSpPr>
            <p:cNvPr id="9" name="TextBox 9"/>
            <p:cNvSpPr txBox="1"/>
            <p:nvPr/>
          </p:nvSpPr>
          <p:spPr>
            <a:xfrm>
              <a:off x="962025" y="1619250"/>
              <a:ext cx="1257271"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公开输入 x</a:t>
              </a:r>
            </a:p>
          </p:txBody>
        </p:sp>
        <p:sp>
          <p:nvSpPr>
            <p:cNvPr id="10" name="TextBox 10"/>
            <p:cNvSpPr txBox="1"/>
            <p:nvPr/>
          </p:nvSpPr>
          <p:spPr>
            <a:xfrm>
              <a:off x="962406" y="1974850"/>
              <a:ext cx="2681478" cy="1014984"/>
            </a:xfrm>
            <a:prstGeom prst="rect">
              <a:avLst/>
            </a:prstGeom>
            <a:noFill/>
            <a:ln>
              <a:noFill/>
            </a:ln>
          </p:spPr>
          <p:txBody>
            <a:bodyPr wrap="none" lIns="0" tIns="0" rIns="0" bIns="0" anchor="t" anchorCtr="0">
              <a:spAutoFit/>
            </a:bodyPr>
            <a:lstStyle/>
            <a:p>
              <a:pPr algn="l">
                <a:lnSpc>
                  <a:spcPts val="2610"/>
                </a:lnSpc>
              </a:pPr>
              <a:r>
                <a:rPr lang="en-US" sz="1800" dirty="0">
                  <a:solidFill>
                    <a:srgbClr val="172B4D"/>
                  </a:solidFill>
                  <a:latin typeface="Microsoft YaHei"/>
                  <a:ea typeface="Microsoft YaHei"/>
                  <a:cs typeface="Microsoft YaHei"/>
                </a:rPr>
                <a:t>x = (R, c_i, pk_k)</a:t>
              </a:r>
              <a:br>
                <a:rPr lang="en-US" sz="1800" dirty="0">
                  <a:solidFill>
                    <a:srgbClr val="172B4D"/>
                  </a:solidFill>
                  <a:latin typeface="Microsoft YaHei"/>
                  <a:ea typeface="Microsoft YaHei"/>
                  <a:cs typeface="Microsoft YaHei"/>
                </a:rPr>
              </a:br>
              <a:r>
                <a:rPr lang="zh-CN" sz="1800" dirty="0">
                  <a:solidFill>
                    <a:srgbClr val="172B4D"/>
                  </a:solidFill>
                  <a:latin typeface="Microsoft YaHei"/>
                  <a:ea typeface="Microsoft YaHei"/>
                  <a:cs typeface="Microsoft YaHei"/>
                </a:rPr>
                <a:t>原型：root、challenge、</a:t>
              </a:r>
              <a:br>
                <a:rPr lang="zh-CN" sz="1800" dirty="0">
                  <a:solidFill>
                    <a:srgbClr val="172B4D"/>
                  </a:solidFill>
                  <a:latin typeface="Microsoft YaHei"/>
                  <a:ea typeface="Microsoft YaHei"/>
                  <a:cs typeface="Microsoft YaHei"/>
                </a:rPr>
              </a:br>
              <a:r>
                <a:rPr lang="zh-CN" sz="1800" dirty="0">
                  <a:solidFill>
                    <a:srgbClr val="172B4D"/>
                  </a:solidFill>
                  <a:latin typeface="Microsoft YaHei"/>
                  <a:ea typeface="Microsoft YaHei"/>
                  <a:cs typeface="Microsoft YaHei"/>
                </a:rPr>
                <a:t>pubAddr。</a:t>
              </a:r>
            </a:p>
          </p:txBody>
        </p:sp>
      </p:grpSp>
      <p:grpSp>
        <p:nvGrpSpPr>
          <p:cNvPr id="16" name="private-witness"/>
          <p:cNvGrpSpPr/>
          <p:nvPr/>
        </p:nvGrpSpPr>
        <p:grpSpPr>
          <a:xfrm>
            <a:off x="6248400" y="1495425"/>
            <a:ext cx="5181600" cy="1638300"/>
            <a:chOff x="6248400" y="1495425"/>
            <a:chExt cx="5181600" cy="1638300"/>
          </a:xfrm>
        </p:grpSpPr>
        <p:sp>
          <p:nvSpPr>
            <p:cNvPr id="12" name="Rectangle 12"/>
            <p:cNvSpPr/>
            <p:nvPr/>
          </p:nvSpPr>
          <p:spPr>
            <a:xfrm>
              <a:off x="6248400" y="1495425"/>
              <a:ext cx="5181600" cy="1638300"/>
            </a:xfrm>
            <a:prstGeom prst="roundRect">
              <a:avLst>
                <a:gd name="adj" fmla="val 4651"/>
              </a:avLst>
            </a:prstGeom>
            <a:solidFill>
              <a:srgbClr val="EDF3FB"/>
            </a:solidFill>
            <a:ln>
              <a:noFill/>
            </a:ln>
          </p:spPr>
        </p:sp>
        <p:sp>
          <p:nvSpPr>
            <p:cNvPr id="13" name="Freeform 13"/>
            <p:cNvSpPr/>
            <p:nvPr/>
          </p:nvSpPr>
          <p:spPr>
            <a:xfrm>
              <a:off x="6248400" y="1495425"/>
              <a:ext cx="47625" cy="1638300"/>
            </a:xfrm>
            <a:custGeom>
              <a:avLst/>
              <a:gdLst/>
              <a:ahLst/>
              <a:cxnLst/>
              <a:rect l="l" t="t" r="r" b="b"/>
              <a:pathLst>
                <a:path w="47625" h="1638300">
                  <a:moveTo>
                    <a:pt x="0" y="0"/>
                  </a:moveTo>
                  <a:lnTo>
                    <a:pt x="47625" y="0"/>
                  </a:lnTo>
                  <a:lnTo>
                    <a:pt x="47625" y="1638300"/>
                  </a:lnTo>
                  <a:lnTo>
                    <a:pt x="0" y="1638300"/>
                  </a:lnTo>
                  <a:close/>
                </a:path>
              </a:pathLst>
            </a:custGeom>
            <a:solidFill>
              <a:srgbClr val="159AA8"/>
            </a:solidFill>
            <a:ln>
              <a:noFill/>
            </a:ln>
          </p:spPr>
        </p:sp>
        <p:sp>
          <p:nvSpPr>
            <p:cNvPr id="14" name="TextBox 14"/>
            <p:cNvSpPr txBox="1"/>
            <p:nvPr/>
          </p:nvSpPr>
          <p:spPr>
            <a:xfrm>
              <a:off x="6448425" y="1619250"/>
              <a:ext cx="1310419" cy="367665"/>
            </a:xfrm>
            <a:prstGeom prst="rect">
              <a:avLst/>
            </a:prstGeom>
            <a:noFill/>
            <a:ln>
              <a:noFill/>
            </a:ln>
          </p:spPr>
          <p:txBody>
            <a:bodyPr wrap="none" lIns="0" tIns="0" rIns="0" bIns="0" anchor="t" anchorCtr="0">
              <a:spAutoFit/>
            </a:bodyPr>
            <a:lstStyle/>
            <a:p>
              <a:pPr algn="l"/>
              <a:r>
                <a:rPr lang="zh-CN" sz="1880" b="1" dirty="0">
                  <a:solidFill>
                    <a:srgbClr val="159AA8"/>
                  </a:solidFill>
                  <a:latin typeface="Microsoft YaHei"/>
                  <a:ea typeface="Microsoft YaHei"/>
                  <a:cs typeface="Microsoft YaHei"/>
                </a:rPr>
                <a:t>私有见证 w</a:t>
              </a:r>
            </a:p>
          </p:txBody>
        </p:sp>
        <p:sp>
          <p:nvSpPr>
            <p:cNvPr id="15" name="TextBox 15"/>
            <p:cNvSpPr txBox="1"/>
            <p:nvPr/>
          </p:nvSpPr>
          <p:spPr>
            <a:xfrm>
              <a:off x="6449187" y="1987550"/>
              <a:ext cx="3993134" cy="655034"/>
            </a:xfrm>
            <a:prstGeom prst="rect">
              <a:avLst/>
            </a:prstGeom>
            <a:noFill/>
            <a:ln>
              <a:noFill/>
            </a:ln>
          </p:spPr>
          <p:txBody>
            <a:bodyPr wrap="none" lIns="0" tIns="0" rIns="0" bIns="0" anchor="t" anchorCtr="0">
              <a:spAutoFit/>
            </a:bodyPr>
            <a:lstStyle/>
            <a:p>
              <a:pPr algn="l">
                <a:lnSpc>
                  <a:spcPts val="2501"/>
                </a:lnSpc>
              </a:pPr>
              <a:r>
                <a:rPr lang="en-US" sz="1720" dirty="0">
                  <a:solidFill>
                    <a:srgbClr val="172B4D"/>
                  </a:solidFill>
                  <a:latin typeface="Microsoft YaHei"/>
                  <a:ea typeface="Microsoft YaHei"/>
                  <a:cs typeface="Microsoft YaHei"/>
                </a:rPr>
                <a:t>w = (r_i, pathElements, pathIndices)</a:t>
              </a:r>
              <a:br>
                <a:rPr lang="en-US" sz="1720" dirty="0">
                  <a:solidFill>
                    <a:srgbClr val="172B4D"/>
                  </a:solidFill>
                  <a:latin typeface="Microsoft YaHei"/>
                  <a:ea typeface="Microsoft YaHei"/>
                  <a:cs typeface="Microsoft YaHei"/>
                </a:rPr>
              </a:br>
              <a:r>
                <a:rPr lang="zh-CN" sz="1720" dirty="0">
                  <a:solidFill>
                    <a:srgbClr val="172B4D"/>
                  </a:solidFill>
                  <a:latin typeface="Microsoft YaHei"/>
                  <a:ea typeface="Microsoft YaHei"/>
                  <a:cs typeface="Microsoft YaHei"/>
                </a:rPr>
                <a:t>response 与路径不是公开输入。</a:t>
              </a:r>
            </a:p>
          </p:txBody>
        </p:sp>
      </p:grpSp>
      <p:grpSp>
        <p:nvGrpSpPr>
          <p:cNvPr id="22" name="constraints"/>
          <p:cNvGrpSpPr/>
          <p:nvPr/>
        </p:nvGrpSpPr>
        <p:grpSpPr>
          <a:xfrm>
            <a:off x="790575" y="3409950"/>
            <a:ext cx="6353934" cy="2042541"/>
            <a:chOff x="790575" y="3409950"/>
            <a:chExt cx="6353934" cy="2042541"/>
          </a:xfrm>
        </p:grpSpPr>
        <p:sp>
          <p:nvSpPr>
            <p:cNvPr id="17" name="TextBox 17"/>
            <p:cNvSpPr txBox="1"/>
            <p:nvPr/>
          </p:nvSpPr>
          <p:spPr>
            <a:xfrm>
              <a:off x="790575" y="3409950"/>
              <a:ext cx="4341943"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电路检查（按 Listing 2 的实现顺序）</a:t>
              </a:r>
            </a:p>
          </p:txBody>
        </p:sp>
        <p:sp>
          <p:nvSpPr>
            <p:cNvPr id="18" name="TextBox 18"/>
            <p:cNvSpPr txBox="1"/>
            <p:nvPr/>
          </p:nvSpPr>
          <p:spPr>
            <a:xfrm>
              <a:off x="990600" y="3848100"/>
              <a:ext cx="3819240" cy="367665"/>
            </a:xfrm>
            <a:prstGeom prst="rect">
              <a:avLst/>
            </a:prstGeom>
            <a:noFill/>
            <a:ln>
              <a:noFill/>
            </a:ln>
          </p:spPr>
          <p:txBody>
            <a:bodyPr wrap="none" lIns="0" tIns="0" rIns="0" bIns="0" anchor="t" anchorCtr="0">
              <a:spAutoFit/>
            </a:bodyPr>
            <a:lstStyle/>
            <a:p>
              <a:pPr algn="l"/>
              <a:r>
                <a:rPr lang="en-US" sz="1880" b="1" dirty="0">
                  <a:solidFill>
                    <a:srgbClr val="172B4D"/>
                  </a:solidFill>
                  <a:latin typeface="Microsoft YaHei"/>
                  <a:ea typeface="Microsoft YaHei"/>
                  <a:cs typeface="Microsoft YaHei"/>
                </a:rPr>
                <a:t>① l = Poseidon(pk_k, c_i, r_i)</a:t>
              </a:r>
            </a:p>
          </p:txBody>
        </p:sp>
        <p:sp>
          <p:nvSpPr>
            <p:cNvPr id="19" name="TextBox 19"/>
            <p:cNvSpPr txBox="1"/>
            <p:nvPr/>
          </p:nvSpPr>
          <p:spPr>
            <a:xfrm>
              <a:off x="991362" y="4289425"/>
              <a:ext cx="5813514" cy="337376"/>
            </a:xfrm>
            <a:prstGeom prst="rect">
              <a:avLst/>
            </a:prstGeom>
            <a:noFill/>
            <a:ln>
              <a:noFill/>
            </a:ln>
          </p:spPr>
          <p:txBody>
            <a:bodyPr wrap="none" lIns="0" tIns="0" rIns="0" bIns="0" anchor="t" anchorCtr="0">
              <a:spAutoFit/>
            </a:bodyPr>
            <a:lstStyle/>
            <a:p>
              <a:pPr algn="l"/>
              <a:r>
                <a:rPr lang="zh-CN" sz="1720" dirty="0">
                  <a:solidFill>
                    <a:srgbClr val="172B4D"/>
                  </a:solidFill>
                  <a:latin typeface="Microsoft YaHei"/>
                  <a:ea typeface="Microsoft YaHei"/>
                  <a:cs typeface="Microsoft YaHei"/>
                </a:rPr>
                <a:t>② 按 pathIndices 确定左右顺序，逐层计算父节点哈希。</a:t>
              </a:r>
            </a:p>
          </p:txBody>
        </p:sp>
        <p:sp>
          <p:nvSpPr>
            <p:cNvPr id="20" name="TextBox 20"/>
            <p:cNvSpPr txBox="1"/>
            <p:nvPr/>
          </p:nvSpPr>
          <p:spPr>
            <a:xfrm>
              <a:off x="991362" y="4718050"/>
              <a:ext cx="6143676" cy="337376"/>
            </a:xfrm>
            <a:prstGeom prst="rect">
              <a:avLst/>
            </a:prstGeom>
            <a:noFill/>
            <a:ln>
              <a:noFill/>
            </a:ln>
          </p:spPr>
          <p:txBody>
            <a:bodyPr wrap="none" lIns="0" tIns="0" rIns="0" bIns="0" anchor="t" anchorCtr="0">
              <a:spAutoFit/>
            </a:bodyPr>
            <a:lstStyle/>
            <a:p>
              <a:pPr algn="l"/>
              <a:r>
                <a:rPr lang="zh-CN" sz="1720" dirty="0">
                  <a:solidFill>
                    <a:srgbClr val="172B4D"/>
                  </a:solidFill>
                  <a:latin typeface="Microsoft YaHei"/>
                  <a:ea typeface="Microsoft YaHei"/>
                  <a:cs typeface="Microsoft YaHei"/>
                </a:rPr>
                <a:t>③ 最终哈希 = 公开根 R；于是得到 π = Prove(d_p, x, w)。</a:t>
              </a:r>
            </a:p>
          </p:txBody>
        </p:sp>
        <p:sp>
          <p:nvSpPr>
            <p:cNvPr id="21" name="TextBox 21"/>
            <p:cNvSpPr txBox="1"/>
            <p:nvPr/>
          </p:nvSpPr>
          <p:spPr>
            <a:xfrm>
              <a:off x="992124" y="5143500"/>
              <a:ext cx="6152385" cy="308991"/>
            </a:xfrm>
            <a:prstGeom prst="rect">
              <a:avLst/>
            </a:prstGeom>
            <a:noFill/>
            <a:ln>
              <a:noFill/>
            </a:ln>
          </p:spPr>
          <p:txBody>
            <a:bodyPr wrap="none" lIns="0" tIns="0" rIns="0" bIns="0" anchor="t" anchorCtr="0">
              <a:spAutoFit/>
            </a:bodyPr>
            <a:lstStyle/>
            <a:p>
              <a:pPr algn="l"/>
              <a:r>
                <a:rPr lang="zh-CN" sz="1580" dirty="0">
                  <a:solidFill>
                    <a:srgbClr val="52657E"/>
                  </a:solidFill>
                  <a:latin typeface="Microsoft YaHei"/>
                  <a:ea typeface="Microsoft YaHei"/>
                  <a:cs typeface="Microsoft YaHei"/>
                </a:rPr>
                <a:t>d_p 是公开的证明密钥；pk_k 是设备身份，两者不是同一个 pk。</a:t>
              </a:r>
            </a:p>
          </p:txBody>
        </p:sp>
      </p:grpSp>
      <p:grpSp>
        <p:nvGrpSpPr>
          <p:cNvPr id="25" name="takeaway"/>
          <p:cNvGrpSpPr/>
          <p:nvPr/>
        </p:nvGrpSpPr>
        <p:grpSpPr>
          <a:xfrm>
            <a:off x="723900" y="5924550"/>
            <a:ext cx="10744200" cy="466725"/>
            <a:chOff x="723900" y="5924550"/>
            <a:chExt cx="10744200" cy="466725"/>
          </a:xfrm>
        </p:grpSpPr>
        <p:sp>
          <p:nvSpPr>
            <p:cNvPr id="23" name="Rectangle 23"/>
            <p:cNvSpPr/>
            <p:nvPr/>
          </p:nvSpPr>
          <p:spPr>
            <a:xfrm>
              <a:off x="723900" y="5924550"/>
              <a:ext cx="10744200" cy="466725"/>
            </a:xfrm>
            <a:prstGeom prst="roundRect">
              <a:avLst>
                <a:gd name="adj" fmla="val 12245"/>
              </a:avLst>
            </a:prstGeom>
            <a:solidFill>
              <a:srgbClr val="EDF3FB"/>
            </a:solidFill>
            <a:ln>
              <a:noFill/>
            </a:ln>
          </p:spPr>
        </p:sp>
        <p:sp>
          <p:nvSpPr>
            <p:cNvPr id="24" name="TextBox 24"/>
            <p:cNvSpPr txBox="1"/>
            <p:nvPr/>
          </p:nvSpPr>
          <p:spPr>
            <a:xfrm>
              <a:off x="887349" y="6038850"/>
              <a:ext cx="8131555"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证明的是“知道认可响应对应的树成员见证”；原始内部状态不直接作为电路公开输入。</a:t>
              </a:r>
            </a:p>
          </p:txBody>
        </p:sp>
      </p:grpSp>
    </p:spTree>
  </p:cSld>
  <p:clrMapOvr>
    <a:masterClrMapping/>
  </p:clrMapOvr>
</p:sld>
</file>

<file path=ppt/slides/slide12.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sp>
        <p:nvSpPr>
          <p:cNvPr id="26" name="矩形 25"/>
          <p:cNvSpPr/>
          <p:nvPr/>
        </p:nvSpPr>
        <p:spPr>
          <a:xfrm>
            <a:off x="685800" y="495300"/>
            <a:ext cx="10810875" cy="495300"/>
          </a:xfrm>
          <a:prstGeom prst="rect">
            <a:avLst/>
          </a:prstGeom>
          <a:noFill/>
          <a:ln>
            <a:noFill/>
          </a:ln>
        </p:spPr>
        <p:txBody>
          <a:bodyPr wrap="none" lIns="91440" tIns="67151" rIns="0" bIns="0" anchor="t" anchorCtr="0">
            <a:noAutofit/>
          </a:bodyPr>
          <a:lstStyle/>
          <a:p>
            <a:pPr algn="l"/>
            <a:r>
              <a:rPr lang="zh-CN" sz="2620" b="1" dirty="0">
                <a:solidFill>
                  <a:srgbClr val="172B4D"/>
                </a:solidFill>
                <a:latin typeface="Microsoft YaHei"/>
                <a:ea typeface="Microsoft YaHei"/>
                <a:cs typeface="Microsoft YaHei"/>
              </a:rPr>
              <a:t>Verification：四项检查缺一不可</a:t>
            </a:r>
          </a:p>
        </p:txBody>
      </p:sp>
      <p:sp>
        <p:nvSpPr>
          <p:cNvPr id="3" name="Line 3"/>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6" name="page-footer"/>
          <p:cNvGrpSpPr/>
          <p:nvPr/>
        </p:nvGrpSpPr>
        <p:grpSpPr>
          <a:xfrm>
            <a:off x="776288" y="6524625"/>
            <a:ext cx="10629899" cy="176212"/>
            <a:chOff x="776288" y="6524625"/>
            <a:chExt cx="10629899" cy="176212"/>
          </a:xfrm>
        </p:grpSpPr>
        <p:sp>
          <p:nvSpPr>
            <p:cNvPr id="4" name="TextBox 4"/>
            <p:cNvSpPr txBox="1"/>
            <p:nvPr/>
          </p:nvSpPr>
          <p:spPr>
            <a:xfrm>
              <a:off x="776288" y="6524625"/>
              <a:ext cx="2405253"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02 zRA 设计 · 论文 Alg.3、Listing 3、IV-B</a:t>
              </a:r>
            </a:p>
          </p:txBody>
        </p:sp>
        <p:sp>
          <p:nvSpPr>
            <p:cNvPr id="5" name="TextBox 5"/>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12 / 20</a:t>
              </a:r>
            </a:p>
          </p:txBody>
        </p:sp>
      </p:grpSp>
      <p:grpSp>
        <p:nvGrpSpPr>
          <p:cNvPr id="11" name="verify-0"/>
          <p:cNvGrpSpPr/>
          <p:nvPr/>
        </p:nvGrpSpPr>
        <p:grpSpPr>
          <a:xfrm>
            <a:off x="762000" y="1504950"/>
            <a:ext cx="10668000" cy="790575"/>
            <a:chOff x="762000" y="1504950"/>
            <a:chExt cx="10668000" cy="790575"/>
          </a:xfrm>
        </p:grpSpPr>
        <p:sp>
          <p:nvSpPr>
            <p:cNvPr id="7" name="Rectangle 7"/>
            <p:cNvSpPr/>
            <p:nvPr/>
          </p:nvSpPr>
          <p:spPr>
            <a:xfrm>
              <a:off x="762000" y="1504950"/>
              <a:ext cx="10668000" cy="790575"/>
            </a:xfrm>
            <a:prstGeom prst="roundRect">
              <a:avLst>
                <a:gd name="adj" fmla="val 7229"/>
              </a:avLst>
            </a:prstGeom>
            <a:solidFill>
              <a:srgbClr val="EDF3FB"/>
            </a:solidFill>
            <a:ln>
              <a:noFill/>
            </a:ln>
          </p:spPr>
        </p:sp>
        <p:sp>
          <p:nvSpPr>
            <p:cNvPr id="8" name="TextBox 8"/>
            <p:cNvSpPr txBox="1"/>
            <p:nvPr/>
          </p:nvSpPr>
          <p:spPr>
            <a:xfrm>
              <a:off x="981456" y="1612900"/>
              <a:ext cx="1343757" cy="352044"/>
            </a:xfrm>
            <a:prstGeom prst="rect">
              <a:avLst/>
            </a:prstGeom>
            <a:noFill/>
            <a:ln>
              <a:noFill/>
            </a:ln>
          </p:spPr>
          <p:txBody>
            <a:bodyPr wrap="none" lIns="0" tIns="0" rIns="0" bIns="0" anchor="t" anchorCtr="0">
              <a:spAutoFit/>
            </a:bodyPr>
            <a:lstStyle/>
            <a:p>
              <a:pPr algn="l"/>
              <a:r>
                <a:rPr lang="zh-CN" sz="1800" b="1" dirty="0">
                  <a:solidFill>
                    <a:srgbClr val="2F4F98"/>
                  </a:solidFill>
                  <a:latin typeface="Microsoft YaHei"/>
                  <a:ea typeface="Microsoft YaHei"/>
                  <a:cs typeface="Microsoft YaHei"/>
                </a:rPr>
                <a:t>01 证明有效</a:t>
              </a:r>
            </a:p>
          </p:txBody>
        </p:sp>
        <p:sp>
          <p:nvSpPr>
            <p:cNvPr id="9" name="TextBox 9"/>
            <p:cNvSpPr txBox="1"/>
            <p:nvPr/>
          </p:nvSpPr>
          <p:spPr>
            <a:xfrm>
              <a:off x="3753231" y="1603375"/>
              <a:ext cx="4017380" cy="352044"/>
            </a:xfrm>
            <a:prstGeom prst="rect">
              <a:avLst/>
            </a:prstGeom>
            <a:noFill/>
            <a:ln>
              <a:noFill/>
            </a:ln>
          </p:spPr>
          <p:txBody>
            <a:bodyPr wrap="none" lIns="0" tIns="0" rIns="0" bIns="0" anchor="t" anchorCtr="0">
              <a:spAutoFit/>
            </a:bodyPr>
            <a:lstStyle/>
            <a:p>
              <a:pPr algn="l"/>
              <a:r>
                <a:rPr lang="el-GR" sz="1800" b="1" dirty="0">
                  <a:solidFill>
                    <a:srgbClr val="172B4D"/>
                  </a:solidFill>
                  <a:latin typeface="Microsoft YaHei"/>
                  <a:ea typeface="Microsoft YaHei"/>
                  <a:cs typeface="Microsoft YaHei"/>
                </a:rPr>
                <a:t>Verify(d_v, π, R, c_i, pk_k) = 1</a:t>
              </a:r>
            </a:p>
          </p:txBody>
        </p:sp>
        <p:sp>
          <p:nvSpPr>
            <p:cNvPr id="10" name="TextBox 10"/>
            <p:cNvSpPr txBox="1"/>
            <p:nvPr/>
          </p:nvSpPr>
          <p:spPr>
            <a:xfrm>
              <a:off x="3754374" y="1952625"/>
              <a:ext cx="3844595" cy="308991"/>
            </a:xfrm>
            <a:prstGeom prst="rect">
              <a:avLst/>
            </a:prstGeom>
            <a:noFill/>
            <a:ln>
              <a:noFill/>
            </a:ln>
          </p:spPr>
          <p:txBody>
            <a:bodyPr wrap="none" lIns="0" tIns="0" rIns="0" bIns="0" anchor="t" anchorCtr="0">
              <a:spAutoFit/>
            </a:bodyPr>
            <a:lstStyle/>
            <a:p>
              <a:pPr algn="l"/>
              <a:r>
                <a:rPr lang="zh-CN" sz="1580" dirty="0">
                  <a:solidFill>
                    <a:srgbClr val="52657E"/>
                  </a:solidFill>
                  <a:latin typeface="Microsoft YaHei"/>
                  <a:ea typeface="Microsoft YaHei"/>
                  <a:cs typeface="Microsoft YaHei"/>
                </a:rPr>
                <a:t>保证响应承诺与成员路径满足电路约束。</a:t>
              </a:r>
            </a:p>
          </p:txBody>
        </p:sp>
      </p:grpSp>
      <p:grpSp>
        <p:nvGrpSpPr>
          <p:cNvPr id="16" name="verify-1"/>
          <p:cNvGrpSpPr/>
          <p:nvPr/>
        </p:nvGrpSpPr>
        <p:grpSpPr>
          <a:xfrm>
            <a:off x="762000" y="2428875"/>
            <a:ext cx="10668000" cy="790575"/>
            <a:chOff x="762000" y="2428875"/>
            <a:chExt cx="10668000" cy="790575"/>
          </a:xfrm>
        </p:grpSpPr>
        <p:sp>
          <p:nvSpPr>
            <p:cNvPr id="12" name="Rectangle 12"/>
            <p:cNvSpPr/>
            <p:nvPr/>
          </p:nvSpPr>
          <p:spPr>
            <a:xfrm>
              <a:off x="762000" y="2428875"/>
              <a:ext cx="10668000" cy="790575"/>
            </a:xfrm>
            <a:prstGeom prst="roundRect">
              <a:avLst>
                <a:gd name="adj" fmla="val 7229"/>
              </a:avLst>
            </a:prstGeom>
            <a:solidFill>
              <a:srgbClr val="EDF3FB"/>
            </a:solidFill>
            <a:ln>
              <a:noFill/>
            </a:ln>
          </p:spPr>
        </p:sp>
        <p:sp>
          <p:nvSpPr>
            <p:cNvPr id="13" name="TextBox 13"/>
            <p:cNvSpPr txBox="1"/>
            <p:nvPr/>
          </p:nvSpPr>
          <p:spPr>
            <a:xfrm>
              <a:off x="981456" y="2536825"/>
              <a:ext cx="1343757" cy="352044"/>
            </a:xfrm>
            <a:prstGeom prst="rect">
              <a:avLst/>
            </a:prstGeom>
            <a:noFill/>
            <a:ln>
              <a:noFill/>
            </a:ln>
          </p:spPr>
          <p:txBody>
            <a:bodyPr wrap="none" lIns="0" tIns="0" rIns="0" bIns="0" anchor="t" anchorCtr="0">
              <a:spAutoFit/>
            </a:bodyPr>
            <a:lstStyle/>
            <a:p>
              <a:pPr algn="l"/>
              <a:r>
                <a:rPr lang="zh-CN" sz="1800" b="1" dirty="0">
                  <a:solidFill>
                    <a:srgbClr val="2F4F98"/>
                  </a:solidFill>
                  <a:latin typeface="Microsoft YaHei"/>
                  <a:ea typeface="Microsoft YaHei"/>
                  <a:cs typeface="Microsoft YaHei"/>
                </a:rPr>
                <a:t>02 身份一致</a:t>
              </a:r>
            </a:p>
          </p:txBody>
        </p:sp>
        <p:sp>
          <p:nvSpPr>
            <p:cNvPr id="14" name="TextBox 14"/>
            <p:cNvSpPr txBox="1"/>
            <p:nvPr/>
          </p:nvSpPr>
          <p:spPr>
            <a:xfrm>
              <a:off x="3753231" y="2527300"/>
              <a:ext cx="2324531" cy="352044"/>
            </a:xfrm>
            <a:prstGeom prst="rect">
              <a:avLst/>
            </a:prstGeom>
            <a:noFill/>
            <a:ln>
              <a:noFill/>
            </a:ln>
          </p:spPr>
          <p:txBody>
            <a:bodyPr wrap="none" lIns="0" tIns="0" rIns="0" bIns="0" anchor="t" anchorCtr="0">
              <a:spAutoFit/>
            </a:bodyPr>
            <a:lstStyle/>
            <a:p>
              <a:pPr algn="l"/>
              <a:r>
                <a:rPr lang="zh-CN" sz="1800" b="1" dirty="0">
                  <a:solidFill>
                    <a:srgbClr val="172B4D"/>
                  </a:solidFill>
                  <a:latin typeface="Microsoft YaHei"/>
                  <a:ea typeface="Microsoft YaHei"/>
                  <a:cs typeface="Microsoft YaHei"/>
                </a:rPr>
                <a:t>签名恢复身份 = pk_k</a:t>
              </a:r>
            </a:p>
          </p:txBody>
        </p:sp>
        <p:sp>
          <p:nvSpPr>
            <p:cNvPr id="15" name="TextBox 15"/>
            <p:cNvSpPr txBox="1"/>
            <p:nvPr/>
          </p:nvSpPr>
          <p:spPr>
            <a:xfrm>
              <a:off x="3754374" y="2876550"/>
              <a:ext cx="4555006" cy="308991"/>
            </a:xfrm>
            <a:prstGeom prst="rect">
              <a:avLst/>
            </a:prstGeom>
            <a:noFill/>
            <a:ln>
              <a:noFill/>
            </a:ln>
          </p:spPr>
          <p:txBody>
            <a:bodyPr wrap="none" lIns="0" tIns="0" rIns="0" bIns="0" anchor="t" anchorCtr="0">
              <a:spAutoFit/>
            </a:bodyPr>
            <a:lstStyle/>
            <a:p>
              <a:pPr algn="l"/>
              <a:r>
                <a:rPr lang="zh-CN" sz="1580" dirty="0">
                  <a:solidFill>
                    <a:srgbClr val="52657E"/>
                  </a:solidFill>
                  <a:latin typeface="Microsoft YaHei"/>
                  <a:ea typeface="Microsoft YaHei"/>
                  <a:cs typeface="Microsoft YaHei"/>
                </a:rPr>
                <a:t>原型以 pubAddr = msg.sender 检查提交身份。</a:t>
              </a:r>
            </a:p>
          </p:txBody>
        </p:sp>
      </p:grpSp>
      <p:grpSp>
        <p:nvGrpSpPr>
          <p:cNvPr id="21" name="verify-2"/>
          <p:cNvGrpSpPr/>
          <p:nvPr/>
        </p:nvGrpSpPr>
        <p:grpSpPr>
          <a:xfrm>
            <a:off x="762000" y="3352800"/>
            <a:ext cx="10668000" cy="790575"/>
            <a:chOff x="762000" y="3352800"/>
            <a:chExt cx="10668000" cy="790575"/>
          </a:xfrm>
        </p:grpSpPr>
        <p:sp>
          <p:nvSpPr>
            <p:cNvPr id="17" name="Rectangle 17"/>
            <p:cNvSpPr/>
            <p:nvPr/>
          </p:nvSpPr>
          <p:spPr>
            <a:xfrm>
              <a:off x="762000" y="3352800"/>
              <a:ext cx="10668000" cy="790575"/>
            </a:xfrm>
            <a:prstGeom prst="roundRect">
              <a:avLst>
                <a:gd name="adj" fmla="val 7229"/>
              </a:avLst>
            </a:prstGeom>
            <a:solidFill>
              <a:srgbClr val="EDF3FB"/>
            </a:solidFill>
            <a:ln>
              <a:noFill/>
            </a:ln>
          </p:spPr>
        </p:sp>
        <p:sp>
          <p:nvSpPr>
            <p:cNvPr id="18" name="TextBox 18"/>
            <p:cNvSpPr txBox="1"/>
            <p:nvPr/>
          </p:nvSpPr>
          <p:spPr>
            <a:xfrm>
              <a:off x="981456" y="3460750"/>
              <a:ext cx="1343757" cy="352044"/>
            </a:xfrm>
            <a:prstGeom prst="rect">
              <a:avLst/>
            </a:prstGeom>
            <a:noFill/>
            <a:ln>
              <a:noFill/>
            </a:ln>
          </p:spPr>
          <p:txBody>
            <a:bodyPr wrap="none" lIns="0" tIns="0" rIns="0" bIns="0" anchor="t" anchorCtr="0">
              <a:spAutoFit/>
            </a:bodyPr>
            <a:lstStyle/>
            <a:p>
              <a:pPr algn="l"/>
              <a:r>
                <a:rPr lang="zh-CN" sz="1800" b="1" dirty="0">
                  <a:solidFill>
                    <a:srgbClr val="2F4F98"/>
                  </a:solidFill>
                  <a:latin typeface="Microsoft YaHei"/>
                  <a:ea typeface="Microsoft YaHei"/>
                  <a:cs typeface="Microsoft YaHei"/>
                </a:rPr>
                <a:t>03 根被认可</a:t>
              </a:r>
            </a:p>
          </p:txBody>
        </p:sp>
        <p:sp>
          <p:nvSpPr>
            <p:cNvPr id="19" name="TextBox 19"/>
            <p:cNvSpPr txBox="1"/>
            <p:nvPr/>
          </p:nvSpPr>
          <p:spPr>
            <a:xfrm>
              <a:off x="3753231" y="3451225"/>
              <a:ext cx="1740525" cy="352044"/>
            </a:xfrm>
            <a:prstGeom prst="rect">
              <a:avLst/>
            </a:prstGeom>
            <a:noFill/>
            <a:ln>
              <a:noFill/>
            </a:ln>
          </p:spPr>
          <p:txBody>
            <a:bodyPr wrap="none" lIns="0" tIns="0" rIns="0" bIns="0" anchor="t" anchorCtr="0">
              <a:spAutoFit/>
            </a:bodyPr>
            <a:lstStyle/>
            <a:p>
              <a:pPr algn="l"/>
              <a:r>
                <a:rPr lang="en-US" sz="1800" b="1" dirty="0">
                  <a:solidFill>
                    <a:srgbClr val="172B4D"/>
                  </a:solidFill>
                  <a:latin typeface="Microsoft YaHei"/>
                  <a:ea typeface="Microsoft YaHei"/>
                  <a:cs typeface="Microsoft YaHei"/>
                </a:rPr>
                <a:t>R ∈ validRoots</a:t>
              </a:r>
            </a:p>
          </p:txBody>
        </p:sp>
        <p:sp>
          <p:nvSpPr>
            <p:cNvPr id="20" name="TextBox 20"/>
            <p:cNvSpPr txBox="1"/>
            <p:nvPr/>
          </p:nvSpPr>
          <p:spPr>
            <a:xfrm>
              <a:off x="3754374" y="3800475"/>
              <a:ext cx="3844595" cy="308991"/>
            </a:xfrm>
            <a:prstGeom prst="rect">
              <a:avLst/>
            </a:prstGeom>
            <a:noFill/>
            <a:ln>
              <a:noFill/>
            </a:ln>
          </p:spPr>
          <p:txBody>
            <a:bodyPr wrap="none" lIns="0" tIns="0" rIns="0" bIns="0" anchor="t" anchorCtr="0">
              <a:spAutoFit/>
            </a:bodyPr>
            <a:lstStyle/>
            <a:p>
              <a:pPr algn="l"/>
              <a:r>
                <a:rPr lang="zh-CN" sz="1580" dirty="0">
                  <a:solidFill>
                    <a:srgbClr val="52657E"/>
                  </a:solidFill>
                  <a:latin typeface="Microsoft YaHei"/>
                  <a:ea typeface="Microsoft YaHei"/>
                  <a:cs typeface="Microsoft YaHei"/>
                </a:rPr>
                <a:t>拒绝攻击者自己构造、未获认可的树根。</a:t>
              </a:r>
            </a:p>
          </p:txBody>
        </p:sp>
      </p:grpSp>
      <p:grpSp>
        <p:nvGrpSpPr>
          <p:cNvPr id="27" name="verify-3"/>
          <p:cNvGrpSpPr/>
          <p:nvPr/>
        </p:nvGrpSpPr>
        <p:grpSpPr>
          <a:xfrm>
            <a:off x="762000" y="4276725"/>
            <a:ext cx="10668000" cy="790575"/>
            <a:chOff x="762000" y="4276725"/>
            <a:chExt cx="10668000" cy="790575"/>
          </a:xfrm>
        </p:grpSpPr>
        <p:sp>
          <p:nvSpPr>
            <p:cNvPr id="22" name="Rectangle 22"/>
            <p:cNvSpPr/>
            <p:nvPr/>
          </p:nvSpPr>
          <p:spPr>
            <a:xfrm>
              <a:off x="762000" y="4276725"/>
              <a:ext cx="10668000" cy="790575"/>
            </a:xfrm>
            <a:prstGeom prst="roundRect">
              <a:avLst>
                <a:gd name="adj" fmla="val 7229"/>
              </a:avLst>
            </a:prstGeom>
            <a:solidFill>
              <a:srgbClr val="EDF3FB"/>
            </a:solidFill>
            <a:ln>
              <a:noFill/>
            </a:ln>
          </p:spPr>
        </p:sp>
        <p:sp>
          <p:nvSpPr>
            <p:cNvPr id="23" name="TextBox 23"/>
            <p:cNvSpPr txBox="1"/>
            <p:nvPr/>
          </p:nvSpPr>
          <p:spPr>
            <a:xfrm>
              <a:off x="981456" y="4384675"/>
              <a:ext cx="1343757" cy="352044"/>
            </a:xfrm>
            <a:prstGeom prst="rect">
              <a:avLst/>
            </a:prstGeom>
            <a:noFill/>
            <a:ln>
              <a:noFill/>
            </a:ln>
          </p:spPr>
          <p:txBody>
            <a:bodyPr wrap="none" lIns="0" tIns="0" rIns="0" bIns="0" anchor="t" anchorCtr="0">
              <a:spAutoFit/>
            </a:bodyPr>
            <a:lstStyle/>
            <a:p>
              <a:pPr algn="l"/>
              <a:r>
                <a:rPr lang="zh-CN" sz="1800" b="1" dirty="0">
                  <a:solidFill>
                    <a:srgbClr val="2F4F98"/>
                  </a:solidFill>
                  <a:latin typeface="Microsoft YaHei"/>
                  <a:ea typeface="Microsoft YaHei"/>
                  <a:cs typeface="Microsoft YaHei"/>
                </a:rPr>
                <a:t>04 挑战最新</a:t>
              </a:r>
            </a:p>
          </p:txBody>
        </p:sp>
        <p:sp>
          <p:nvSpPr>
            <p:cNvPr id="24" name="TextBox 24"/>
            <p:cNvSpPr txBox="1"/>
            <p:nvPr/>
          </p:nvSpPr>
          <p:spPr>
            <a:xfrm>
              <a:off x="3753231" y="4375150"/>
              <a:ext cx="2583842" cy="352044"/>
            </a:xfrm>
            <a:prstGeom prst="rect">
              <a:avLst/>
            </a:prstGeom>
            <a:noFill/>
            <a:ln>
              <a:noFill/>
            </a:ln>
          </p:spPr>
          <p:txBody>
            <a:bodyPr wrap="none" lIns="0" tIns="0" rIns="0" bIns="0" anchor="t" anchorCtr="0">
              <a:spAutoFit/>
            </a:bodyPr>
            <a:lstStyle/>
            <a:p>
              <a:pPr algn="l"/>
              <a:r>
                <a:rPr lang="en-US" sz="1800" b="1" dirty="0">
                  <a:solidFill>
                    <a:srgbClr val="172B4D"/>
                  </a:solidFill>
                  <a:latin typeface="Microsoft YaHei"/>
                  <a:ea typeface="Microsoft YaHei"/>
                  <a:cs typeface="Microsoft YaHei"/>
                </a:rPr>
                <a:t>c_i = latestChallenge</a:t>
              </a:r>
            </a:p>
          </p:txBody>
        </p:sp>
        <p:sp>
          <p:nvSpPr>
            <p:cNvPr id="25" name="TextBox 25"/>
            <p:cNvSpPr txBox="1"/>
            <p:nvPr/>
          </p:nvSpPr>
          <p:spPr>
            <a:xfrm>
              <a:off x="3754374" y="4724400"/>
              <a:ext cx="4057294" cy="308991"/>
            </a:xfrm>
            <a:prstGeom prst="rect">
              <a:avLst/>
            </a:prstGeom>
            <a:noFill/>
            <a:ln>
              <a:noFill/>
            </a:ln>
          </p:spPr>
          <p:txBody>
            <a:bodyPr wrap="none" lIns="0" tIns="0" rIns="0" bIns="0" anchor="t" anchorCtr="0">
              <a:spAutoFit/>
            </a:bodyPr>
            <a:lstStyle/>
            <a:p>
              <a:pPr algn="l"/>
              <a:r>
                <a:rPr lang="zh-CN" sz="1580" dirty="0">
                  <a:solidFill>
                    <a:srgbClr val="52657E"/>
                  </a:solidFill>
                  <a:latin typeface="Microsoft YaHei"/>
                  <a:ea typeface="Microsoft YaHei"/>
                  <a:cs typeface="Microsoft YaHei"/>
                </a:rPr>
                <a:t>旧周期证明不能作为当前周期的新鲜证明。</a:t>
              </a:r>
            </a:p>
          </p:txBody>
        </p:sp>
      </p:grpSp>
      <p:grpSp>
        <p:nvGrpSpPr>
          <p:cNvPr id="29" name="threshold"/>
          <p:cNvGrpSpPr/>
          <p:nvPr/>
        </p:nvGrpSpPr>
        <p:grpSpPr>
          <a:xfrm>
            <a:off x="792099" y="5476875"/>
            <a:ext cx="7885887" cy="308991"/>
            <a:chOff x="792099" y="5476875"/>
            <a:chExt cx="7885887" cy="308991"/>
          </a:xfrm>
        </p:grpSpPr>
        <p:sp>
          <p:nvSpPr>
            <p:cNvPr id="28" name="TextBox 28"/>
            <p:cNvSpPr txBox="1"/>
            <p:nvPr/>
          </p:nvSpPr>
          <p:spPr>
            <a:xfrm>
              <a:off x="792099" y="5476875"/>
              <a:ext cx="7885887" cy="308991"/>
            </a:xfrm>
            <a:prstGeom prst="rect">
              <a:avLst/>
            </a:prstGeom>
            <a:noFill/>
            <a:ln>
              <a:noFill/>
            </a:ln>
          </p:spPr>
          <p:txBody>
            <a:bodyPr wrap="none" lIns="0" tIns="0" rIns="0" bIns="0" anchor="t" anchorCtr="0">
              <a:spAutoFit/>
            </a:bodyPr>
            <a:lstStyle/>
            <a:p>
              <a:pPr algn="l"/>
              <a:r>
                <a:rPr lang="zh-CN" sz="1580" dirty="0">
                  <a:solidFill>
                    <a:srgbClr val="172B4D"/>
                  </a:solidFill>
                  <a:latin typeface="Microsoft YaHei"/>
                  <a:ea typeface="Microsoft YaHei"/>
                  <a:cs typeface="Microsoft YaHei"/>
                </a:rPr>
                <a:t>新鲜性仍依赖挑战按时发布；论文提出阈值参与方共同生成与发布挑战以分散信任。</a:t>
              </a:r>
            </a:p>
          </p:txBody>
        </p:sp>
      </p:grpSp>
      <p:grpSp>
        <p:nvGrpSpPr>
          <p:cNvPr id="32" name="takeaway"/>
          <p:cNvGrpSpPr/>
          <p:nvPr/>
        </p:nvGrpSpPr>
        <p:grpSpPr>
          <a:xfrm>
            <a:off x="723900" y="5924550"/>
            <a:ext cx="10744200" cy="466725"/>
            <a:chOff x="723900" y="5924550"/>
            <a:chExt cx="10744200" cy="466725"/>
          </a:xfrm>
        </p:grpSpPr>
        <p:sp>
          <p:nvSpPr>
            <p:cNvPr id="30" name="Rectangle 30"/>
            <p:cNvSpPr/>
            <p:nvPr/>
          </p:nvSpPr>
          <p:spPr>
            <a:xfrm>
              <a:off x="723900" y="5924550"/>
              <a:ext cx="10744200" cy="466725"/>
            </a:xfrm>
            <a:prstGeom prst="roundRect">
              <a:avLst>
                <a:gd name="adj" fmla="val 12245"/>
              </a:avLst>
            </a:prstGeom>
            <a:solidFill>
              <a:srgbClr val="EDF3FB"/>
            </a:solidFill>
            <a:ln>
              <a:noFill/>
            </a:ln>
          </p:spPr>
        </p:sp>
        <p:sp>
          <p:nvSpPr>
            <p:cNvPr id="31" name="TextBox 31"/>
            <p:cNvSpPr txBox="1"/>
            <p:nvPr/>
          </p:nvSpPr>
          <p:spPr>
            <a:xfrm>
              <a:off x="887349" y="6038850"/>
              <a:ext cx="8098587"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公开验证不代表取消所有信任：认可根、挑战发布、密码学与底层公开数据仍是基础。</a:t>
              </a:r>
            </a:p>
          </p:txBody>
        </p:sp>
      </p:grpSp>
    </p:spTree>
  </p:cSld>
  <p:clrMapOvr>
    <a:masterClrMapping/>
  </p:clrMapOvr>
</p:sld>
</file>

<file path=ppt/slides/slide13.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sp>
        <p:nvSpPr>
          <p:cNvPr id="26" name="矩形 25"/>
          <p:cNvSpPr/>
          <p:nvPr/>
        </p:nvSpPr>
        <p:spPr>
          <a:xfrm>
            <a:off x="685800" y="495300"/>
            <a:ext cx="10810875" cy="495300"/>
          </a:xfrm>
          <a:prstGeom prst="rect">
            <a:avLst/>
          </a:prstGeom>
          <a:noFill/>
          <a:ln>
            <a:noFill/>
          </a:ln>
        </p:spPr>
        <p:txBody>
          <a:bodyPr wrap="none" lIns="91440" tIns="67151" rIns="0" bIns="0" anchor="t" anchorCtr="0">
            <a:noAutofit/>
          </a:bodyPr>
          <a:lstStyle/>
          <a:p>
            <a:pPr algn="l"/>
            <a:r>
              <a:rPr lang="zh-CN" sz="2620" b="1" dirty="0">
                <a:solidFill>
                  <a:srgbClr val="172B4D"/>
                </a:solidFill>
                <a:latin typeface="Microsoft YaHei"/>
                <a:ea typeface="Microsoft YaHei"/>
                <a:cs typeface="Microsoft YaHei"/>
              </a:rPr>
              <a:t>安全分析：保护机制与覆盖边界</a:t>
            </a:r>
          </a:p>
        </p:txBody>
      </p:sp>
      <p:sp>
        <p:nvSpPr>
          <p:cNvPr id="3" name="Line 3"/>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6" name="page-footer"/>
          <p:cNvGrpSpPr/>
          <p:nvPr/>
        </p:nvGrpSpPr>
        <p:grpSpPr>
          <a:xfrm>
            <a:off x="776288" y="6524625"/>
            <a:ext cx="10629899" cy="176212"/>
            <a:chOff x="776288" y="6524625"/>
            <a:chExt cx="10629899" cy="176212"/>
          </a:xfrm>
        </p:grpSpPr>
        <p:sp>
          <p:nvSpPr>
            <p:cNvPr id="4" name="TextBox 4"/>
            <p:cNvSpPr txBox="1"/>
            <p:nvPr/>
          </p:nvSpPr>
          <p:spPr>
            <a:xfrm>
              <a:off x="776288" y="6524625"/>
              <a:ext cx="1662760"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02 zRA 设计 · 论文 V-A / V-B</a:t>
              </a:r>
            </a:p>
          </p:txBody>
        </p:sp>
        <p:sp>
          <p:nvSpPr>
            <p:cNvPr id="5" name="TextBox 5"/>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13 / 20</a:t>
              </a:r>
            </a:p>
          </p:txBody>
        </p:sp>
      </p:grpSp>
      <p:grpSp>
        <p:nvGrpSpPr>
          <p:cNvPr id="47" name="security-matrix"/>
          <p:cNvGrpSpPr/>
          <p:nvPr/>
        </p:nvGrpSpPr>
        <p:grpSpPr>
          <a:xfrm>
            <a:off x="762000" y="1571625"/>
            <a:ext cx="10668000" cy="2876550"/>
            <a:chOff x="762000" y="1571625"/>
            <a:chExt cx="10668000" cy="2876550"/>
          </a:xfrm>
        </p:grpSpPr>
        <p:sp>
          <p:nvSpPr>
            <p:cNvPr id="7" name="Rectangle 7"/>
            <p:cNvSpPr/>
            <p:nvPr/>
          </p:nvSpPr>
          <p:spPr>
            <a:xfrm>
              <a:off x="762000" y="1571625"/>
              <a:ext cx="10668000" cy="479425"/>
            </a:xfrm>
            <a:prstGeom prst="rect">
              <a:avLst/>
            </a:prstGeom>
            <a:solidFill>
              <a:srgbClr val="2F4F98"/>
            </a:solidFill>
            <a:ln>
              <a:noFill/>
            </a:ln>
          </p:spPr>
        </p:sp>
        <p:sp>
          <p:nvSpPr>
            <p:cNvPr id="8" name="Rectangle 8"/>
            <p:cNvSpPr/>
            <p:nvPr/>
          </p:nvSpPr>
          <p:spPr>
            <a:xfrm>
              <a:off x="762000" y="1571625"/>
              <a:ext cx="2416969" cy="479425"/>
            </a:xfrm>
            <a:prstGeom prst="rect">
              <a:avLst/>
            </a:prstGeom>
            <a:solidFill>
              <a:srgbClr val="2F4F98"/>
            </a:solidFill>
            <a:ln w="9525">
              <a:solidFill>
                <a:srgbClr val="D6E1EF"/>
              </a:solidFill>
            </a:ln>
          </p:spPr>
        </p:sp>
        <p:sp>
          <p:nvSpPr>
            <p:cNvPr id="9" name="TextBox 9"/>
            <p:cNvSpPr txBox="1"/>
            <p:nvPr/>
          </p:nvSpPr>
          <p:spPr>
            <a:xfrm>
              <a:off x="1465511" y="1696879"/>
              <a:ext cx="1009946"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icrosoft YaHei"/>
                  <a:ea typeface="Microsoft YaHei"/>
                  <a:cs typeface="Microsoft YaHei"/>
                </a:rPr>
                <a:t>攻击 / 风险</a:t>
              </a:r>
            </a:p>
          </p:txBody>
        </p:sp>
        <p:sp>
          <p:nvSpPr>
            <p:cNvPr id="10" name="Rectangle 10"/>
            <p:cNvSpPr/>
            <p:nvPr/>
          </p:nvSpPr>
          <p:spPr>
            <a:xfrm>
              <a:off x="3178969" y="1571625"/>
              <a:ext cx="3917156" cy="479425"/>
            </a:xfrm>
            <a:prstGeom prst="rect">
              <a:avLst/>
            </a:prstGeom>
            <a:solidFill>
              <a:srgbClr val="2F4F98"/>
            </a:solidFill>
            <a:ln w="9525">
              <a:solidFill>
                <a:srgbClr val="D6E1EF"/>
              </a:solidFill>
            </a:ln>
          </p:spPr>
        </p:sp>
        <p:sp>
          <p:nvSpPr>
            <p:cNvPr id="11" name="TextBox 11"/>
            <p:cNvSpPr txBox="1"/>
            <p:nvPr/>
          </p:nvSpPr>
          <p:spPr>
            <a:xfrm>
              <a:off x="4747987" y="1696879"/>
              <a:ext cx="779120"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icrosoft YaHei"/>
                  <a:ea typeface="Microsoft YaHei"/>
                  <a:cs typeface="Microsoft YaHei"/>
                </a:rPr>
                <a:t>对应机制</a:t>
              </a:r>
            </a:p>
          </p:txBody>
        </p:sp>
        <p:sp>
          <p:nvSpPr>
            <p:cNvPr id="12" name="Rectangle 12"/>
            <p:cNvSpPr/>
            <p:nvPr/>
          </p:nvSpPr>
          <p:spPr>
            <a:xfrm>
              <a:off x="7096125" y="1571625"/>
              <a:ext cx="4333875" cy="479425"/>
            </a:xfrm>
            <a:prstGeom prst="rect">
              <a:avLst/>
            </a:prstGeom>
            <a:solidFill>
              <a:srgbClr val="2F4F98"/>
            </a:solidFill>
            <a:ln w="9525">
              <a:solidFill>
                <a:srgbClr val="D6E1EF"/>
              </a:solidFill>
            </a:ln>
          </p:spPr>
        </p:sp>
        <p:sp>
          <p:nvSpPr>
            <p:cNvPr id="13" name="TextBox 13"/>
            <p:cNvSpPr txBox="1"/>
            <p:nvPr/>
          </p:nvSpPr>
          <p:spPr>
            <a:xfrm>
              <a:off x="8586762" y="1696879"/>
              <a:ext cx="1352601"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icrosoft YaHei"/>
                  <a:ea typeface="Microsoft YaHei"/>
                  <a:cs typeface="Microsoft YaHei"/>
                </a:rPr>
                <a:t>必须保留的边界</a:t>
              </a:r>
            </a:p>
          </p:txBody>
        </p:sp>
        <p:sp>
          <p:nvSpPr>
            <p:cNvPr id="14" name="Rectangle 14"/>
            <p:cNvSpPr/>
            <p:nvPr/>
          </p:nvSpPr>
          <p:spPr>
            <a:xfrm>
              <a:off x="762000" y="2051050"/>
              <a:ext cx="2416969" cy="479425"/>
            </a:xfrm>
            <a:prstGeom prst="rect">
              <a:avLst/>
            </a:prstGeom>
            <a:solidFill>
              <a:srgbClr val="FFFFFF"/>
            </a:solidFill>
            <a:ln w="9525">
              <a:solidFill>
                <a:srgbClr val="D6E1EF"/>
              </a:solidFill>
            </a:ln>
          </p:spPr>
        </p:sp>
        <p:sp>
          <p:nvSpPr>
            <p:cNvPr id="15" name="TextBox 15"/>
            <p:cNvSpPr txBox="1"/>
            <p:nvPr/>
          </p:nvSpPr>
          <p:spPr>
            <a:xfrm>
              <a:off x="850011" y="2176304"/>
              <a:ext cx="1161440" cy="278702"/>
            </a:xfrm>
            <a:prstGeom prst="rect">
              <a:avLst/>
            </a:prstGeom>
            <a:noFill/>
            <a:ln>
              <a:noFill/>
            </a:ln>
          </p:spPr>
          <p:txBody>
            <a:bodyPr wrap="none" lIns="0" tIns="0" rIns="0" bIns="0" anchor="t" anchorCtr="0">
              <a:spAutoFit/>
            </a:bodyPr>
            <a:lstStyle/>
            <a:p>
              <a:pPr algn="l"/>
              <a:r>
                <a:rPr lang="zh-CN" sz="1420" dirty="0">
                  <a:solidFill>
                    <a:srgbClr val="172B4D"/>
                  </a:solidFill>
                  <a:latin typeface="Microsoft YaHei"/>
                  <a:ea typeface="Microsoft YaHei"/>
                  <a:cs typeface="Microsoft YaHei"/>
                </a:rPr>
                <a:t>伪造正确响应</a:t>
              </a:r>
            </a:p>
          </p:txBody>
        </p:sp>
        <p:sp>
          <p:nvSpPr>
            <p:cNvPr id="16" name="Rectangle 16"/>
            <p:cNvSpPr/>
            <p:nvPr/>
          </p:nvSpPr>
          <p:spPr>
            <a:xfrm>
              <a:off x="3178969" y="2051050"/>
              <a:ext cx="3917156" cy="479425"/>
            </a:xfrm>
            <a:prstGeom prst="rect">
              <a:avLst/>
            </a:prstGeom>
            <a:solidFill>
              <a:srgbClr val="FFFFFF"/>
            </a:solidFill>
            <a:ln w="9525">
              <a:solidFill>
                <a:srgbClr val="D6E1EF"/>
              </a:solidFill>
            </a:ln>
          </p:spPr>
        </p:sp>
        <p:sp>
          <p:nvSpPr>
            <p:cNvPr id="17" name="TextBox 17"/>
            <p:cNvSpPr txBox="1"/>
            <p:nvPr/>
          </p:nvSpPr>
          <p:spPr>
            <a:xfrm>
              <a:off x="3704463" y="2176304"/>
              <a:ext cx="2866169"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zkSNARK 可靠性 ＋ 承诺成员关系</a:t>
              </a:r>
            </a:p>
          </p:txBody>
        </p:sp>
        <p:sp>
          <p:nvSpPr>
            <p:cNvPr id="18" name="Rectangle 18"/>
            <p:cNvSpPr/>
            <p:nvPr/>
          </p:nvSpPr>
          <p:spPr>
            <a:xfrm>
              <a:off x="7096125" y="2051050"/>
              <a:ext cx="4333875" cy="479425"/>
            </a:xfrm>
            <a:prstGeom prst="rect">
              <a:avLst/>
            </a:prstGeom>
            <a:solidFill>
              <a:srgbClr val="FFFFFF"/>
            </a:solidFill>
            <a:ln w="9525">
              <a:solidFill>
                <a:srgbClr val="D6E1EF"/>
              </a:solidFill>
            </a:ln>
          </p:spPr>
        </p:sp>
        <p:sp>
          <p:nvSpPr>
            <p:cNvPr id="19" name="TextBox 19"/>
            <p:cNvSpPr txBox="1"/>
            <p:nvPr/>
          </p:nvSpPr>
          <p:spPr>
            <a:xfrm>
              <a:off x="7759723" y="2176304"/>
              <a:ext cx="3006679"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测量真实性依赖安全的 ROM / MPU</a:t>
              </a:r>
            </a:p>
          </p:txBody>
        </p:sp>
        <p:sp>
          <p:nvSpPr>
            <p:cNvPr id="20" name="Rectangle 20"/>
            <p:cNvSpPr/>
            <p:nvPr/>
          </p:nvSpPr>
          <p:spPr>
            <a:xfrm>
              <a:off x="762000" y="2530475"/>
              <a:ext cx="2416969" cy="479425"/>
            </a:xfrm>
            <a:prstGeom prst="rect">
              <a:avLst/>
            </a:prstGeom>
            <a:solidFill>
              <a:srgbClr val="FFFFFF"/>
            </a:solidFill>
            <a:ln w="9525">
              <a:solidFill>
                <a:srgbClr val="D6E1EF"/>
              </a:solidFill>
            </a:ln>
          </p:spPr>
        </p:sp>
        <p:sp>
          <p:nvSpPr>
            <p:cNvPr id="21" name="TextBox 21"/>
            <p:cNvSpPr txBox="1"/>
            <p:nvPr/>
          </p:nvSpPr>
          <p:spPr>
            <a:xfrm>
              <a:off x="850011" y="2655729"/>
              <a:ext cx="1763596" cy="278702"/>
            </a:xfrm>
            <a:prstGeom prst="rect">
              <a:avLst/>
            </a:prstGeom>
            <a:noFill/>
            <a:ln>
              <a:noFill/>
            </a:ln>
          </p:spPr>
          <p:txBody>
            <a:bodyPr wrap="none" lIns="0" tIns="0" rIns="0" bIns="0" anchor="t" anchorCtr="0">
              <a:spAutoFit/>
            </a:bodyPr>
            <a:lstStyle/>
            <a:p>
              <a:pPr algn="l"/>
              <a:r>
                <a:rPr lang="zh-CN" sz="1420" dirty="0">
                  <a:solidFill>
                    <a:srgbClr val="172B4D"/>
                  </a:solidFill>
                  <a:latin typeface="Microsoft YaHei"/>
                  <a:ea typeface="Microsoft YaHei"/>
                  <a:cs typeface="Microsoft YaHei"/>
                </a:rPr>
                <a:t>旧证明 / 他设备证明</a:t>
              </a:r>
            </a:p>
          </p:txBody>
        </p:sp>
        <p:sp>
          <p:nvSpPr>
            <p:cNvPr id="22" name="Rectangle 22"/>
            <p:cNvSpPr/>
            <p:nvPr/>
          </p:nvSpPr>
          <p:spPr>
            <a:xfrm>
              <a:off x="3178969" y="2530475"/>
              <a:ext cx="3917156" cy="479425"/>
            </a:xfrm>
            <a:prstGeom prst="rect">
              <a:avLst/>
            </a:prstGeom>
            <a:solidFill>
              <a:srgbClr val="FFFFFF"/>
            </a:solidFill>
            <a:ln w="9525">
              <a:solidFill>
                <a:srgbClr val="D6E1EF"/>
              </a:solidFill>
            </a:ln>
          </p:spPr>
        </p:sp>
        <p:sp>
          <p:nvSpPr>
            <p:cNvPr id="23" name="TextBox 23"/>
            <p:cNvSpPr txBox="1"/>
            <p:nvPr/>
          </p:nvSpPr>
          <p:spPr>
            <a:xfrm>
              <a:off x="3734837" y="2655729"/>
              <a:ext cx="2805420"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挑战与身份绑定 ＋ 最新挑战检查</a:t>
              </a:r>
            </a:p>
          </p:txBody>
        </p:sp>
        <p:sp>
          <p:nvSpPr>
            <p:cNvPr id="24" name="Rectangle 24"/>
            <p:cNvSpPr/>
            <p:nvPr/>
          </p:nvSpPr>
          <p:spPr>
            <a:xfrm>
              <a:off x="7096125" y="2530475"/>
              <a:ext cx="4333875" cy="479425"/>
            </a:xfrm>
            <a:prstGeom prst="rect">
              <a:avLst/>
            </a:prstGeom>
            <a:solidFill>
              <a:srgbClr val="FFFFFF"/>
            </a:solidFill>
            <a:ln w="9525">
              <a:solidFill>
                <a:srgbClr val="D6E1EF"/>
              </a:solidFill>
            </a:ln>
          </p:spPr>
        </p:sp>
        <p:sp>
          <p:nvSpPr>
            <p:cNvPr id="25" name="TextBox 25"/>
            <p:cNvSpPr txBox="1"/>
            <p:nvPr/>
          </p:nvSpPr>
          <p:spPr>
            <a:xfrm>
              <a:off x="7917701" y="2655729"/>
              <a:ext cx="2690724"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同周期内重复提交需由应用定义</a:t>
              </a:r>
            </a:p>
          </p:txBody>
        </p:sp>
        <p:sp>
          <p:nvSpPr>
            <p:cNvPr id="27" name="Rectangle 27"/>
            <p:cNvSpPr/>
            <p:nvPr/>
          </p:nvSpPr>
          <p:spPr>
            <a:xfrm>
              <a:off x="762000" y="3009900"/>
              <a:ext cx="2416969" cy="479425"/>
            </a:xfrm>
            <a:prstGeom prst="rect">
              <a:avLst/>
            </a:prstGeom>
            <a:solidFill>
              <a:srgbClr val="FFFFFF"/>
            </a:solidFill>
            <a:ln w="9525">
              <a:solidFill>
                <a:srgbClr val="D6E1EF"/>
              </a:solidFill>
            </a:ln>
          </p:spPr>
        </p:sp>
        <p:sp>
          <p:nvSpPr>
            <p:cNvPr id="28" name="TextBox 28"/>
            <p:cNvSpPr txBox="1"/>
            <p:nvPr/>
          </p:nvSpPr>
          <p:spPr>
            <a:xfrm>
              <a:off x="850011" y="3135154"/>
              <a:ext cx="1734922" cy="278702"/>
            </a:xfrm>
            <a:prstGeom prst="rect">
              <a:avLst/>
            </a:prstGeom>
            <a:noFill/>
            <a:ln>
              <a:noFill/>
            </a:ln>
          </p:spPr>
          <p:txBody>
            <a:bodyPr wrap="none" lIns="0" tIns="0" rIns="0" bIns="0" anchor="t" anchorCtr="0">
              <a:spAutoFit/>
            </a:bodyPr>
            <a:lstStyle/>
            <a:p>
              <a:pPr algn="l"/>
              <a:r>
                <a:rPr lang="zh-CN" sz="1420" dirty="0">
                  <a:solidFill>
                    <a:srgbClr val="172B4D"/>
                  </a:solidFill>
                  <a:latin typeface="Microsoft YaHei"/>
                  <a:ea typeface="Microsoft YaHei"/>
                  <a:cs typeface="Microsoft YaHei"/>
                </a:rPr>
                <a:t>消息或公开输入篡改</a:t>
              </a:r>
            </a:p>
          </p:txBody>
        </p:sp>
        <p:sp>
          <p:nvSpPr>
            <p:cNvPr id="29" name="Rectangle 29"/>
            <p:cNvSpPr/>
            <p:nvPr/>
          </p:nvSpPr>
          <p:spPr>
            <a:xfrm>
              <a:off x="3178969" y="3009900"/>
              <a:ext cx="3917156" cy="479425"/>
            </a:xfrm>
            <a:prstGeom prst="rect">
              <a:avLst/>
            </a:prstGeom>
            <a:solidFill>
              <a:srgbClr val="FFFFFF"/>
            </a:solidFill>
            <a:ln w="9525">
              <a:solidFill>
                <a:srgbClr val="D6E1EF"/>
              </a:solidFill>
            </a:ln>
          </p:spPr>
        </p:sp>
        <p:sp>
          <p:nvSpPr>
            <p:cNvPr id="30" name="TextBox 30"/>
            <p:cNvSpPr txBox="1"/>
            <p:nvPr/>
          </p:nvSpPr>
          <p:spPr>
            <a:xfrm>
              <a:off x="3768651" y="3135154"/>
              <a:ext cx="2737792"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数字签名 / 交易身份 ＋ ZK 验证</a:t>
              </a:r>
            </a:p>
          </p:txBody>
        </p:sp>
        <p:sp>
          <p:nvSpPr>
            <p:cNvPr id="31" name="Rectangle 31"/>
            <p:cNvSpPr/>
            <p:nvPr/>
          </p:nvSpPr>
          <p:spPr>
            <a:xfrm>
              <a:off x="7096125" y="3009900"/>
              <a:ext cx="4333875" cy="479425"/>
            </a:xfrm>
            <a:prstGeom prst="rect">
              <a:avLst/>
            </a:prstGeom>
            <a:solidFill>
              <a:srgbClr val="FFFFFF"/>
            </a:solidFill>
            <a:ln w="9525">
              <a:solidFill>
                <a:srgbClr val="D6E1EF"/>
              </a:solidFill>
            </a:ln>
          </p:spPr>
        </p:sp>
        <p:sp>
          <p:nvSpPr>
            <p:cNvPr id="32" name="TextBox 32"/>
            <p:cNvSpPr txBox="1"/>
            <p:nvPr/>
          </p:nvSpPr>
          <p:spPr>
            <a:xfrm>
              <a:off x="7822120" y="3135154"/>
              <a:ext cx="2881884"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密码学原语及底层网络需保持安全</a:t>
              </a:r>
            </a:p>
          </p:txBody>
        </p:sp>
        <p:sp>
          <p:nvSpPr>
            <p:cNvPr id="35" name="Rectangle 35"/>
            <p:cNvSpPr/>
            <p:nvPr/>
          </p:nvSpPr>
          <p:spPr>
            <a:xfrm>
              <a:off x="762000" y="3489325"/>
              <a:ext cx="2416969" cy="479425"/>
            </a:xfrm>
            <a:prstGeom prst="rect">
              <a:avLst/>
            </a:prstGeom>
            <a:solidFill>
              <a:srgbClr val="FFFFFF"/>
            </a:solidFill>
            <a:ln w="9525">
              <a:solidFill>
                <a:srgbClr val="D6E1EF"/>
              </a:solidFill>
            </a:ln>
          </p:spPr>
        </p:sp>
        <p:sp>
          <p:nvSpPr>
            <p:cNvPr id="36" name="TextBox 36"/>
            <p:cNvSpPr txBox="1"/>
            <p:nvPr/>
          </p:nvSpPr>
          <p:spPr>
            <a:xfrm>
              <a:off x="850011" y="3614579"/>
              <a:ext cx="1165949" cy="278702"/>
            </a:xfrm>
            <a:prstGeom prst="rect">
              <a:avLst/>
            </a:prstGeom>
            <a:noFill/>
            <a:ln>
              <a:noFill/>
            </a:ln>
          </p:spPr>
          <p:txBody>
            <a:bodyPr wrap="none" lIns="0" tIns="0" rIns="0" bIns="0" anchor="t" anchorCtr="0">
              <a:spAutoFit/>
            </a:bodyPr>
            <a:lstStyle/>
            <a:p>
              <a:pPr algn="l"/>
              <a:r>
                <a:rPr lang="zh-CN" sz="1420" dirty="0">
                  <a:solidFill>
                    <a:srgbClr val="172B4D"/>
                  </a:solidFill>
                  <a:latin typeface="Microsoft YaHei"/>
                  <a:ea typeface="Microsoft YaHei"/>
                  <a:cs typeface="Microsoft YaHei"/>
                </a:rPr>
                <a:t>集中服务 DoS</a:t>
              </a:r>
            </a:p>
          </p:txBody>
        </p:sp>
        <p:sp>
          <p:nvSpPr>
            <p:cNvPr id="37" name="Rectangle 37"/>
            <p:cNvSpPr/>
            <p:nvPr/>
          </p:nvSpPr>
          <p:spPr>
            <a:xfrm>
              <a:off x="3178969" y="3489325"/>
              <a:ext cx="3917156" cy="479425"/>
            </a:xfrm>
            <a:prstGeom prst="rect">
              <a:avLst/>
            </a:prstGeom>
            <a:solidFill>
              <a:srgbClr val="FFFFFF"/>
            </a:solidFill>
            <a:ln w="9525">
              <a:solidFill>
                <a:srgbClr val="D6E1EF"/>
              </a:solidFill>
            </a:ln>
          </p:spPr>
        </p:sp>
        <p:sp>
          <p:nvSpPr>
            <p:cNvPr id="38" name="TextBox 38"/>
            <p:cNvSpPr txBox="1"/>
            <p:nvPr/>
          </p:nvSpPr>
          <p:spPr>
            <a:xfrm>
              <a:off x="3887765" y="3614579"/>
              <a:ext cx="2499563"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制造商不处理逐设备在线请求</a:t>
              </a:r>
            </a:p>
          </p:txBody>
        </p:sp>
        <p:sp>
          <p:nvSpPr>
            <p:cNvPr id="39" name="Rectangle 39"/>
            <p:cNvSpPr/>
            <p:nvPr/>
          </p:nvSpPr>
          <p:spPr>
            <a:xfrm>
              <a:off x="7096125" y="3489325"/>
              <a:ext cx="4333875" cy="479425"/>
            </a:xfrm>
            <a:prstGeom prst="rect">
              <a:avLst/>
            </a:prstGeom>
            <a:solidFill>
              <a:srgbClr val="FFFFFF"/>
            </a:solidFill>
            <a:ln w="9525">
              <a:solidFill>
                <a:srgbClr val="D6E1EF"/>
              </a:solidFill>
            </a:ln>
          </p:spPr>
        </p:sp>
        <p:sp>
          <p:nvSpPr>
            <p:cNvPr id="40" name="TextBox 40"/>
            <p:cNvSpPr txBox="1"/>
            <p:nvPr/>
          </p:nvSpPr>
          <p:spPr>
            <a:xfrm>
              <a:off x="7623476" y="3614579"/>
              <a:ext cx="3279173"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RPC、链上拥堵与合约 DoS 未全部覆盖</a:t>
              </a:r>
            </a:p>
          </p:txBody>
        </p:sp>
        <p:sp>
          <p:nvSpPr>
            <p:cNvPr id="41" name="Rectangle 41"/>
            <p:cNvSpPr/>
            <p:nvPr/>
          </p:nvSpPr>
          <p:spPr>
            <a:xfrm>
              <a:off x="762000" y="3968750"/>
              <a:ext cx="2416969" cy="479425"/>
            </a:xfrm>
            <a:prstGeom prst="rect">
              <a:avLst/>
            </a:prstGeom>
            <a:solidFill>
              <a:srgbClr val="FFFFFF"/>
            </a:solidFill>
            <a:ln w="9525">
              <a:solidFill>
                <a:srgbClr val="D6E1EF"/>
              </a:solidFill>
            </a:ln>
          </p:spPr>
        </p:sp>
        <p:sp>
          <p:nvSpPr>
            <p:cNvPr id="42" name="TextBox 42"/>
            <p:cNvSpPr txBox="1"/>
            <p:nvPr/>
          </p:nvSpPr>
          <p:spPr>
            <a:xfrm>
              <a:off x="850011" y="4094004"/>
              <a:ext cx="1381275" cy="278702"/>
            </a:xfrm>
            <a:prstGeom prst="rect">
              <a:avLst/>
            </a:prstGeom>
            <a:noFill/>
            <a:ln>
              <a:noFill/>
            </a:ln>
          </p:spPr>
          <p:txBody>
            <a:bodyPr wrap="none" lIns="0" tIns="0" rIns="0" bIns="0" anchor="t" anchorCtr="0">
              <a:spAutoFit/>
            </a:bodyPr>
            <a:lstStyle/>
            <a:p>
              <a:pPr algn="l"/>
              <a:r>
                <a:rPr lang="zh-CN" sz="1420" dirty="0">
                  <a:solidFill>
                    <a:srgbClr val="172B4D"/>
                  </a:solidFill>
                  <a:latin typeface="Microsoft YaHei"/>
                  <a:ea typeface="Microsoft YaHei"/>
                  <a:cs typeface="Microsoft YaHei"/>
                </a:rPr>
                <a:t>软件更新 / 回滚</a:t>
              </a:r>
            </a:p>
          </p:txBody>
        </p:sp>
        <p:sp>
          <p:nvSpPr>
            <p:cNvPr id="43" name="Rectangle 43"/>
            <p:cNvSpPr/>
            <p:nvPr/>
          </p:nvSpPr>
          <p:spPr>
            <a:xfrm>
              <a:off x="3178969" y="3968750"/>
              <a:ext cx="3917156" cy="479425"/>
            </a:xfrm>
            <a:prstGeom prst="rect">
              <a:avLst/>
            </a:prstGeom>
            <a:solidFill>
              <a:srgbClr val="FFFFFF"/>
            </a:solidFill>
            <a:ln w="9525">
              <a:solidFill>
                <a:srgbClr val="D6E1EF"/>
              </a:solidFill>
            </a:ln>
          </p:spPr>
        </p:sp>
        <p:sp>
          <p:nvSpPr>
            <p:cNvPr id="44" name="TextBox 44"/>
            <p:cNvSpPr txBox="1"/>
            <p:nvPr/>
          </p:nvSpPr>
          <p:spPr>
            <a:xfrm>
              <a:off x="4174506" y="4094004"/>
              <a:ext cx="1926082"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更新根、二进制与挑战</a:t>
              </a:r>
            </a:p>
          </p:txBody>
        </p:sp>
        <p:sp>
          <p:nvSpPr>
            <p:cNvPr id="45" name="Rectangle 45"/>
            <p:cNvSpPr/>
            <p:nvPr/>
          </p:nvSpPr>
          <p:spPr>
            <a:xfrm>
              <a:off x="7096125" y="3968750"/>
              <a:ext cx="4333875" cy="479425"/>
            </a:xfrm>
            <a:prstGeom prst="rect">
              <a:avLst/>
            </a:prstGeom>
            <a:solidFill>
              <a:srgbClr val="FFFFFF"/>
            </a:solidFill>
            <a:ln w="9525">
              <a:solidFill>
                <a:srgbClr val="D6E1EF"/>
              </a:solidFill>
            </a:ln>
          </p:spPr>
        </p:sp>
        <p:sp>
          <p:nvSpPr>
            <p:cNvPr id="46" name="TextBox 46"/>
            <p:cNvSpPr txBox="1"/>
            <p:nvPr/>
          </p:nvSpPr>
          <p:spPr>
            <a:xfrm>
              <a:off x="8204441" y="4094004"/>
              <a:ext cx="2117242" cy="278702"/>
            </a:xfrm>
            <a:prstGeom prst="rect">
              <a:avLst/>
            </a:prstGeom>
            <a:noFill/>
            <a:ln>
              <a:noFill/>
            </a:ln>
          </p:spPr>
          <p:txBody>
            <a:bodyPr wrap="none" lIns="0" tIns="0" rIns="0" bIns="0" anchor="t" anchorCtr="0">
              <a:spAutoFit/>
            </a:bodyPr>
            <a:lstStyle/>
            <a:p>
              <a:pPr algn="ctr"/>
              <a:r>
                <a:rPr lang="zh-CN" sz="1420" dirty="0">
                  <a:solidFill>
                    <a:srgbClr val="172B4D"/>
                  </a:solidFill>
                  <a:latin typeface="Microsoft YaHei"/>
                  <a:ea typeface="Microsoft YaHei"/>
                  <a:cs typeface="Microsoft YaHei"/>
                </a:rPr>
                <a:t>需维护认可根与更新策略</a:t>
              </a:r>
            </a:p>
          </p:txBody>
        </p:sp>
      </p:grpSp>
      <p:grpSp>
        <p:nvGrpSpPr>
          <p:cNvPr id="50" name="adversary"/>
          <p:cNvGrpSpPr/>
          <p:nvPr/>
        </p:nvGrpSpPr>
        <p:grpSpPr>
          <a:xfrm>
            <a:off x="790575" y="4791075"/>
            <a:ext cx="9238107" cy="1007554"/>
            <a:chOff x="790575" y="4791075"/>
            <a:chExt cx="9238107" cy="1007554"/>
          </a:xfrm>
        </p:grpSpPr>
        <p:sp>
          <p:nvSpPr>
            <p:cNvPr id="48" name="TextBox 48"/>
            <p:cNvSpPr txBox="1"/>
            <p:nvPr/>
          </p:nvSpPr>
          <p:spPr>
            <a:xfrm>
              <a:off x="790575" y="4791075"/>
              <a:ext cx="1284478"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攻击者模型</a:t>
              </a:r>
            </a:p>
          </p:txBody>
        </p:sp>
        <p:sp>
          <p:nvSpPr>
            <p:cNvPr id="49" name="TextBox 49"/>
            <p:cNvSpPr txBox="1"/>
            <p:nvPr/>
          </p:nvSpPr>
          <p:spPr>
            <a:xfrm>
              <a:off x="791718" y="5172075"/>
              <a:ext cx="9236964"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可监听、截获、篡改消息，并控制设备普通软件层；信任锚不能被攻破。论文不覆盖设备物理捕获、</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硬件篡改，也不保证测量后一直处于正确状态。</a:t>
              </a:r>
            </a:p>
          </p:txBody>
        </p:sp>
      </p:grpSp>
      <p:grpSp>
        <p:nvGrpSpPr>
          <p:cNvPr id="53" name="takeaway"/>
          <p:cNvGrpSpPr/>
          <p:nvPr/>
        </p:nvGrpSpPr>
        <p:grpSpPr>
          <a:xfrm>
            <a:off x="723900" y="5924550"/>
            <a:ext cx="10744200" cy="466725"/>
            <a:chOff x="723900" y="5924550"/>
            <a:chExt cx="10744200" cy="466725"/>
          </a:xfrm>
        </p:grpSpPr>
        <p:sp>
          <p:nvSpPr>
            <p:cNvPr id="51" name="Rectangle 51"/>
            <p:cNvSpPr/>
            <p:nvPr/>
          </p:nvSpPr>
          <p:spPr>
            <a:xfrm>
              <a:off x="723900" y="5924550"/>
              <a:ext cx="10744200" cy="466725"/>
            </a:xfrm>
            <a:prstGeom prst="roundRect">
              <a:avLst>
                <a:gd name="adj" fmla="val 12245"/>
              </a:avLst>
            </a:prstGeom>
            <a:solidFill>
              <a:srgbClr val="EDF3FB"/>
            </a:solidFill>
            <a:ln>
              <a:noFill/>
            </a:ln>
          </p:spPr>
        </p:sp>
        <p:sp>
          <p:nvSpPr>
            <p:cNvPr id="52" name="TextBox 52"/>
            <p:cNvSpPr txBox="1"/>
            <p:nvPr/>
          </p:nvSpPr>
          <p:spPr>
            <a:xfrm>
              <a:off x="887349" y="6038850"/>
              <a:ext cx="8164524"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安全结论应限定在论文攻击模型内，不能把“可公开证明”直接等同于“设备绝对安全”。</a:t>
              </a:r>
            </a:p>
          </p:txBody>
        </p:sp>
      </p:grpSp>
    </p:spTree>
  </p:cSld>
  <p:clrMapOvr>
    <a:masterClrMapping/>
  </p:clrMapOvr>
</p:sld>
</file>

<file path=ppt/slides/slide14.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grpSp>
        <p:nvGrpSpPr>
          <p:cNvPr id="3" name="page-title"/>
          <p:cNvGrpSpPr/>
          <p:nvPr/>
        </p:nvGrpSpPr>
        <p:grpSpPr>
          <a:xfrm>
            <a:off x="763905" y="528320"/>
            <a:ext cx="5669940" cy="513398"/>
            <a:chOff x="763905" y="528320"/>
            <a:chExt cx="5669940" cy="513398"/>
          </a:xfrm>
        </p:grpSpPr>
        <p:sp>
          <p:nvSpPr>
            <p:cNvPr id="2" name="TextBox 2"/>
            <p:cNvSpPr txBox="1"/>
            <p:nvPr/>
          </p:nvSpPr>
          <p:spPr>
            <a:xfrm>
              <a:off x="763905" y="528320"/>
              <a:ext cx="5669940" cy="513398"/>
            </a:xfrm>
            <a:prstGeom prst="rect">
              <a:avLst/>
            </a:prstGeom>
            <a:noFill/>
            <a:ln>
              <a:noFill/>
            </a:ln>
          </p:spPr>
          <p:txBody>
            <a:bodyPr wrap="none" lIns="0" tIns="0" rIns="0" bIns="0" anchor="t" anchorCtr="0">
              <a:spAutoFit/>
            </a:bodyPr>
            <a:lstStyle/>
            <a:p>
              <a:pPr algn="l"/>
              <a:r>
                <a:rPr lang="zh-CN" sz="2620" b="1" dirty="0">
                  <a:solidFill>
                    <a:srgbClr val="172B4D"/>
                  </a:solidFill>
                  <a:latin typeface="Microsoft YaHei"/>
                  <a:ea typeface="Microsoft YaHei"/>
                  <a:cs typeface="Microsoft YaHei"/>
                </a:rPr>
                <a:t>实验设置与存储：规模增长体现在哪</a:t>
              </a:r>
            </a:p>
          </p:txBody>
        </p:sp>
      </p:grpSp>
      <p:sp>
        <p:nvSpPr>
          <p:cNvPr id="4" name="Line 4"/>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7" name="page-footer"/>
          <p:cNvGrpSpPr/>
          <p:nvPr/>
        </p:nvGrpSpPr>
        <p:grpSpPr>
          <a:xfrm>
            <a:off x="776288" y="6524625"/>
            <a:ext cx="10629899" cy="176212"/>
            <a:chOff x="776288" y="6524625"/>
            <a:chExt cx="10629899" cy="176212"/>
          </a:xfrm>
        </p:grpSpPr>
        <p:sp>
          <p:nvSpPr>
            <p:cNvPr id="5" name="TextBox 5"/>
            <p:cNvSpPr txBox="1"/>
            <p:nvPr/>
          </p:nvSpPr>
          <p:spPr>
            <a:xfrm>
              <a:off x="776288" y="6524625"/>
              <a:ext cx="3195759"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03 原型与实验 · 论文 Table III / IV；Artifact Appendix C</a:t>
              </a:r>
            </a:p>
          </p:txBody>
        </p:sp>
        <p:sp>
          <p:nvSpPr>
            <p:cNvPr id="6" name="TextBox 6"/>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14 / 20</a:t>
              </a:r>
            </a:p>
          </p:txBody>
        </p:sp>
      </p:grpSp>
      <p:grpSp>
        <p:nvGrpSpPr>
          <p:cNvPr id="10" name="systems"/>
          <p:cNvGrpSpPr/>
          <p:nvPr/>
        </p:nvGrpSpPr>
        <p:grpSpPr>
          <a:xfrm>
            <a:off x="791718" y="1577975"/>
            <a:ext cx="7622575" cy="645541"/>
            <a:chOff x="791718" y="1577975"/>
            <a:chExt cx="7622575" cy="645541"/>
          </a:xfrm>
        </p:grpSpPr>
        <p:sp>
          <p:nvSpPr>
            <p:cNvPr id="8" name="TextBox 8"/>
            <p:cNvSpPr txBox="1"/>
            <p:nvPr/>
          </p:nvSpPr>
          <p:spPr>
            <a:xfrm>
              <a:off x="791718" y="1577975"/>
              <a:ext cx="7622575" cy="322707"/>
            </a:xfrm>
            <a:prstGeom prst="rect">
              <a:avLst/>
            </a:prstGeom>
            <a:noFill/>
            <a:ln>
              <a:noFill/>
            </a:ln>
          </p:spPr>
          <p:txBody>
            <a:bodyPr wrap="none" lIns="0" tIns="0" rIns="0" bIns="0" anchor="t" anchorCtr="0">
              <a:spAutoFit/>
            </a:bodyPr>
            <a:lstStyle/>
            <a:p>
              <a:pPr algn="l"/>
              <a:r>
                <a:rPr lang="zh-CN" sz="1650" dirty="0">
                  <a:solidFill>
                    <a:srgbClr val="172B4D"/>
                  </a:solidFill>
                  <a:latin typeface="Microsoft YaHei"/>
                  <a:ea typeface="Microsoft YaHei"/>
                  <a:cs typeface="Microsoft YaHei"/>
                </a:rPr>
                <a:t>平台：i5-12500H / 16 GiB；Pi Zero 2W / 512 MB；Tinker Board / 2 GiB。</a:t>
              </a:r>
            </a:p>
          </p:txBody>
        </p:sp>
        <p:sp>
          <p:nvSpPr>
            <p:cNvPr id="9" name="TextBox 9"/>
            <p:cNvSpPr txBox="1"/>
            <p:nvPr/>
          </p:nvSpPr>
          <p:spPr>
            <a:xfrm>
              <a:off x="792099" y="1914525"/>
              <a:ext cx="7145547" cy="308991"/>
            </a:xfrm>
            <a:prstGeom prst="rect">
              <a:avLst/>
            </a:prstGeom>
            <a:noFill/>
            <a:ln>
              <a:noFill/>
            </a:ln>
          </p:spPr>
          <p:txBody>
            <a:bodyPr wrap="none" lIns="0" tIns="0" rIns="0" bIns="0" anchor="t" anchorCtr="0">
              <a:spAutoFit/>
            </a:bodyPr>
            <a:lstStyle/>
            <a:p>
              <a:pPr algn="l"/>
              <a:r>
                <a:rPr lang="zh-CN" sz="1580" dirty="0">
                  <a:solidFill>
                    <a:srgbClr val="52657E"/>
                  </a:solidFill>
                  <a:latin typeface="Microsoft YaHei"/>
                  <a:ea typeface="Microsoft YaHei"/>
                  <a:cs typeface="Microsoft YaHei"/>
                </a:rPr>
                <a:t>主要评估设备端 Attestation；离线 Setup 没有计入论文的整体性能测量。</a:t>
              </a:r>
            </a:p>
          </p:txBody>
        </p:sp>
      </p:grpSp>
      <p:grpSp>
        <p:nvGrpSpPr>
          <p:cNvPr id="64" name="storage-results"/>
          <p:cNvGrpSpPr/>
          <p:nvPr/>
        </p:nvGrpSpPr>
        <p:grpSpPr>
          <a:xfrm>
            <a:off x="762000" y="2371725"/>
            <a:ext cx="10668000" cy="2305050"/>
            <a:chOff x="762000" y="2371725"/>
            <a:chExt cx="10668000" cy="2305050"/>
          </a:xfrm>
        </p:grpSpPr>
        <p:sp>
          <p:nvSpPr>
            <p:cNvPr id="11" name="Rectangle 11"/>
            <p:cNvSpPr/>
            <p:nvPr/>
          </p:nvSpPr>
          <p:spPr>
            <a:xfrm>
              <a:off x="762000" y="2371725"/>
              <a:ext cx="10668000" cy="461010"/>
            </a:xfrm>
            <a:prstGeom prst="rect">
              <a:avLst/>
            </a:prstGeom>
            <a:solidFill>
              <a:srgbClr val="2F4F98"/>
            </a:solidFill>
            <a:ln>
              <a:noFill/>
            </a:ln>
          </p:spPr>
        </p:sp>
        <p:sp>
          <p:nvSpPr>
            <p:cNvPr id="12" name="Rectangle 12"/>
            <p:cNvSpPr/>
            <p:nvPr/>
          </p:nvSpPr>
          <p:spPr>
            <a:xfrm>
              <a:off x="762000" y="2371725"/>
              <a:ext cx="1510513" cy="461010"/>
            </a:xfrm>
            <a:prstGeom prst="rect">
              <a:avLst/>
            </a:prstGeom>
            <a:solidFill>
              <a:srgbClr val="2F4F98"/>
            </a:solidFill>
            <a:ln w="9525">
              <a:solidFill>
                <a:srgbClr val="D6E1EF"/>
              </a:solidFill>
            </a:ln>
          </p:spPr>
        </p:sp>
        <p:sp>
          <p:nvSpPr>
            <p:cNvPr id="13" name="TextBox 13"/>
            <p:cNvSpPr txBox="1"/>
            <p:nvPr/>
          </p:nvSpPr>
          <p:spPr>
            <a:xfrm>
              <a:off x="1187629" y="2472372"/>
              <a:ext cx="659255" cy="322707"/>
            </a:xfrm>
            <a:prstGeom prst="rect">
              <a:avLst/>
            </a:prstGeom>
            <a:noFill/>
            <a:ln>
              <a:noFill/>
            </a:ln>
          </p:spPr>
          <p:txBody>
            <a:bodyPr wrap="none" lIns="0" tIns="0" rIns="0" bIns="0" anchor="t" anchorCtr="0">
              <a:spAutoFit/>
            </a:bodyPr>
            <a:lstStyle/>
            <a:p>
              <a:pPr algn="ctr"/>
              <a:r>
                <a:rPr lang="zh-CN" sz="1650" b="1" dirty="0">
                  <a:solidFill>
                    <a:srgbClr val="FFFFFF"/>
                  </a:solidFill>
                  <a:latin typeface="Microsoft YaHei"/>
                  <a:ea typeface="Microsoft YaHei"/>
                  <a:cs typeface="Microsoft YaHei"/>
                </a:rPr>
                <a:t>树高 h</a:t>
              </a:r>
            </a:p>
          </p:txBody>
        </p:sp>
        <p:sp>
          <p:nvSpPr>
            <p:cNvPr id="14" name="Rectangle 14"/>
            <p:cNvSpPr/>
            <p:nvPr/>
          </p:nvSpPr>
          <p:spPr>
            <a:xfrm>
              <a:off x="2272513" y="2371725"/>
              <a:ext cx="1888142" cy="461010"/>
            </a:xfrm>
            <a:prstGeom prst="rect">
              <a:avLst/>
            </a:prstGeom>
            <a:solidFill>
              <a:srgbClr val="2F4F98"/>
            </a:solidFill>
            <a:ln w="9525">
              <a:solidFill>
                <a:srgbClr val="D6E1EF"/>
              </a:solidFill>
            </a:ln>
          </p:spPr>
        </p:sp>
        <p:sp>
          <p:nvSpPr>
            <p:cNvPr id="15" name="TextBox 15"/>
            <p:cNvSpPr txBox="1"/>
            <p:nvPr/>
          </p:nvSpPr>
          <p:spPr>
            <a:xfrm>
              <a:off x="2649772" y="2472372"/>
              <a:ext cx="1133624"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icrosoft YaHei"/>
                  <a:ea typeface="Microsoft YaHei"/>
                  <a:cs typeface="Microsoft YaHei"/>
                </a:rPr>
                <a:t>Proof (B)</a:t>
              </a:r>
            </a:p>
          </p:txBody>
        </p:sp>
        <p:sp>
          <p:nvSpPr>
            <p:cNvPr id="16" name="Rectangle 16"/>
            <p:cNvSpPr/>
            <p:nvPr/>
          </p:nvSpPr>
          <p:spPr>
            <a:xfrm>
              <a:off x="4160655" y="2371725"/>
              <a:ext cx="2548991" cy="461010"/>
            </a:xfrm>
            <a:prstGeom prst="rect">
              <a:avLst/>
            </a:prstGeom>
            <a:solidFill>
              <a:srgbClr val="2F4F98"/>
            </a:solidFill>
            <a:ln w="9525">
              <a:solidFill>
                <a:srgbClr val="D6E1EF"/>
              </a:solidFill>
            </a:ln>
          </p:spPr>
        </p:sp>
        <p:sp>
          <p:nvSpPr>
            <p:cNvPr id="17" name="TextBox 17"/>
            <p:cNvSpPr txBox="1"/>
            <p:nvPr/>
          </p:nvSpPr>
          <p:spPr>
            <a:xfrm>
              <a:off x="4678235" y="2472372"/>
              <a:ext cx="1513831"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icrosoft YaHei"/>
                  <a:ea typeface="Microsoft YaHei"/>
                  <a:cs typeface="Microsoft YaHei"/>
                </a:rPr>
                <a:t>Witness (KB)</a:t>
              </a:r>
            </a:p>
          </p:txBody>
        </p:sp>
        <p:sp>
          <p:nvSpPr>
            <p:cNvPr id="18" name="Rectangle 18"/>
            <p:cNvSpPr/>
            <p:nvPr/>
          </p:nvSpPr>
          <p:spPr>
            <a:xfrm>
              <a:off x="6709646" y="2371725"/>
              <a:ext cx="2643398" cy="461010"/>
            </a:xfrm>
            <a:prstGeom prst="rect">
              <a:avLst/>
            </a:prstGeom>
            <a:solidFill>
              <a:srgbClr val="2F4F98"/>
            </a:solidFill>
            <a:ln w="9525">
              <a:solidFill>
                <a:srgbClr val="D6E1EF"/>
              </a:solidFill>
            </a:ln>
          </p:spPr>
        </p:sp>
        <p:sp>
          <p:nvSpPr>
            <p:cNvPr id="19" name="TextBox 19"/>
            <p:cNvSpPr txBox="1"/>
            <p:nvPr/>
          </p:nvSpPr>
          <p:spPr>
            <a:xfrm>
              <a:off x="7246036" y="2472372"/>
              <a:ext cx="1570619" cy="322707"/>
            </a:xfrm>
            <a:prstGeom prst="rect">
              <a:avLst/>
            </a:prstGeom>
            <a:noFill/>
            <a:ln>
              <a:noFill/>
            </a:ln>
          </p:spPr>
          <p:txBody>
            <a:bodyPr wrap="none" lIns="0" tIns="0" rIns="0" bIns="0" anchor="t" anchorCtr="0">
              <a:spAutoFit/>
            </a:bodyPr>
            <a:lstStyle/>
            <a:p>
              <a:pPr algn="ctr"/>
              <a:r>
                <a:rPr lang="zh-CN" sz="1650" b="1" dirty="0">
                  <a:solidFill>
                    <a:srgbClr val="FFFFFF"/>
                  </a:solidFill>
                  <a:latin typeface="Microsoft YaHei"/>
                  <a:ea typeface="Microsoft YaHei"/>
                  <a:cs typeface="Microsoft YaHei"/>
                </a:rPr>
                <a:t>证明密钥 (MB)</a:t>
              </a:r>
            </a:p>
          </p:txBody>
        </p:sp>
        <p:sp>
          <p:nvSpPr>
            <p:cNvPr id="20" name="Rectangle 20"/>
            <p:cNvSpPr/>
            <p:nvPr/>
          </p:nvSpPr>
          <p:spPr>
            <a:xfrm>
              <a:off x="9353044" y="2371725"/>
              <a:ext cx="2076956" cy="461010"/>
            </a:xfrm>
            <a:prstGeom prst="rect">
              <a:avLst/>
            </a:prstGeom>
            <a:solidFill>
              <a:srgbClr val="2F4F98"/>
            </a:solidFill>
            <a:ln w="9525">
              <a:solidFill>
                <a:srgbClr val="D6E1EF"/>
              </a:solidFill>
            </a:ln>
          </p:spPr>
        </p:sp>
        <p:sp>
          <p:nvSpPr>
            <p:cNvPr id="21" name="TextBox 21"/>
            <p:cNvSpPr txBox="1"/>
            <p:nvPr/>
          </p:nvSpPr>
          <p:spPr>
            <a:xfrm>
              <a:off x="10049956" y="2472372"/>
              <a:ext cx="683133" cy="322707"/>
            </a:xfrm>
            <a:prstGeom prst="rect">
              <a:avLst/>
            </a:prstGeom>
            <a:noFill/>
            <a:ln>
              <a:noFill/>
            </a:ln>
          </p:spPr>
          <p:txBody>
            <a:bodyPr wrap="none" lIns="0" tIns="0" rIns="0" bIns="0" anchor="t" anchorCtr="0">
              <a:spAutoFit/>
            </a:bodyPr>
            <a:lstStyle/>
            <a:p>
              <a:pPr algn="ctr"/>
              <a:r>
                <a:rPr lang="zh-CN" sz="1650" b="1" dirty="0">
                  <a:solidFill>
                    <a:srgbClr val="FFFFFF"/>
                  </a:solidFill>
                  <a:latin typeface="Microsoft YaHei"/>
                  <a:ea typeface="Microsoft YaHei"/>
                  <a:cs typeface="Microsoft YaHei"/>
                </a:rPr>
                <a:t>约束数</a:t>
              </a:r>
            </a:p>
          </p:txBody>
        </p:sp>
        <p:sp>
          <p:nvSpPr>
            <p:cNvPr id="22" name="Rectangle 22"/>
            <p:cNvSpPr/>
            <p:nvPr/>
          </p:nvSpPr>
          <p:spPr>
            <a:xfrm>
              <a:off x="762000" y="2832735"/>
              <a:ext cx="1510513" cy="461010"/>
            </a:xfrm>
            <a:prstGeom prst="rect">
              <a:avLst/>
            </a:prstGeom>
            <a:solidFill>
              <a:srgbClr val="FFFFFF"/>
            </a:solidFill>
            <a:ln w="9525">
              <a:solidFill>
                <a:srgbClr val="D6E1EF"/>
              </a:solidFill>
            </a:ln>
          </p:spPr>
        </p:sp>
        <p:sp>
          <p:nvSpPr>
            <p:cNvPr id="23" name="TextBox 23"/>
            <p:cNvSpPr txBox="1"/>
            <p:nvPr/>
          </p:nvSpPr>
          <p:spPr>
            <a:xfrm>
              <a:off x="848868" y="2933382"/>
              <a:ext cx="261099" cy="322707"/>
            </a:xfrm>
            <a:prstGeom prst="rect">
              <a:avLst/>
            </a:prstGeom>
            <a:noFill/>
            <a:ln>
              <a:noFill/>
            </a:ln>
          </p:spPr>
          <p:txBody>
            <a:bodyPr wrap="none" lIns="0" tIns="0" rIns="0" bIns="0" anchor="t" anchorCtr="0">
              <a:spAutoFit/>
            </a:bodyPr>
            <a:lstStyle/>
            <a:p>
              <a:pPr algn="l"/>
              <a:r>
                <a:rPr lang="zh-CN" sz="1650" dirty="0">
                  <a:solidFill>
                    <a:srgbClr val="172B4D"/>
                  </a:solidFill>
                  <a:latin typeface="Microsoft YaHei"/>
                  <a:ea typeface="Microsoft YaHei"/>
                  <a:cs typeface="Microsoft YaHei"/>
                </a:rPr>
                <a:t>10</a:t>
              </a:r>
            </a:p>
          </p:txBody>
        </p:sp>
        <p:sp>
          <p:nvSpPr>
            <p:cNvPr id="24" name="Rectangle 24"/>
            <p:cNvSpPr/>
            <p:nvPr/>
          </p:nvSpPr>
          <p:spPr>
            <a:xfrm>
              <a:off x="2272513" y="2832735"/>
              <a:ext cx="1888142" cy="461010"/>
            </a:xfrm>
            <a:prstGeom prst="rect">
              <a:avLst/>
            </a:prstGeom>
            <a:solidFill>
              <a:srgbClr val="FFFFFF"/>
            </a:solidFill>
            <a:ln w="9525">
              <a:solidFill>
                <a:srgbClr val="D6E1EF"/>
              </a:solidFill>
            </a:ln>
          </p:spPr>
        </p:sp>
        <p:sp>
          <p:nvSpPr>
            <p:cNvPr id="25" name="TextBox 25"/>
            <p:cNvSpPr txBox="1"/>
            <p:nvPr/>
          </p:nvSpPr>
          <p:spPr>
            <a:xfrm>
              <a:off x="3024951" y="2933382"/>
              <a:ext cx="383267"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806</a:t>
              </a:r>
            </a:p>
          </p:txBody>
        </p:sp>
        <p:sp>
          <p:nvSpPr>
            <p:cNvPr id="26" name="Rectangle 26"/>
            <p:cNvSpPr/>
            <p:nvPr/>
          </p:nvSpPr>
          <p:spPr>
            <a:xfrm>
              <a:off x="4160655" y="2832735"/>
              <a:ext cx="2548991" cy="461010"/>
            </a:xfrm>
            <a:prstGeom prst="rect">
              <a:avLst/>
            </a:prstGeom>
            <a:solidFill>
              <a:srgbClr val="FFFFFF"/>
            </a:solidFill>
            <a:ln w="9525">
              <a:solidFill>
                <a:srgbClr val="D6E1EF"/>
              </a:solidFill>
            </a:ln>
          </p:spPr>
        </p:sp>
        <p:sp>
          <p:nvSpPr>
            <p:cNvPr id="27" name="TextBox 27"/>
            <p:cNvSpPr txBox="1"/>
            <p:nvPr/>
          </p:nvSpPr>
          <p:spPr>
            <a:xfrm>
              <a:off x="5182433" y="2933382"/>
              <a:ext cx="505435"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86.6</a:t>
              </a:r>
            </a:p>
          </p:txBody>
        </p:sp>
        <p:sp>
          <p:nvSpPr>
            <p:cNvPr id="28" name="Rectangle 28"/>
            <p:cNvSpPr/>
            <p:nvPr/>
          </p:nvSpPr>
          <p:spPr>
            <a:xfrm>
              <a:off x="6709646" y="2832735"/>
              <a:ext cx="2643398" cy="461010"/>
            </a:xfrm>
            <a:prstGeom prst="rect">
              <a:avLst/>
            </a:prstGeom>
            <a:solidFill>
              <a:srgbClr val="FFFFFF"/>
            </a:solidFill>
            <a:ln w="9525">
              <a:solidFill>
                <a:srgbClr val="D6E1EF"/>
              </a:solidFill>
            </a:ln>
          </p:spPr>
        </p:sp>
        <p:sp>
          <p:nvSpPr>
            <p:cNvPr id="29" name="TextBox 29"/>
            <p:cNvSpPr txBox="1"/>
            <p:nvPr/>
          </p:nvSpPr>
          <p:spPr>
            <a:xfrm>
              <a:off x="7839712" y="2933382"/>
              <a:ext cx="383267"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1.6</a:t>
              </a:r>
            </a:p>
          </p:txBody>
        </p:sp>
        <p:sp>
          <p:nvSpPr>
            <p:cNvPr id="30" name="Rectangle 30"/>
            <p:cNvSpPr/>
            <p:nvPr/>
          </p:nvSpPr>
          <p:spPr>
            <a:xfrm>
              <a:off x="9353044" y="2832735"/>
              <a:ext cx="2076956" cy="461010"/>
            </a:xfrm>
            <a:prstGeom prst="rect">
              <a:avLst/>
            </a:prstGeom>
            <a:solidFill>
              <a:srgbClr val="FFFFFF"/>
            </a:solidFill>
            <a:ln w="9525">
              <a:solidFill>
                <a:srgbClr val="D6E1EF"/>
              </a:solidFill>
            </a:ln>
          </p:spPr>
        </p:sp>
        <p:sp>
          <p:nvSpPr>
            <p:cNvPr id="31" name="TextBox 31"/>
            <p:cNvSpPr txBox="1"/>
            <p:nvPr/>
          </p:nvSpPr>
          <p:spPr>
            <a:xfrm>
              <a:off x="10138805" y="2933382"/>
              <a:ext cx="505435"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2691</a:t>
              </a:r>
            </a:p>
          </p:txBody>
        </p:sp>
        <p:sp>
          <p:nvSpPr>
            <p:cNvPr id="32" name="Rectangle 32"/>
            <p:cNvSpPr/>
            <p:nvPr/>
          </p:nvSpPr>
          <p:spPr>
            <a:xfrm>
              <a:off x="762000" y="3293745"/>
              <a:ext cx="1510513" cy="461010"/>
            </a:xfrm>
            <a:prstGeom prst="rect">
              <a:avLst/>
            </a:prstGeom>
            <a:solidFill>
              <a:srgbClr val="FFFFFF"/>
            </a:solidFill>
            <a:ln w="9525">
              <a:solidFill>
                <a:srgbClr val="D6E1EF"/>
              </a:solidFill>
            </a:ln>
          </p:spPr>
        </p:sp>
        <p:sp>
          <p:nvSpPr>
            <p:cNvPr id="35" name="TextBox 35"/>
            <p:cNvSpPr txBox="1"/>
            <p:nvPr/>
          </p:nvSpPr>
          <p:spPr>
            <a:xfrm>
              <a:off x="848868" y="3394392"/>
              <a:ext cx="261099" cy="322707"/>
            </a:xfrm>
            <a:prstGeom prst="rect">
              <a:avLst/>
            </a:prstGeom>
            <a:noFill/>
            <a:ln>
              <a:noFill/>
            </a:ln>
          </p:spPr>
          <p:txBody>
            <a:bodyPr wrap="none" lIns="0" tIns="0" rIns="0" bIns="0" anchor="t" anchorCtr="0">
              <a:spAutoFit/>
            </a:bodyPr>
            <a:lstStyle/>
            <a:p>
              <a:pPr algn="l"/>
              <a:r>
                <a:rPr lang="zh-CN" sz="1650" dirty="0">
                  <a:solidFill>
                    <a:srgbClr val="172B4D"/>
                  </a:solidFill>
                  <a:latin typeface="Microsoft YaHei"/>
                  <a:ea typeface="Microsoft YaHei"/>
                  <a:cs typeface="Microsoft YaHei"/>
                </a:rPr>
                <a:t>20</a:t>
              </a:r>
            </a:p>
          </p:txBody>
        </p:sp>
        <p:sp>
          <p:nvSpPr>
            <p:cNvPr id="36" name="Rectangle 36"/>
            <p:cNvSpPr/>
            <p:nvPr/>
          </p:nvSpPr>
          <p:spPr>
            <a:xfrm>
              <a:off x="2272513" y="3293745"/>
              <a:ext cx="1888142" cy="461010"/>
            </a:xfrm>
            <a:prstGeom prst="rect">
              <a:avLst/>
            </a:prstGeom>
            <a:solidFill>
              <a:srgbClr val="FFFFFF"/>
            </a:solidFill>
            <a:ln w="9525">
              <a:solidFill>
                <a:srgbClr val="D6E1EF"/>
              </a:solidFill>
            </a:ln>
          </p:spPr>
        </p:sp>
        <p:sp>
          <p:nvSpPr>
            <p:cNvPr id="37" name="TextBox 37"/>
            <p:cNvSpPr txBox="1"/>
            <p:nvPr/>
          </p:nvSpPr>
          <p:spPr>
            <a:xfrm>
              <a:off x="3024951" y="3394392"/>
              <a:ext cx="383267"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807</a:t>
              </a:r>
            </a:p>
          </p:txBody>
        </p:sp>
        <p:sp>
          <p:nvSpPr>
            <p:cNvPr id="38" name="Rectangle 38"/>
            <p:cNvSpPr/>
            <p:nvPr/>
          </p:nvSpPr>
          <p:spPr>
            <a:xfrm>
              <a:off x="4160655" y="3293745"/>
              <a:ext cx="2548991" cy="461010"/>
            </a:xfrm>
            <a:prstGeom prst="rect">
              <a:avLst/>
            </a:prstGeom>
            <a:solidFill>
              <a:srgbClr val="FFFFFF"/>
            </a:solidFill>
            <a:ln w="9525">
              <a:solidFill>
                <a:srgbClr val="D6E1EF"/>
              </a:solidFill>
            </a:ln>
          </p:spPr>
        </p:sp>
        <p:sp>
          <p:nvSpPr>
            <p:cNvPr id="39" name="TextBox 39"/>
            <p:cNvSpPr txBox="1"/>
            <p:nvPr/>
          </p:nvSpPr>
          <p:spPr>
            <a:xfrm>
              <a:off x="5121349" y="3394392"/>
              <a:ext cx="627602"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164.7</a:t>
              </a:r>
            </a:p>
          </p:txBody>
        </p:sp>
        <p:sp>
          <p:nvSpPr>
            <p:cNvPr id="40" name="Rectangle 40"/>
            <p:cNvSpPr/>
            <p:nvPr/>
          </p:nvSpPr>
          <p:spPr>
            <a:xfrm>
              <a:off x="6709646" y="3293745"/>
              <a:ext cx="2643398" cy="461010"/>
            </a:xfrm>
            <a:prstGeom prst="rect">
              <a:avLst/>
            </a:prstGeom>
            <a:solidFill>
              <a:srgbClr val="FFFFFF"/>
            </a:solidFill>
            <a:ln w="9525">
              <a:solidFill>
                <a:srgbClr val="D6E1EF"/>
              </a:solidFill>
            </a:ln>
          </p:spPr>
        </p:sp>
        <p:sp>
          <p:nvSpPr>
            <p:cNvPr id="41" name="TextBox 41"/>
            <p:cNvSpPr txBox="1"/>
            <p:nvPr/>
          </p:nvSpPr>
          <p:spPr>
            <a:xfrm>
              <a:off x="7839712" y="3394392"/>
              <a:ext cx="383267"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3.1</a:t>
              </a:r>
            </a:p>
          </p:txBody>
        </p:sp>
        <p:sp>
          <p:nvSpPr>
            <p:cNvPr id="42" name="Rectangle 42"/>
            <p:cNvSpPr/>
            <p:nvPr/>
          </p:nvSpPr>
          <p:spPr>
            <a:xfrm>
              <a:off x="9353044" y="3293745"/>
              <a:ext cx="2076956" cy="461010"/>
            </a:xfrm>
            <a:prstGeom prst="rect">
              <a:avLst/>
            </a:prstGeom>
            <a:solidFill>
              <a:srgbClr val="FFFFFF"/>
            </a:solidFill>
            <a:ln w="9525">
              <a:solidFill>
                <a:srgbClr val="D6E1EF"/>
              </a:solidFill>
            </a:ln>
          </p:spPr>
        </p:sp>
        <p:sp>
          <p:nvSpPr>
            <p:cNvPr id="43" name="TextBox 43"/>
            <p:cNvSpPr txBox="1"/>
            <p:nvPr/>
          </p:nvSpPr>
          <p:spPr>
            <a:xfrm>
              <a:off x="10138805" y="3394392"/>
              <a:ext cx="505435"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5121</a:t>
              </a:r>
            </a:p>
          </p:txBody>
        </p:sp>
        <p:sp>
          <p:nvSpPr>
            <p:cNvPr id="44" name="Rectangle 44"/>
            <p:cNvSpPr/>
            <p:nvPr/>
          </p:nvSpPr>
          <p:spPr>
            <a:xfrm>
              <a:off x="762000" y="3754755"/>
              <a:ext cx="1510513" cy="461010"/>
            </a:xfrm>
            <a:prstGeom prst="rect">
              <a:avLst/>
            </a:prstGeom>
            <a:solidFill>
              <a:srgbClr val="FFFFFF"/>
            </a:solidFill>
            <a:ln w="9525">
              <a:solidFill>
                <a:srgbClr val="D6E1EF"/>
              </a:solidFill>
            </a:ln>
          </p:spPr>
        </p:sp>
        <p:sp>
          <p:nvSpPr>
            <p:cNvPr id="45" name="TextBox 45"/>
            <p:cNvSpPr txBox="1"/>
            <p:nvPr/>
          </p:nvSpPr>
          <p:spPr>
            <a:xfrm>
              <a:off x="848868" y="3855402"/>
              <a:ext cx="261099" cy="322707"/>
            </a:xfrm>
            <a:prstGeom prst="rect">
              <a:avLst/>
            </a:prstGeom>
            <a:noFill/>
            <a:ln>
              <a:noFill/>
            </a:ln>
          </p:spPr>
          <p:txBody>
            <a:bodyPr wrap="none" lIns="0" tIns="0" rIns="0" bIns="0" anchor="t" anchorCtr="0">
              <a:spAutoFit/>
            </a:bodyPr>
            <a:lstStyle/>
            <a:p>
              <a:pPr algn="l"/>
              <a:r>
                <a:rPr lang="zh-CN" sz="1650" dirty="0">
                  <a:solidFill>
                    <a:srgbClr val="172B4D"/>
                  </a:solidFill>
                  <a:latin typeface="Microsoft YaHei"/>
                  <a:ea typeface="Microsoft YaHei"/>
                  <a:cs typeface="Microsoft YaHei"/>
                </a:rPr>
                <a:t>30</a:t>
              </a:r>
            </a:p>
          </p:txBody>
        </p:sp>
        <p:sp>
          <p:nvSpPr>
            <p:cNvPr id="46" name="Rectangle 46"/>
            <p:cNvSpPr/>
            <p:nvPr/>
          </p:nvSpPr>
          <p:spPr>
            <a:xfrm>
              <a:off x="2272513" y="3754755"/>
              <a:ext cx="1888142" cy="461010"/>
            </a:xfrm>
            <a:prstGeom prst="rect">
              <a:avLst/>
            </a:prstGeom>
            <a:solidFill>
              <a:srgbClr val="FFFFFF"/>
            </a:solidFill>
            <a:ln w="9525">
              <a:solidFill>
                <a:srgbClr val="D6E1EF"/>
              </a:solidFill>
            </a:ln>
          </p:spPr>
        </p:sp>
        <p:sp>
          <p:nvSpPr>
            <p:cNvPr id="47" name="TextBox 47"/>
            <p:cNvSpPr txBox="1"/>
            <p:nvPr/>
          </p:nvSpPr>
          <p:spPr>
            <a:xfrm>
              <a:off x="3024951" y="3855402"/>
              <a:ext cx="383267"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805</a:t>
              </a:r>
            </a:p>
          </p:txBody>
        </p:sp>
        <p:sp>
          <p:nvSpPr>
            <p:cNvPr id="48" name="Rectangle 48"/>
            <p:cNvSpPr/>
            <p:nvPr/>
          </p:nvSpPr>
          <p:spPr>
            <a:xfrm>
              <a:off x="4160655" y="3754755"/>
              <a:ext cx="2548991" cy="461010"/>
            </a:xfrm>
            <a:prstGeom prst="rect">
              <a:avLst/>
            </a:prstGeom>
            <a:solidFill>
              <a:srgbClr val="FFFFFF"/>
            </a:solidFill>
            <a:ln w="9525">
              <a:solidFill>
                <a:srgbClr val="D6E1EF"/>
              </a:solidFill>
            </a:ln>
          </p:spPr>
        </p:sp>
        <p:sp>
          <p:nvSpPr>
            <p:cNvPr id="49" name="TextBox 49"/>
            <p:cNvSpPr txBox="1"/>
            <p:nvPr/>
          </p:nvSpPr>
          <p:spPr>
            <a:xfrm>
              <a:off x="5121349" y="3855402"/>
              <a:ext cx="627602"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242.8</a:t>
              </a:r>
            </a:p>
          </p:txBody>
        </p:sp>
        <p:sp>
          <p:nvSpPr>
            <p:cNvPr id="50" name="Rectangle 50"/>
            <p:cNvSpPr/>
            <p:nvPr/>
          </p:nvSpPr>
          <p:spPr>
            <a:xfrm>
              <a:off x="6709646" y="3754755"/>
              <a:ext cx="2643398" cy="461010"/>
            </a:xfrm>
            <a:prstGeom prst="rect">
              <a:avLst/>
            </a:prstGeom>
            <a:solidFill>
              <a:srgbClr val="FFFFFF"/>
            </a:solidFill>
            <a:ln w="9525">
              <a:solidFill>
                <a:srgbClr val="D6E1EF"/>
              </a:solidFill>
            </a:ln>
          </p:spPr>
        </p:sp>
        <p:sp>
          <p:nvSpPr>
            <p:cNvPr id="51" name="TextBox 51"/>
            <p:cNvSpPr txBox="1"/>
            <p:nvPr/>
          </p:nvSpPr>
          <p:spPr>
            <a:xfrm>
              <a:off x="7839712" y="3855402"/>
              <a:ext cx="383267"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4.3</a:t>
              </a:r>
            </a:p>
          </p:txBody>
        </p:sp>
        <p:sp>
          <p:nvSpPr>
            <p:cNvPr id="52" name="Rectangle 52"/>
            <p:cNvSpPr/>
            <p:nvPr/>
          </p:nvSpPr>
          <p:spPr>
            <a:xfrm>
              <a:off x="9353044" y="3754755"/>
              <a:ext cx="2076956" cy="461010"/>
            </a:xfrm>
            <a:prstGeom prst="rect">
              <a:avLst/>
            </a:prstGeom>
            <a:solidFill>
              <a:srgbClr val="FFFFFF"/>
            </a:solidFill>
            <a:ln w="9525">
              <a:solidFill>
                <a:srgbClr val="D6E1EF"/>
              </a:solidFill>
            </a:ln>
          </p:spPr>
        </p:sp>
        <p:sp>
          <p:nvSpPr>
            <p:cNvPr id="53" name="TextBox 53"/>
            <p:cNvSpPr txBox="1"/>
            <p:nvPr/>
          </p:nvSpPr>
          <p:spPr>
            <a:xfrm>
              <a:off x="10138805" y="3855402"/>
              <a:ext cx="505435"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7551</a:t>
              </a:r>
            </a:p>
          </p:txBody>
        </p:sp>
        <p:sp>
          <p:nvSpPr>
            <p:cNvPr id="54" name="Rectangle 54"/>
            <p:cNvSpPr/>
            <p:nvPr/>
          </p:nvSpPr>
          <p:spPr>
            <a:xfrm>
              <a:off x="762000" y="4215765"/>
              <a:ext cx="1510513" cy="461010"/>
            </a:xfrm>
            <a:prstGeom prst="rect">
              <a:avLst/>
            </a:prstGeom>
            <a:solidFill>
              <a:srgbClr val="FFFFFF"/>
            </a:solidFill>
            <a:ln w="9525">
              <a:solidFill>
                <a:srgbClr val="D6E1EF"/>
              </a:solidFill>
            </a:ln>
          </p:spPr>
        </p:sp>
        <p:sp>
          <p:nvSpPr>
            <p:cNvPr id="55" name="TextBox 55"/>
            <p:cNvSpPr txBox="1"/>
            <p:nvPr/>
          </p:nvSpPr>
          <p:spPr>
            <a:xfrm>
              <a:off x="848868" y="4316412"/>
              <a:ext cx="261099" cy="322707"/>
            </a:xfrm>
            <a:prstGeom prst="rect">
              <a:avLst/>
            </a:prstGeom>
            <a:noFill/>
            <a:ln>
              <a:noFill/>
            </a:ln>
          </p:spPr>
          <p:txBody>
            <a:bodyPr wrap="none" lIns="0" tIns="0" rIns="0" bIns="0" anchor="t" anchorCtr="0">
              <a:spAutoFit/>
            </a:bodyPr>
            <a:lstStyle/>
            <a:p>
              <a:pPr algn="l"/>
              <a:r>
                <a:rPr lang="zh-CN" sz="1650" dirty="0">
                  <a:solidFill>
                    <a:srgbClr val="172B4D"/>
                  </a:solidFill>
                  <a:latin typeface="Microsoft YaHei"/>
                  <a:ea typeface="Microsoft YaHei"/>
                  <a:cs typeface="Microsoft YaHei"/>
                </a:rPr>
                <a:t>40</a:t>
              </a:r>
            </a:p>
          </p:txBody>
        </p:sp>
        <p:sp>
          <p:nvSpPr>
            <p:cNvPr id="56" name="Rectangle 56"/>
            <p:cNvSpPr/>
            <p:nvPr/>
          </p:nvSpPr>
          <p:spPr>
            <a:xfrm>
              <a:off x="2272513" y="4215765"/>
              <a:ext cx="1888142" cy="461010"/>
            </a:xfrm>
            <a:prstGeom prst="rect">
              <a:avLst/>
            </a:prstGeom>
            <a:solidFill>
              <a:srgbClr val="FFFFFF"/>
            </a:solidFill>
            <a:ln w="9525">
              <a:solidFill>
                <a:srgbClr val="D6E1EF"/>
              </a:solidFill>
            </a:ln>
          </p:spPr>
        </p:sp>
        <p:sp>
          <p:nvSpPr>
            <p:cNvPr id="57" name="TextBox 57"/>
            <p:cNvSpPr txBox="1"/>
            <p:nvPr/>
          </p:nvSpPr>
          <p:spPr>
            <a:xfrm>
              <a:off x="3024951" y="4316412"/>
              <a:ext cx="383267"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804</a:t>
              </a:r>
            </a:p>
          </p:txBody>
        </p:sp>
        <p:sp>
          <p:nvSpPr>
            <p:cNvPr id="58" name="Rectangle 58"/>
            <p:cNvSpPr/>
            <p:nvPr/>
          </p:nvSpPr>
          <p:spPr>
            <a:xfrm>
              <a:off x="4160655" y="4215765"/>
              <a:ext cx="2548991" cy="461010"/>
            </a:xfrm>
            <a:prstGeom prst="rect">
              <a:avLst/>
            </a:prstGeom>
            <a:solidFill>
              <a:srgbClr val="FFFFFF"/>
            </a:solidFill>
            <a:ln w="9525">
              <a:solidFill>
                <a:srgbClr val="D6E1EF"/>
              </a:solidFill>
            </a:ln>
          </p:spPr>
        </p:sp>
        <p:sp>
          <p:nvSpPr>
            <p:cNvPr id="59" name="TextBox 59"/>
            <p:cNvSpPr txBox="1"/>
            <p:nvPr/>
          </p:nvSpPr>
          <p:spPr>
            <a:xfrm>
              <a:off x="5121349" y="4316412"/>
              <a:ext cx="627602"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320.9</a:t>
              </a:r>
            </a:p>
          </p:txBody>
        </p:sp>
        <p:sp>
          <p:nvSpPr>
            <p:cNvPr id="60" name="Rectangle 60"/>
            <p:cNvSpPr/>
            <p:nvPr/>
          </p:nvSpPr>
          <p:spPr>
            <a:xfrm>
              <a:off x="6709646" y="4215765"/>
              <a:ext cx="2643398" cy="461010"/>
            </a:xfrm>
            <a:prstGeom prst="rect">
              <a:avLst/>
            </a:prstGeom>
            <a:solidFill>
              <a:srgbClr val="FFFFFF"/>
            </a:solidFill>
            <a:ln w="9525">
              <a:solidFill>
                <a:srgbClr val="D6E1EF"/>
              </a:solidFill>
            </a:ln>
          </p:spPr>
        </p:sp>
        <p:sp>
          <p:nvSpPr>
            <p:cNvPr id="61" name="TextBox 61"/>
            <p:cNvSpPr txBox="1"/>
            <p:nvPr/>
          </p:nvSpPr>
          <p:spPr>
            <a:xfrm>
              <a:off x="7839712" y="4316412"/>
              <a:ext cx="383267"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6.0</a:t>
              </a:r>
            </a:p>
          </p:txBody>
        </p:sp>
        <p:sp>
          <p:nvSpPr>
            <p:cNvPr id="62" name="Rectangle 62"/>
            <p:cNvSpPr/>
            <p:nvPr/>
          </p:nvSpPr>
          <p:spPr>
            <a:xfrm>
              <a:off x="9353044" y="4215765"/>
              <a:ext cx="2076956" cy="461010"/>
            </a:xfrm>
            <a:prstGeom prst="rect">
              <a:avLst/>
            </a:prstGeom>
            <a:solidFill>
              <a:srgbClr val="FFFFFF"/>
            </a:solidFill>
            <a:ln w="9525">
              <a:solidFill>
                <a:srgbClr val="D6E1EF"/>
              </a:solidFill>
            </a:ln>
          </p:spPr>
        </p:sp>
        <p:sp>
          <p:nvSpPr>
            <p:cNvPr id="63" name="TextBox 63"/>
            <p:cNvSpPr txBox="1"/>
            <p:nvPr/>
          </p:nvSpPr>
          <p:spPr>
            <a:xfrm>
              <a:off x="10138805" y="4316412"/>
              <a:ext cx="505435"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9981</a:t>
              </a:r>
            </a:p>
          </p:txBody>
        </p:sp>
      </p:grpSp>
      <p:grpSp>
        <p:nvGrpSpPr>
          <p:cNvPr id="67" name="storage-reading"/>
          <p:cNvGrpSpPr/>
          <p:nvPr/>
        </p:nvGrpSpPr>
        <p:grpSpPr>
          <a:xfrm>
            <a:off x="790575" y="4943475"/>
            <a:ext cx="6691152" cy="719582"/>
            <a:chOff x="790575" y="4943475"/>
            <a:chExt cx="6691152" cy="719582"/>
          </a:xfrm>
        </p:grpSpPr>
        <p:sp>
          <p:nvSpPr>
            <p:cNvPr id="65" name="TextBox 65"/>
            <p:cNvSpPr txBox="1"/>
            <p:nvPr/>
          </p:nvSpPr>
          <p:spPr>
            <a:xfrm>
              <a:off x="790575" y="4943475"/>
              <a:ext cx="1031392"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如何读表</a:t>
              </a:r>
            </a:p>
          </p:txBody>
        </p:sp>
        <p:sp>
          <p:nvSpPr>
            <p:cNvPr id="66" name="TextBox 66"/>
            <p:cNvSpPr txBox="1"/>
            <p:nvPr/>
          </p:nvSpPr>
          <p:spPr>
            <a:xfrm>
              <a:off x="791718" y="5340350"/>
              <a:ext cx="6690009" cy="322707"/>
            </a:xfrm>
            <a:prstGeom prst="rect">
              <a:avLst/>
            </a:prstGeom>
            <a:noFill/>
            <a:ln>
              <a:noFill/>
            </a:ln>
          </p:spPr>
          <p:txBody>
            <a:bodyPr wrap="none" lIns="0" tIns="0" rIns="0" bIns="0" anchor="t" anchorCtr="0">
              <a:spAutoFit/>
            </a:bodyPr>
            <a:lstStyle/>
            <a:p>
              <a:pPr algn="l"/>
              <a:r>
                <a:rPr lang="zh-CN" sz="1650" dirty="0">
                  <a:solidFill>
                    <a:srgbClr val="172B4D"/>
                  </a:solidFill>
                  <a:latin typeface="Microsoft YaHei"/>
                  <a:ea typeface="Microsoft YaHei"/>
                  <a:cs typeface="Microsoft YaHei"/>
                </a:rPr>
                <a:t>Proof 约 805 B、基本固定；见证、证明密钥和约束数随树高增长。</a:t>
              </a:r>
            </a:p>
          </p:txBody>
        </p:sp>
      </p:grpSp>
      <p:grpSp>
        <p:nvGrpSpPr>
          <p:cNvPr id="70" name="takeaway"/>
          <p:cNvGrpSpPr/>
          <p:nvPr/>
        </p:nvGrpSpPr>
        <p:grpSpPr>
          <a:xfrm>
            <a:off x="723900" y="5924550"/>
            <a:ext cx="10744200" cy="466725"/>
            <a:chOff x="723900" y="5924550"/>
            <a:chExt cx="10744200" cy="466725"/>
          </a:xfrm>
        </p:grpSpPr>
        <p:sp>
          <p:nvSpPr>
            <p:cNvPr id="68" name="Rectangle 68"/>
            <p:cNvSpPr/>
            <p:nvPr/>
          </p:nvSpPr>
          <p:spPr>
            <a:xfrm>
              <a:off x="723900" y="5924550"/>
              <a:ext cx="10744200" cy="466725"/>
            </a:xfrm>
            <a:prstGeom prst="roundRect">
              <a:avLst>
                <a:gd name="adj" fmla="val 12245"/>
              </a:avLst>
            </a:prstGeom>
            <a:solidFill>
              <a:srgbClr val="EDF3FB"/>
            </a:solidFill>
            <a:ln>
              <a:noFill/>
            </a:ln>
          </p:spPr>
        </p:sp>
        <p:sp>
          <p:nvSpPr>
            <p:cNvPr id="69" name="TextBox 69"/>
            <p:cNvSpPr txBox="1"/>
            <p:nvPr/>
          </p:nvSpPr>
          <p:spPr>
            <a:xfrm>
              <a:off x="887349" y="6038850"/>
              <a:ext cx="7233732"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“短证明”不等于“生成证明代价小”；805 B 是原型记录的 proof 文件大小。</a:t>
              </a:r>
            </a:p>
          </p:txBody>
        </p:sp>
      </p:grpSp>
    </p:spTree>
  </p:cSld>
  <p:clrMapOvr>
    <a:masterClrMapping/>
  </p:clrMapOvr>
</p:sld>
</file>

<file path=ppt/slides/slide15.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sp>
        <p:nvSpPr>
          <p:cNvPr id="26" name="矩形 25"/>
          <p:cNvSpPr/>
          <p:nvPr/>
        </p:nvSpPr>
        <p:spPr>
          <a:xfrm>
            <a:off x="685800" y="495300"/>
            <a:ext cx="10810875" cy="495300"/>
          </a:xfrm>
          <a:prstGeom prst="rect">
            <a:avLst/>
          </a:prstGeom>
          <a:noFill/>
          <a:ln>
            <a:noFill/>
          </a:ln>
        </p:spPr>
        <p:txBody>
          <a:bodyPr wrap="none" lIns="91440" tIns="67151" rIns="0" bIns="0" anchor="t" anchorCtr="0">
            <a:noAutofit/>
          </a:bodyPr>
          <a:lstStyle/>
          <a:p>
            <a:pPr algn="l"/>
            <a:r>
              <a:rPr lang="zh-CN" sz="2620" b="1" dirty="0">
                <a:solidFill>
                  <a:srgbClr val="172B4D"/>
                </a:solidFill>
                <a:latin typeface="Microsoft YaHei"/>
                <a:ea typeface="Microsoft YaHei"/>
                <a:cs typeface="Microsoft YaHei"/>
              </a:rPr>
              <a:t>原型链路：从电路到 Sepolia 合约</a:t>
            </a:r>
          </a:p>
        </p:txBody>
      </p:sp>
      <p:sp>
        <p:nvSpPr>
          <p:cNvPr id="3" name="Line 3"/>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6" name="page-footer"/>
          <p:cNvGrpSpPr/>
          <p:nvPr/>
        </p:nvGrpSpPr>
        <p:grpSpPr>
          <a:xfrm>
            <a:off x="776288" y="6524625"/>
            <a:ext cx="10629899" cy="176212"/>
            <a:chOff x="776288" y="6524625"/>
            <a:chExt cx="10629899" cy="176212"/>
          </a:xfrm>
        </p:grpSpPr>
        <p:sp>
          <p:nvSpPr>
            <p:cNvPr id="4" name="TextBox 4"/>
            <p:cNvSpPr txBox="1"/>
            <p:nvPr/>
          </p:nvSpPr>
          <p:spPr>
            <a:xfrm>
              <a:off x="776288" y="6524625"/>
              <a:ext cx="2585341"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03 原型与实验 · 论文 VI、Fig.9、Listing 2 / 3</a:t>
              </a:r>
            </a:p>
          </p:txBody>
        </p:sp>
        <p:sp>
          <p:nvSpPr>
            <p:cNvPr id="5" name="TextBox 5"/>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15 / 20</a:t>
              </a:r>
            </a:p>
          </p:txBody>
        </p:sp>
      </p:grpSp>
      <p:grpSp>
        <p:nvGrpSpPr>
          <p:cNvPr id="11" name="pipeline-0"/>
          <p:cNvGrpSpPr/>
          <p:nvPr/>
        </p:nvGrpSpPr>
        <p:grpSpPr>
          <a:xfrm>
            <a:off x="762000" y="1552575"/>
            <a:ext cx="5181600" cy="1714500"/>
            <a:chOff x="762000" y="1552575"/>
            <a:chExt cx="5181600" cy="1714500"/>
          </a:xfrm>
        </p:grpSpPr>
        <p:sp>
          <p:nvSpPr>
            <p:cNvPr id="7" name="Rectangle 7"/>
            <p:cNvSpPr/>
            <p:nvPr/>
          </p:nvSpPr>
          <p:spPr>
            <a:xfrm>
              <a:off x="762000" y="1552575"/>
              <a:ext cx="5181600" cy="1714500"/>
            </a:xfrm>
            <a:prstGeom prst="roundRect">
              <a:avLst>
                <a:gd name="adj" fmla="val 4444"/>
              </a:avLst>
            </a:prstGeom>
            <a:solidFill>
              <a:srgbClr val="EDF3FB"/>
            </a:solidFill>
            <a:ln>
              <a:noFill/>
            </a:ln>
          </p:spPr>
        </p:sp>
        <p:sp>
          <p:nvSpPr>
            <p:cNvPr id="8" name="Freeform 8"/>
            <p:cNvSpPr/>
            <p:nvPr/>
          </p:nvSpPr>
          <p:spPr>
            <a:xfrm>
              <a:off x="762000" y="1552575"/>
              <a:ext cx="47625" cy="1714500"/>
            </a:xfrm>
            <a:custGeom>
              <a:avLst/>
              <a:gdLst/>
              <a:ahLst/>
              <a:cxnLst/>
              <a:rect l="l" t="t" r="r" b="b"/>
              <a:pathLst>
                <a:path w="47625" h="1714500">
                  <a:moveTo>
                    <a:pt x="0" y="0"/>
                  </a:moveTo>
                  <a:lnTo>
                    <a:pt x="47625" y="0"/>
                  </a:lnTo>
                  <a:lnTo>
                    <a:pt x="47625" y="1714500"/>
                  </a:lnTo>
                  <a:lnTo>
                    <a:pt x="0" y="1714500"/>
                  </a:lnTo>
                  <a:close/>
                </a:path>
              </a:pathLst>
            </a:custGeom>
            <a:solidFill>
              <a:srgbClr val="2F4F98"/>
            </a:solidFill>
            <a:ln>
              <a:noFill/>
            </a:ln>
          </p:spPr>
        </p:sp>
        <p:sp>
          <p:nvSpPr>
            <p:cNvPr id="9" name="TextBox 9"/>
            <p:cNvSpPr txBox="1"/>
            <p:nvPr/>
          </p:nvSpPr>
          <p:spPr>
            <a:xfrm>
              <a:off x="962025" y="1676400"/>
              <a:ext cx="890852" cy="367665"/>
            </a:xfrm>
            <a:prstGeom prst="rect">
              <a:avLst/>
            </a:prstGeom>
            <a:noFill/>
            <a:ln>
              <a:noFill/>
            </a:ln>
          </p:spPr>
          <p:txBody>
            <a:bodyPr wrap="none" lIns="0" tIns="0" rIns="0" bIns="0" anchor="t" anchorCtr="0">
              <a:spAutoFit/>
            </a:bodyPr>
            <a:lstStyle/>
            <a:p>
              <a:pPr algn="l"/>
              <a:r>
                <a:rPr lang="en-US" sz="1880" b="1" dirty="0">
                  <a:solidFill>
                    <a:srgbClr val="2F4F98"/>
                  </a:solidFill>
                  <a:latin typeface="Microsoft YaHei"/>
                  <a:ea typeface="Microsoft YaHei"/>
                  <a:cs typeface="Microsoft YaHei"/>
                </a:rPr>
                <a:t>Circom</a:t>
              </a:r>
            </a:p>
          </p:txBody>
        </p:sp>
        <p:sp>
          <p:nvSpPr>
            <p:cNvPr id="10" name="TextBox 10"/>
            <p:cNvSpPr txBox="1"/>
            <p:nvPr/>
          </p:nvSpPr>
          <p:spPr>
            <a:xfrm>
              <a:off x="963168" y="2057400"/>
              <a:ext cx="3411474"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定义 Poseidon 与 Merkle 约束；</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编译得到 R1CS 和 witness 生成器。</a:t>
              </a:r>
            </a:p>
          </p:txBody>
        </p:sp>
      </p:grpSp>
      <p:grpSp>
        <p:nvGrpSpPr>
          <p:cNvPr id="16" name="pipeline-1"/>
          <p:cNvGrpSpPr/>
          <p:nvPr/>
        </p:nvGrpSpPr>
        <p:grpSpPr>
          <a:xfrm>
            <a:off x="6248400" y="1552575"/>
            <a:ext cx="5181600" cy="1714500"/>
            <a:chOff x="6248400" y="1552575"/>
            <a:chExt cx="5181600" cy="1714500"/>
          </a:xfrm>
        </p:grpSpPr>
        <p:sp>
          <p:nvSpPr>
            <p:cNvPr id="12" name="Rectangle 12"/>
            <p:cNvSpPr/>
            <p:nvPr/>
          </p:nvSpPr>
          <p:spPr>
            <a:xfrm>
              <a:off x="6248400" y="1552575"/>
              <a:ext cx="5181600" cy="1714500"/>
            </a:xfrm>
            <a:prstGeom prst="roundRect">
              <a:avLst>
                <a:gd name="adj" fmla="val 4444"/>
              </a:avLst>
            </a:prstGeom>
            <a:solidFill>
              <a:srgbClr val="EDF3FB"/>
            </a:solidFill>
            <a:ln>
              <a:noFill/>
            </a:ln>
          </p:spPr>
        </p:sp>
        <p:sp>
          <p:nvSpPr>
            <p:cNvPr id="13" name="Freeform 13"/>
            <p:cNvSpPr/>
            <p:nvPr/>
          </p:nvSpPr>
          <p:spPr>
            <a:xfrm>
              <a:off x="6248400" y="1552575"/>
              <a:ext cx="47625" cy="1714500"/>
            </a:xfrm>
            <a:custGeom>
              <a:avLst/>
              <a:gdLst/>
              <a:ahLst/>
              <a:cxnLst/>
              <a:rect l="l" t="t" r="r" b="b"/>
              <a:pathLst>
                <a:path w="47625" h="1714500">
                  <a:moveTo>
                    <a:pt x="0" y="0"/>
                  </a:moveTo>
                  <a:lnTo>
                    <a:pt x="47625" y="0"/>
                  </a:lnTo>
                  <a:lnTo>
                    <a:pt x="47625" y="1714500"/>
                  </a:lnTo>
                  <a:lnTo>
                    <a:pt x="0" y="1714500"/>
                  </a:lnTo>
                  <a:close/>
                </a:path>
              </a:pathLst>
            </a:custGeom>
            <a:solidFill>
              <a:srgbClr val="2F4F98"/>
            </a:solidFill>
            <a:ln>
              <a:noFill/>
            </a:ln>
          </p:spPr>
        </p:sp>
        <p:sp>
          <p:nvSpPr>
            <p:cNvPr id="14" name="TextBox 14"/>
            <p:cNvSpPr txBox="1"/>
            <p:nvPr/>
          </p:nvSpPr>
          <p:spPr>
            <a:xfrm>
              <a:off x="6448425" y="1676400"/>
              <a:ext cx="2315193" cy="367665"/>
            </a:xfrm>
            <a:prstGeom prst="rect">
              <a:avLst/>
            </a:prstGeom>
            <a:noFill/>
            <a:ln>
              <a:noFill/>
            </a:ln>
          </p:spPr>
          <p:txBody>
            <a:bodyPr wrap="none" lIns="0" tIns="0" rIns="0" bIns="0" anchor="t" anchorCtr="0">
              <a:spAutoFit/>
            </a:bodyPr>
            <a:lstStyle/>
            <a:p>
              <a:pPr algn="l"/>
              <a:r>
                <a:rPr lang="en-US" sz="1880" b="1" dirty="0">
                  <a:solidFill>
                    <a:srgbClr val="2F4F98"/>
                  </a:solidFill>
                  <a:latin typeface="Microsoft YaHei"/>
                  <a:ea typeface="Microsoft YaHei"/>
                  <a:cs typeface="Microsoft YaHei"/>
                </a:rPr>
                <a:t>snarkjs / Groth16</a:t>
              </a:r>
            </a:p>
          </p:txBody>
        </p:sp>
        <p:sp>
          <p:nvSpPr>
            <p:cNvPr id="15" name="TextBox 15"/>
            <p:cNvSpPr txBox="1"/>
            <p:nvPr/>
          </p:nvSpPr>
          <p:spPr>
            <a:xfrm>
              <a:off x="6449568" y="2057400"/>
              <a:ext cx="3170492"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完成证明系统初始化；</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得到 d_p、d_v 与 verifier.sol。</a:t>
              </a:r>
            </a:p>
          </p:txBody>
        </p:sp>
      </p:grpSp>
      <p:grpSp>
        <p:nvGrpSpPr>
          <p:cNvPr id="21" name="pipeline-2"/>
          <p:cNvGrpSpPr/>
          <p:nvPr/>
        </p:nvGrpSpPr>
        <p:grpSpPr>
          <a:xfrm>
            <a:off x="762000" y="3495675"/>
            <a:ext cx="5181600" cy="1714500"/>
            <a:chOff x="762000" y="3495675"/>
            <a:chExt cx="5181600" cy="1714500"/>
          </a:xfrm>
        </p:grpSpPr>
        <p:sp>
          <p:nvSpPr>
            <p:cNvPr id="17" name="Rectangle 17"/>
            <p:cNvSpPr/>
            <p:nvPr/>
          </p:nvSpPr>
          <p:spPr>
            <a:xfrm>
              <a:off x="762000" y="3495675"/>
              <a:ext cx="5181600" cy="1714500"/>
            </a:xfrm>
            <a:prstGeom prst="roundRect">
              <a:avLst>
                <a:gd name="adj" fmla="val 4444"/>
              </a:avLst>
            </a:prstGeom>
            <a:solidFill>
              <a:srgbClr val="EDF3FB"/>
            </a:solidFill>
            <a:ln>
              <a:noFill/>
            </a:ln>
          </p:spPr>
        </p:sp>
        <p:sp>
          <p:nvSpPr>
            <p:cNvPr id="18" name="Freeform 18"/>
            <p:cNvSpPr/>
            <p:nvPr/>
          </p:nvSpPr>
          <p:spPr>
            <a:xfrm>
              <a:off x="762000" y="3495675"/>
              <a:ext cx="47625" cy="1714500"/>
            </a:xfrm>
            <a:custGeom>
              <a:avLst/>
              <a:gdLst/>
              <a:ahLst/>
              <a:cxnLst/>
              <a:rect l="l" t="t" r="r" b="b"/>
              <a:pathLst>
                <a:path w="47625" h="1714500">
                  <a:moveTo>
                    <a:pt x="0" y="0"/>
                  </a:moveTo>
                  <a:lnTo>
                    <a:pt x="47625" y="0"/>
                  </a:lnTo>
                  <a:lnTo>
                    <a:pt x="47625" y="1714500"/>
                  </a:lnTo>
                  <a:lnTo>
                    <a:pt x="0" y="1714500"/>
                  </a:lnTo>
                  <a:close/>
                </a:path>
              </a:pathLst>
            </a:custGeom>
            <a:solidFill>
              <a:srgbClr val="2F4F98"/>
            </a:solidFill>
            <a:ln>
              <a:noFill/>
            </a:ln>
          </p:spPr>
        </p:sp>
        <p:sp>
          <p:nvSpPr>
            <p:cNvPr id="19" name="TextBox 19"/>
            <p:cNvSpPr txBox="1"/>
            <p:nvPr/>
          </p:nvSpPr>
          <p:spPr>
            <a:xfrm>
              <a:off x="962025" y="3619500"/>
              <a:ext cx="1284478"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设备端脚本</a:t>
              </a:r>
            </a:p>
          </p:txBody>
        </p:sp>
        <p:sp>
          <p:nvSpPr>
            <p:cNvPr id="20" name="TextBox 20"/>
            <p:cNvSpPr txBox="1"/>
            <p:nvPr/>
          </p:nvSpPr>
          <p:spPr>
            <a:xfrm>
              <a:off x="963168" y="4000500"/>
              <a:ext cx="3086672"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读取挑战、计算响应与路径；</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生成 witness、π，再提交交易。</a:t>
              </a:r>
            </a:p>
          </p:txBody>
        </p:sp>
      </p:grpSp>
      <p:grpSp>
        <p:nvGrpSpPr>
          <p:cNvPr id="27" name="pipeline-3"/>
          <p:cNvGrpSpPr/>
          <p:nvPr/>
        </p:nvGrpSpPr>
        <p:grpSpPr>
          <a:xfrm>
            <a:off x="6248400" y="3495675"/>
            <a:ext cx="5181600" cy="1714500"/>
            <a:chOff x="6248400" y="3495675"/>
            <a:chExt cx="5181600" cy="1714500"/>
          </a:xfrm>
        </p:grpSpPr>
        <p:sp>
          <p:nvSpPr>
            <p:cNvPr id="22" name="Rectangle 22"/>
            <p:cNvSpPr/>
            <p:nvPr/>
          </p:nvSpPr>
          <p:spPr>
            <a:xfrm>
              <a:off x="6248400" y="3495675"/>
              <a:ext cx="5181600" cy="1714500"/>
            </a:xfrm>
            <a:prstGeom prst="roundRect">
              <a:avLst>
                <a:gd name="adj" fmla="val 4444"/>
              </a:avLst>
            </a:prstGeom>
            <a:solidFill>
              <a:srgbClr val="EDF3FB"/>
            </a:solidFill>
            <a:ln>
              <a:noFill/>
            </a:ln>
          </p:spPr>
        </p:sp>
        <p:sp>
          <p:nvSpPr>
            <p:cNvPr id="23" name="Freeform 23"/>
            <p:cNvSpPr/>
            <p:nvPr/>
          </p:nvSpPr>
          <p:spPr>
            <a:xfrm>
              <a:off x="6248400" y="3495675"/>
              <a:ext cx="47625" cy="1714500"/>
            </a:xfrm>
            <a:custGeom>
              <a:avLst/>
              <a:gdLst/>
              <a:ahLst/>
              <a:cxnLst/>
              <a:rect l="l" t="t" r="r" b="b"/>
              <a:pathLst>
                <a:path w="47625" h="1714500">
                  <a:moveTo>
                    <a:pt x="0" y="0"/>
                  </a:moveTo>
                  <a:lnTo>
                    <a:pt x="47625" y="0"/>
                  </a:lnTo>
                  <a:lnTo>
                    <a:pt x="47625" y="1714500"/>
                  </a:lnTo>
                  <a:lnTo>
                    <a:pt x="0" y="1714500"/>
                  </a:lnTo>
                  <a:close/>
                </a:path>
              </a:pathLst>
            </a:custGeom>
            <a:solidFill>
              <a:srgbClr val="2F4F98"/>
            </a:solidFill>
            <a:ln>
              <a:noFill/>
            </a:ln>
          </p:spPr>
        </p:sp>
        <p:sp>
          <p:nvSpPr>
            <p:cNvPr id="24" name="TextBox 24"/>
            <p:cNvSpPr txBox="1"/>
            <p:nvPr/>
          </p:nvSpPr>
          <p:spPr>
            <a:xfrm>
              <a:off x="6448425" y="3619500"/>
              <a:ext cx="2201176" cy="367665"/>
            </a:xfrm>
            <a:prstGeom prst="rect">
              <a:avLst/>
            </a:prstGeom>
            <a:noFill/>
            <a:ln>
              <a:noFill/>
            </a:ln>
          </p:spPr>
          <p:txBody>
            <a:bodyPr wrap="none" lIns="0" tIns="0" rIns="0" bIns="0" anchor="t" anchorCtr="0">
              <a:spAutoFit/>
            </a:bodyPr>
            <a:lstStyle/>
            <a:p>
              <a:pPr algn="l"/>
              <a:r>
                <a:rPr lang="en-US" sz="1880" b="1" dirty="0">
                  <a:solidFill>
                    <a:srgbClr val="2F4F98"/>
                  </a:solidFill>
                  <a:latin typeface="Microsoft YaHei"/>
                  <a:ea typeface="Microsoft YaHei"/>
                  <a:cs typeface="Microsoft YaHei"/>
                </a:rPr>
                <a:t>Solidity / Sepolia</a:t>
              </a:r>
            </a:p>
          </p:txBody>
        </p:sp>
        <p:sp>
          <p:nvSpPr>
            <p:cNvPr id="25" name="TextBox 25"/>
            <p:cNvSpPr txBox="1"/>
            <p:nvPr/>
          </p:nvSpPr>
          <p:spPr>
            <a:xfrm>
              <a:off x="6449568" y="4000500"/>
              <a:ext cx="3369564"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部署 verifier.sol 与 attest.sol；</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合约执行四项检查并公开结果。</a:t>
              </a:r>
            </a:p>
          </p:txBody>
        </p:sp>
      </p:grpSp>
      <p:grpSp>
        <p:nvGrpSpPr>
          <p:cNvPr id="29" name="two-setups"/>
          <p:cNvGrpSpPr/>
          <p:nvPr/>
        </p:nvGrpSpPr>
        <p:grpSpPr>
          <a:xfrm>
            <a:off x="792099" y="5553075"/>
            <a:ext cx="7598823" cy="308991"/>
            <a:chOff x="792099" y="5553075"/>
            <a:chExt cx="7598823" cy="308991"/>
          </a:xfrm>
        </p:grpSpPr>
        <p:sp>
          <p:nvSpPr>
            <p:cNvPr id="28" name="TextBox 28"/>
            <p:cNvSpPr txBox="1"/>
            <p:nvPr/>
          </p:nvSpPr>
          <p:spPr>
            <a:xfrm>
              <a:off x="792099" y="5553075"/>
              <a:ext cx="7598823" cy="308991"/>
            </a:xfrm>
            <a:prstGeom prst="rect">
              <a:avLst/>
            </a:prstGeom>
            <a:noFill/>
            <a:ln>
              <a:noFill/>
            </a:ln>
          </p:spPr>
          <p:txBody>
            <a:bodyPr wrap="none" lIns="0" tIns="0" rIns="0" bIns="0" anchor="t" anchorCtr="0">
              <a:spAutoFit/>
            </a:bodyPr>
            <a:lstStyle/>
            <a:p>
              <a:pPr algn="l"/>
              <a:r>
                <a:rPr lang="zh-CN" sz="1580" dirty="0">
                  <a:solidFill>
                    <a:srgbClr val="172B4D"/>
                  </a:solidFill>
                  <a:latin typeface="Microsoft YaHei"/>
                  <a:ea typeface="Microsoft YaHei"/>
                  <a:cs typeface="Microsoft YaHei"/>
                </a:rPr>
                <a:t>两类初始化要区分：响应树 / 挑战的准备，与 Groth16 证明系统的可信初始化。</a:t>
              </a:r>
            </a:p>
          </p:txBody>
        </p:sp>
      </p:grpSp>
      <p:grpSp>
        <p:nvGrpSpPr>
          <p:cNvPr id="32" name="takeaway"/>
          <p:cNvGrpSpPr/>
          <p:nvPr/>
        </p:nvGrpSpPr>
        <p:grpSpPr>
          <a:xfrm>
            <a:off x="723900" y="5924550"/>
            <a:ext cx="10744200" cy="466725"/>
            <a:chOff x="723900" y="5924550"/>
            <a:chExt cx="10744200" cy="466725"/>
          </a:xfrm>
        </p:grpSpPr>
        <p:sp>
          <p:nvSpPr>
            <p:cNvPr id="30" name="Rectangle 30"/>
            <p:cNvSpPr/>
            <p:nvPr/>
          </p:nvSpPr>
          <p:spPr>
            <a:xfrm>
              <a:off x="723900" y="5924550"/>
              <a:ext cx="10744200" cy="466725"/>
            </a:xfrm>
            <a:prstGeom prst="roundRect">
              <a:avLst>
                <a:gd name="adj" fmla="val 12245"/>
              </a:avLst>
            </a:prstGeom>
            <a:solidFill>
              <a:srgbClr val="EDF3FB"/>
            </a:solidFill>
            <a:ln>
              <a:noFill/>
            </a:ln>
          </p:spPr>
        </p:sp>
        <p:sp>
          <p:nvSpPr>
            <p:cNvPr id="31" name="TextBox 31"/>
            <p:cNvSpPr txBox="1"/>
            <p:nvPr/>
          </p:nvSpPr>
          <p:spPr>
            <a:xfrm>
              <a:off x="887349" y="6038850"/>
              <a:ext cx="7895513"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Ethereum Sepolia 是论文原型部署平台；链上确认时间不等于本地证明验证时间。</a:t>
              </a:r>
            </a:p>
          </p:txBody>
        </p:sp>
      </p:grpSp>
    </p:spTree>
  </p:cSld>
  <p:clrMapOvr>
    <a:masterClrMapping/>
  </p:clrMapOvr>
</p:sld>
</file>

<file path=ppt/slides/slide16.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sp>
        <p:nvSpPr>
          <p:cNvPr id="26" name="矩形 25"/>
          <p:cNvSpPr/>
          <p:nvPr/>
        </p:nvSpPr>
        <p:spPr>
          <a:xfrm>
            <a:off x="685800" y="495300"/>
            <a:ext cx="10810875" cy="495300"/>
          </a:xfrm>
          <a:prstGeom prst="rect">
            <a:avLst/>
          </a:prstGeom>
          <a:noFill/>
          <a:ln>
            <a:noFill/>
          </a:ln>
        </p:spPr>
        <p:txBody>
          <a:bodyPr wrap="none" lIns="91440" tIns="67151" rIns="0" bIns="0" anchor="t" anchorCtr="0">
            <a:noAutofit/>
          </a:bodyPr>
          <a:lstStyle/>
          <a:p>
            <a:pPr algn="l"/>
            <a:r>
              <a:rPr lang="zh-CN" sz="2620" b="1" dirty="0">
                <a:solidFill>
                  <a:srgbClr val="172B4D"/>
                </a:solidFill>
                <a:latin typeface="Microsoft YaHei"/>
                <a:ea typeface="Microsoft YaHei"/>
                <a:cs typeface="Microsoft YaHei"/>
              </a:rPr>
              <a:t>设备端耗时：论文结果与已有复现</a:t>
            </a:r>
          </a:p>
        </p:txBody>
      </p:sp>
      <p:sp>
        <p:nvSpPr>
          <p:cNvPr id="3" name="Line 3"/>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6" name="page-footer"/>
          <p:cNvGrpSpPr/>
          <p:nvPr/>
        </p:nvGrpSpPr>
        <p:grpSpPr>
          <a:xfrm>
            <a:off x="776288" y="6524625"/>
            <a:ext cx="10629899" cy="176212"/>
            <a:chOff x="776288" y="6524625"/>
            <a:chExt cx="10629899" cy="176212"/>
          </a:xfrm>
        </p:grpSpPr>
        <p:sp>
          <p:nvSpPr>
            <p:cNvPr id="4" name="TextBox 4"/>
            <p:cNvSpPr txBox="1"/>
            <p:nvPr/>
          </p:nvSpPr>
          <p:spPr>
            <a:xfrm>
              <a:off x="776288" y="6524625"/>
              <a:ext cx="2765412"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03 原型与实验 · 论文 Table V；原 PPT 第16页截图</a:t>
              </a:r>
            </a:p>
          </p:txBody>
        </p:sp>
        <p:sp>
          <p:nvSpPr>
            <p:cNvPr id="5" name="TextBox 5"/>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16 / 20</a:t>
              </a:r>
            </a:p>
          </p:txBody>
        </p:sp>
      </p:grpSp>
      <p:grpSp>
        <p:nvGrpSpPr>
          <p:cNvPr id="9" name="paper-time-label"/>
          <p:cNvGrpSpPr/>
          <p:nvPr/>
        </p:nvGrpSpPr>
        <p:grpSpPr>
          <a:xfrm>
            <a:off x="790575" y="1524000"/>
            <a:ext cx="2967126" cy="634302"/>
            <a:chOff x="790575" y="1524000"/>
            <a:chExt cx="2967126" cy="634302"/>
          </a:xfrm>
        </p:grpSpPr>
        <p:sp>
          <p:nvSpPr>
            <p:cNvPr id="7" name="TextBox 7"/>
            <p:cNvSpPr txBox="1"/>
            <p:nvPr/>
          </p:nvSpPr>
          <p:spPr>
            <a:xfrm>
              <a:off x="790575" y="1524000"/>
              <a:ext cx="2773003"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论文：WIT / PRF（秒）</a:t>
              </a:r>
            </a:p>
          </p:txBody>
        </p:sp>
        <p:sp>
          <p:nvSpPr>
            <p:cNvPr id="8" name="TextBox 8"/>
            <p:cNvSpPr txBox="1"/>
            <p:nvPr/>
          </p:nvSpPr>
          <p:spPr>
            <a:xfrm>
              <a:off x="792861" y="1879600"/>
              <a:ext cx="2964840" cy="278702"/>
            </a:xfrm>
            <a:prstGeom prst="rect">
              <a:avLst/>
            </a:prstGeom>
            <a:noFill/>
            <a:ln>
              <a:noFill/>
            </a:ln>
          </p:spPr>
          <p:txBody>
            <a:bodyPr wrap="none" lIns="0" tIns="0" rIns="0" bIns="0" anchor="t" anchorCtr="0">
              <a:spAutoFit/>
            </a:bodyPr>
            <a:lstStyle/>
            <a:p>
              <a:pPr algn="l"/>
              <a:r>
                <a:rPr lang="zh-CN" sz="1420" dirty="0">
                  <a:solidFill>
                    <a:srgbClr val="52657E"/>
                  </a:solidFill>
                  <a:latin typeface="Microsoft YaHei"/>
                  <a:ea typeface="Microsoft YaHei"/>
                  <a:cs typeface="Microsoft YaHei"/>
                </a:rPr>
                <a:t>WIT：见证生成；PRF：证明生成。</a:t>
              </a:r>
            </a:p>
          </p:txBody>
        </p:sp>
      </p:grpSp>
      <p:grpSp>
        <p:nvGrpSpPr>
          <p:cNvPr id="54" name="paper-times"/>
          <p:cNvGrpSpPr/>
          <p:nvPr/>
        </p:nvGrpSpPr>
        <p:grpSpPr>
          <a:xfrm>
            <a:off x="762000" y="2276475"/>
            <a:ext cx="5257800" cy="2114551"/>
            <a:chOff x="762000" y="2276475"/>
            <a:chExt cx="5257800" cy="2114551"/>
          </a:xfrm>
        </p:grpSpPr>
        <p:sp>
          <p:nvSpPr>
            <p:cNvPr id="10" name="Rectangle 10"/>
            <p:cNvSpPr/>
            <p:nvPr/>
          </p:nvSpPr>
          <p:spPr>
            <a:xfrm>
              <a:off x="762000" y="2276475"/>
              <a:ext cx="5257800" cy="528638"/>
            </a:xfrm>
            <a:prstGeom prst="rect">
              <a:avLst/>
            </a:prstGeom>
            <a:solidFill>
              <a:srgbClr val="2F4F98"/>
            </a:solidFill>
            <a:ln>
              <a:noFill/>
            </a:ln>
          </p:spPr>
        </p:sp>
        <p:sp>
          <p:nvSpPr>
            <p:cNvPr id="11" name="Rectangle 11"/>
            <p:cNvSpPr/>
            <p:nvPr/>
          </p:nvSpPr>
          <p:spPr>
            <a:xfrm>
              <a:off x="762000" y="2276475"/>
              <a:ext cx="1134035" cy="528638"/>
            </a:xfrm>
            <a:prstGeom prst="rect">
              <a:avLst/>
            </a:prstGeom>
            <a:solidFill>
              <a:srgbClr val="2F4F98"/>
            </a:solidFill>
            <a:ln w="9525">
              <a:solidFill>
                <a:srgbClr val="D6E1EF"/>
              </a:solidFill>
            </a:ln>
          </p:spPr>
        </p:sp>
        <p:sp>
          <p:nvSpPr>
            <p:cNvPr id="12" name="TextBox 12"/>
            <p:cNvSpPr txBox="1"/>
            <p:nvPr/>
          </p:nvSpPr>
          <p:spPr>
            <a:xfrm>
              <a:off x="1161378" y="2441734"/>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icrosoft YaHei"/>
                  <a:ea typeface="Microsoft YaHei"/>
                  <a:cs typeface="Microsoft YaHei"/>
                </a:rPr>
                <a:t>设备</a:t>
              </a:r>
            </a:p>
          </p:txBody>
        </p:sp>
        <p:sp>
          <p:nvSpPr>
            <p:cNvPr id="13" name="Rectangle 13"/>
            <p:cNvSpPr/>
            <p:nvPr/>
          </p:nvSpPr>
          <p:spPr>
            <a:xfrm>
              <a:off x="1896035" y="2276475"/>
              <a:ext cx="1030941" cy="528638"/>
            </a:xfrm>
            <a:prstGeom prst="rect">
              <a:avLst/>
            </a:prstGeom>
            <a:solidFill>
              <a:srgbClr val="2F4F98"/>
            </a:solidFill>
            <a:ln w="9525">
              <a:solidFill>
                <a:srgbClr val="D6E1EF"/>
              </a:solidFill>
            </a:ln>
          </p:spPr>
        </p:sp>
        <p:sp>
          <p:nvSpPr>
            <p:cNvPr id="14" name="TextBox 14"/>
            <p:cNvSpPr txBox="1"/>
            <p:nvPr/>
          </p:nvSpPr>
          <p:spPr>
            <a:xfrm>
              <a:off x="2265472" y="2441734"/>
              <a:ext cx="292067"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icrosoft YaHei"/>
                  <a:ea typeface="Microsoft YaHei"/>
                  <a:cs typeface="Microsoft YaHei"/>
                </a:rPr>
                <a:t>h10</a:t>
              </a:r>
            </a:p>
          </p:txBody>
        </p:sp>
        <p:sp>
          <p:nvSpPr>
            <p:cNvPr id="15" name="Rectangle 15"/>
            <p:cNvSpPr/>
            <p:nvPr/>
          </p:nvSpPr>
          <p:spPr>
            <a:xfrm>
              <a:off x="2926976" y="2276475"/>
              <a:ext cx="1030941" cy="528638"/>
            </a:xfrm>
            <a:prstGeom prst="rect">
              <a:avLst/>
            </a:prstGeom>
            <a:solidFill>
              <a:srgbClr val="2F4F98"/>
            </a:solidFill>
            <a:ln w="9525">
              <a:solidFill>
                <a:srgbClr val="D6E1EF"/>
              </a:solidFill>
            </a:ln>
          </p:spPr>
        </p:sp>
        <p:sp>
          <p:nvSpPr>
            <p:cNvPr id="16" name="TextBox 16"/>
            <p:cNvSpPr txBox="1"/>
            <p:nvPr/>
          </p:nvSpPr>
          <p:spPr>
            <a:xfrm>
              <a:off x="3296414" y="2441734"/>
              <a:ext cx="292067"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icrosoft YaHei"/>
                  <a:ea typeface="Microsoft YaHei"/>
                  <a:cs typeface="Microsoft YaHei"/>
                </a:rPr>
                <a:t>h20</a:t>
              </a:r>
            </a:p>
          </p:txBody>
        </p:sp>
        <p:sp>
          <p:nvSpPr>
            <p:cNvPr id="17" name="Rectangle 17"/>
            <p:cNvSpPr/>
            <p:nvPr/>
          </p:nvSpPr>
          <p:spPr>
            <a:xfrm>
              <a:off x="3957918" y="2276475"/>
              <a:ext cx="1030941" cy="528638"/>
            </a:xfrm>
            <a:prstGeom prst="rect">
              <a:avLst/>
            </a:prstGeom>
            <a:solidFill>
              <a:srgbClr val="2F4F98"/>
            </a:solidFill>
            <a:ln w="9525">
              <a:solidFill>
                <a:srgbClr val="D6E1EF"/>
              </a:solidFill>
            </a:ln>
          </p:spPr>
        </p:sp>
        <p:sp>
          <p:nvSpPr>
            <p:cNvPr id="18" name="TextBox 18"/>
            <p:cNvSpPr txBox="1"/>
            <p:nvPr/>
          </p:nvSpPr>
          <p:spPr>
            <a:xfrm>
              <a:off x="4327355" y="2441734"/>
              <a:ext cx="292067"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icrosoft YaHei"/>
                  <a:ea typeface="Microsoft YaHei"/>
                  <a:cs typeface="Microsoft YaHei"/>
                </a:rPr>
                <a:t>h30</a:t>
              </a:r>
            </a:p>
          </p:txBody>
        </p:sp>
        <p:sp>
          <p:nvSpPr>
            <p:cNvPr id="19" name="Rectangle 19"/>
            <p:cNvSpPr/>
            <p:nvPr/>
          </p:nvSpPr>
          <p:spPr>
            <a:xfrm>
              <a:off x="4988859" y="2276475"/>
              <a:ext cx="1030941" cy="528638"/>
            </a:xfrm>
            <a:prstGeom prst="rect">
              <a:avLst/>
            </a:prstGeom>
            <a:solidFill>
              <a:srgbClr val="2F4F98"/>
            </a:solidFill>
            <a:ln w="9525">
              <a:solidFill>
                <a:srgbClr val="D6E1EF"/>
              </a:solidFill>
            </a:ln>
          </p:spPr>
        </p:sp>
        <p:sp>
          <p:nvSpPr>
            <p:cNvPr id="20" name="TextBox 20"/>
            <p:cNvSpPr txBox="1"/>
            <p:nvPr/>
          </p:nvSpPr>
          <p:spPr>
            <a:xfrm>
              <a:off x="5358296" y="2441734"/>
              <a:ext cx="292067"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icrosoft YaHei"/>
                  <a:ea typeface="Microsoft YaHei"/>
                  <a:cs typeface="Microsoft YaHei"/>
                </a:rPr>
                <a:t>h40</a:t>
              </a:r>
            </a:p>
          </p:txBody>
        </p:sp>
        <p:sp>
          <p:nvSpPr>
            <p:cNvPr id="21" name="Rectangle 21"/>
            <p:cNvSpPr/>
            <p:nvPr/>
          </p:nvSpPr>
          <p:spPr>
            <a:xfrm>
              <a:off x="762000" y="2805112"/>
              <a:ext cx="1134035" cy="528638"/>
            </a:xfrm>
            <a:prstGeom prst="rect">
              <a:avLst/>
            </a:prstGeom>
            <a:solidFill>
              <a:srgbClr val="FFFFFF"/>
            </a:solidFill>
            <a:ln w="9525">
              <a:solidFill>
                <a:srgbClr val="D6E1EF"/>
              </a:solidFill>
            </a:ln>
          </p:spPr>
        </p:sp>
        <p:sp>
          <p:nvSpPr>
            <p:cNvPr id="22" name="TextBox 22"/>
            <p:cNvSpPr txBox="1"/>
            <p:nvPr/>
          </p:nvSpPr>
          <p:spPr>
            <a:xfrm>
              <a:off x="851154" y="2970371"/>
              <a:ext cx="831233" cy="234696"/>
            </a:xfrm>
            <a:prstGeom prst="rect">
              <a:avLst/>
            </a:prstGeom>
            <a:noFill/>
            <a:ln>
              <a:noFill/>
            </a:ln>
          </p:spPr>
          <p:txBody>
            <a:bodyPr wrap="none" lIns="0" tIns="0" rIns="0" bIns="0" anchor="t" anchorCtr="0">
              <a:spAutoFit/>
            </a:bodyPr>
            <a:lstStyle/>
            <a:p>
              <a:pPr algn="l"/>
              <a:r>
                <a:rPr lang="en-US" sz="1200" dirty="0">
                  <a:solidFill>
                    <a:srgbClr val="172B4D"/>
                  </a:solidFill>
                  <a:latin typeface="Microsoft YaHei"/>
                  <a:ea typeface="Microsoft YaHei"/>
                  <a:cs typeface="Microsoft YaHei"/>
                </a:rPr>
                <a:t>Pi Zero 2W</a:t>
              </a:r>
            </a:p>
          </p:txBody>
        </p:sp>
        <p:sp>
          <p:nvSpPr>
            <p:cNvPr id="23" name="Rectangle 23"/>
            <p:cNvSpPr/>
            <p:nvPr/>
          </p:nvSpPr>
          <p:spPr>
            <a:xfrm>
              <a:off x="1896035" y="2805112"/>
              <a:ext cx="1030941" cy="528638"/>
            </a:xfrm>
            <a:prstGeom prst="rect">
              <a:avLst/>
            </a:prstGeom>
            <a:solidFill>
              <a:srgbClr val="FFFFFF"/>
            </a:solidFill>
            <a:ln w="9525">
              <a:solidFill>
                <a:srgbClr val="D6E1EF"/>
              </a:solidFill>
            </a:ln>
          </p:spPr>
        </p:sp>
        <p:sp>
          <p:nvSpPr>
            <p:cNvPr id="24" name="TextBox 24"/>
            <p:cNvSpPr txBox="1"/>
            <p:nvPr/>
          </p:nvSpPr>
          <p:spPr>
            <a:xfrm>
              <a:off x="2001550" y="2970371"/>
              <a:ext cx="819912" cy="234696"/>
            </a:xfrm>
            <a:prstGeom prst="rect">
              <a:avLst/>
            </a:prstGeom>
            <a:noFill/>
            <a:ln>
              <a:noFill/>
            </a:ln>
          </p:spPr>
          <p:txBody>
            <a:bodyPr wrap="none" lIns="0" tIns="0" rIns="0" bIns="0" anchor="t" anchorCtr="0">
              <a:spAutoFit/>
            </a:bodyPr>
            <a:lstStyle/>
            <a:p>
              <a:pPr algn="ctr"/>
              <a:r>
                <a:rPr lang="zh-CN" sz="1200" dirty="0">
                  <a:solidFill>
                    <a:srgbClr val="172B4D"/>
                  </a:solidFill>
                  <a:latin typeface="Microsoft YaHei"/>
                  <a:ea typeface="Microsoft YaHei"/>
                  <a:cs typeface="Microsoft YaHei"/>
                </a:rPr>
                <a:t>11.3 / 8.4</a:t>
              </a:r>
            </a:p>
          </p:txBody>
        </p:sp>
        <p:sp>
          <p:nvSpPr>
            <p:cNvPr id="25" name="Rectangle 25"/>
            <p:cNvSpPr/>
            <p:nvPr/>
          </p:nvSpPr>
          <p:spPr>
            <a:xfrm>
              <a:off x="2926976" y="2805112"/>
              <a:ext cx="1030941" cy="528638"/>
            </a:xfrm>
            <a:prstGeom prst="rect">
              <a:avLst/>
            </a:prstGeom>
            <a:solidFill>
              <a:srgbClr val="FFFFFF"/>
            </a:solidFill>
            <a:ln w="9525">
              <a:solidFill>
                <a:srgbClr val="D6E1EF"/>
              </a:solidFill>
            </a:ln>
          </p:spPr>
        </p:sp>
        <p:sp>
          <p:nvSpPr>
            <p:cNvPr id="27" name="TextBox 27"/>
            <p:cNvSpPr txBox="1"/>
            <p:nvPr/>
          </p:nvSpPr>
          <p:spPr>
            <a:xfrm>
              <a:off x="2988066" y="2970371"/>
              <a:ext cx="908761" cy="234696"/>
            </a:xfrm>
            <a:prstGeom prst="rect">
              <a:avLst/>
            </a:prstGeom>
            <a:noFill/>
            <a:ln>
              <a:noFill/>
            </a:ln>
          </p:spPr>
          <p:txBody>
            <a:bodyPr wrap="none" lIns="0" tIns="0" rIns="0" bIns="0" anchor="t" anchorCtr="0">
              <a:spAutoFit/>
            </a:bodyPr>
            <a:lstStyle/>
            <a:p>
              <a:pPr algn="ctr"/>
              <a:r>
                <a:rPr lang="zh-CN" sz="1200" dirty="0">
                  <a:solidFill>
                    <a:srgbClr val="172B4D"/>
                  </a:solidFill>
                  <a:latin typeface="Microsoft YaHei"/>
                  <a:ea typeface="Microsoft YaHei"/>
                  <a:cs typeface="Microsoft YaHei"/>
                </a:rPr>
                <a:t>11.2 / 10.6</a:t>
              </a:r>
            </a:p>
          </p:txBody>
        </p:sp>
        <p:sp>
          <p:nvSpPr>
            <p:cNvPr id="28" name="Rectangle 28"/>
            <p:cNvSpPr/>
            <p:nvPr/>
          </p:nvSpPr>
          <p:spPr>
            <a:xfrm>
              <a:off x="3957918" y="2805112"/>
              <a:ext cx="1030941" cy="528638"/>
            </a:xfrm>
            <a:prstGeom prst="rect">
              <a:avLst/>
            </a:prstGeom>
            <a:solidFill>
              <a:srgbClr val="FFFFFF"/>
            </a:solidFill>
            <a:ln w="9525">
              <a:solidFill>
                <a:srgbClr val="D6E1EF"/>
              </a:solidFill>
            </a:ln>
          </p:spPr>
        </p:sp>
        <p:sp>
          <p:nvSpPr>
            <p:cNvPr id="29" name="TextBox 29"/>
            <p:cNvSpPr txBox="1"/>
            <p:nvPr/>
          </p:nvSpPr>
          <p:spPr>
            <a:xfrm>
              <a:off x="4019008" y="2970371"/>
              <a:ext cx="908761" cy="234696"/>
            </a:xfrm>
            <a:prstGeom prst="rect">
              <a:avLst/>
            </a:prstGeom>
            <a:noFill/>
            <a:ln>
              <a:noFill/>
            </a:ln>
          </p:spPr>
          <p:txBody>
            <a:bodyPr wrap="none" lIns="0" tIns="0" rIns="0" bIns="0" anchor="t" anchorCtr="0">
              <a:spAutoFit/>
            </a:bodyPr>
            <a:lstStyle/>
            <a:p>
              <a:pPr algn="ctr"/>
              <a:r>
                <a:rPr lang="zh-CN" sz="1200" dirty="0">
                  <a:solidFill>
                    <a:srgbClr val="172B4D"/>
                  </a:solidFill>
                  <a:latin typeface="Microsoft YaHei"/>
                  <a:ea typeface="Microsoft YaHei"/>
                  <a:cs typeface="Microsoft YaHei"/>
                </a:rPr>
                <a:t>11.3 / 12.0</a:t>
              </a:r>
            </a:p>
          </p:txBody>
        </p:sp>
        <p:sp>
          <p:nvSpPr>
            <p:cNvPr id="30" name="Rectangle 30"/>
            <p:cNvSpPr/>
            <p:nvPr/>
          </p:nvSpPr>
          <p:spPr>
            <a:xfrm>
              <a:off x="4988859" y="2805112"/>
              <a:ext cx="1030941" cy="528638"/>
            </a:xfrm>
            <a:prstGeom prst="rect">
              <a:avLst/>
            </a:prstGeom>
            <a:solidFill>
              <a:srgbClr val="FFFFFF"/>
            </a:solidFill>
            <a:ln w="9525">
              <a:solidFill>
                <a:srgbClr val="D6E1EF"/>
              </a:solidFill>
            </a:ln>
          </p:spPr>
        </p:sp>
        <p:sp>
          <p:nvSpPr>
            <p:cNvPr id="31" name="TextBox 31"/>
            <p:cNvSpPr txBox="1"/>
            <p:nvPr/>
          </p:nvSpPr>
          <p:spPr>
            <a:xfrm>
              <a:off x="5049949" y="2970371"/>
              <a:ext cx="908761" cy="234696"/>
            </a:xfrm>
            <a:prstGeom prst="rect">
              <a:avLst/>
            </a:prstGeom>
            <a:noFill/>
            <a:ln>
              <a:noFill/>
            </a:ln>
          </p:spPr>
          <p:txBody>
            <a:bodyPr wrap="none" lIns="0" tIns="0" rIns="0" bIns="0" anchor="t" anchorCtr="0">
              <a:spAutoFit/>
            </a:bodyPr>
            <a:lstStyle/>
            <a:p>
              <a:pPr algn="ctr"/>
              <a:r>
                <a:rPr lang="zh-CN" sz="1200" dirty="0">
                  <a:solidFill>
                    <a:srgbClr val="172B4D"/>
                  </a:solidFill>
                  <a:latin typeface="Microsoft YaHei"/>
                  <a:ea typeface="Microsoft YaHei"/>
                  <a:cs typeface="Microsoft YaHei"/>
                </a:rPr>
                <a:t>11.3 / 14.9</a:t>
              </a:r>
            </a:p>
          </p:txBody>
        </p:sp>
        <p:sp>
          <p:nvSpPr>
            <p:cNvPr id="32" name="Rectangle 32"/>
            <p:cNvSpPr/>
            <p:nvPr/>
          </p:nvSpPr>
          <p:spPr>
            <a:xfrm>
              <a:off x="762000" y="3333750"/>
              <a:ext cx="1134035" cy="528638"/>
            </a:xfrm>
            <a:prstGeom prst="rect">
              <a:avLst/>
            </a:prstGeom>
            <a:solidFill>
              <a:srgbClr val="FFFFFF"/>
            </a:solidFill>
            <a:ln w="9525">
              <a:solidFill>
                <a:srgbClr val="D6E1EF"/>
              </a:solidFill>
            </a:ln>
          </p:spPr>
        </p:sp>
        <p:sp>
          <p:nvSpPr>
            <p:cNvPr id="35" name="TextBox 35"/>
            <p:cNvSpPr txBox="1"/>
            <p:nvPr/>
          </p:nvSpPr>
          <p:spPr>
            <a:xfrm>
              <a:off x="851154" y="3499009"/>
              <a:ext cx="509549" cy="234696"/>
            </a:xfrm>
            <a:prstGeom prst="rect">
              <a:avLst/>
            </a:prstGeom>
            <a:noFill/>
            <a:ln>
              <a:noFill/>
            </a:ln>
          </p:spPr>
          <p:txBody>
            <a:bodyPr wrap="none" lIns="0" tIns="0" rIns="0" bIns="0" anchor="t" anchorCtr="0">
              <a:spAutoFit/>
            </a:bodyPr>
            <a:lstStyle/>
            <a:p>
              <a:pPr algn="l"/>
              <a:r>
                <a:rPr lang="en-US" sz="1200" dirty="0">
                  <a:solidFill>
                    <a:srgbClr val="172B4D"/>
                  </a:solidFill>
                  <a:latin typeface="Microsoft YaHei"/>
                  <a:ea typeface="Microsoft YaHei"/>
                  <a:cs typeface="Microsoft YaHei"/>
                </a:rPr>
                <a:t>Tinker</a:t>
              </a:r>
            </a:p>
          </p:txBody>
        </p:sp>
        <p:sp>
          <p:nvSpPr>
            <p:cNvPr id="36" name="Rectangle 36"/>
            <p:cNvSpPr/>
            <p:nvPr/>
          </p:nvSpPr>
          <p:spPr>
            <a:xfrm>
              <a:off x="1896035" y="3333750"/>
              <a:ext cx="1030941" cy="528638"/>
            </a:xfrm>
            <a:prstGeom prst="rect">
              <a:avLst/>
            </a:prstGeom>
            <a:solidFill>
              <a:srgbClr val="FFFFFF"/>
            </a:solidFill>
            <a:ln w="9525">
              <a:solidFill>
                <a:srgbClr val="D6E1EF"/>
              </a:solidFill>
            </a:ln>
          </p:spPr>
        </p:sp>
        <p:sp>
          <p:nvSpPr>
            <p:cNvPr id="37" name="TextBox 37"/>
            <p:cNvSpPr txBox="1"/>
            <p:nvPr/>
          </p:nvSpPr>
          <p:spPr>
            <a:xfrm>
              <a:off x="1957125" y="3499009"/>
              <a:ext cx="908761" cy="234696"/>
            </a:xfrm>
            <a:prstGeom prst="rect">
              <a:avLst/>
            </a:prstGeom>
            <a:noFill/>
            <a:ln>
              <a:noFill/>
            </a:ln>
          </p:spPr>
          <p:txBody>
            <a:bodyPr wrap="none" lIns="0" tIns="0" rIns="0" bIns="0" anchor="t" anchorCtr="0">
              <a:spAutoFit/>
            </a:bodyPr>
            <a:lstStyle/>
            <a:p>
              <a:pPr algn="ctr"/>
              <a:r>
                <a:rPr lang="zh-CN" sz="1200" dirty="0">
                  <a:solidFill>
                    <a:srgbClr val="172B4D"/>
                  </a:solidFill>
                  <a:latin typeface="Microsoft YaHei"/>
                  <a:ea typeface="Microsoft YaHei"/>
                  <a:cs typeface="Microsoft YaHei"/>
                </a:rPr>
                <a:t>3.85 / 6.16</a:t>
              </a:r>
            </a:p>
          </p:txBody>
        </p:sp>
        <p:sp>
          <p:nvSpPr>
            <p:cNvPr id="38" name="Rectangle 38"/>
            <p:cNvSpPr/>
            <p:nvPr/>
          </p:nvSpPr>
          <p:spPr>
            <a:xfrm>
              <a:off x="2926976" y="3333750"/>
              <a:ext cx="1030941" cy="528638"/>
            </a:xfrm>
            <a:prstGeom prst="rect">
              <a:avLst/>
            </a:prstGeom>
            <a:solidFill>
              <a:srgbClr val="FFFFFF"/>
            </a:solidFill>
            <a:ln w="9525">
              <a:solidFill>
                <a:srgbClr val="D6E1EF"/>
              </a:solidFill>
            </a:ln>
          </p:spPr>
        </p:sp>
        <p:sp>
          <p:nvSpPr>
            <p:cNvPr id="39" name="TextBox 39"/>
            <p:cNvSpPr txBox="1"/>
            <p:nvPr/>
          </p:nvSpPr>
          <p:spPr>
            <a:xfrm>
              <a:off x="2988066" y="3499009"/>
              <a:ext cx="908761" cy="234696"/>
            </a:xfrm>
            <a:prstGeom prst="rect">
              <a:avLst/>
            </a:prstGeom>
            <a:noFill/>
            <a:ln>
              <a:noFill/>
            </a:ln>
          </p:spPr>
          <p:txBody>
            <a:bodyPr wrap="none" lIns="0" tIns="0" rIns="0" bIns="0" anchor="t" anchorCtr="0">
              <a:spAutoFit/>
            </a:bodyPr>
            <a:lstStyle/>
            <a:p>
              <a:pPr algn="ctr"/>
              <a:r>
                <a:rPr lang="zh-CN" sz="1200" dirty="0">
                  <a:solidFill>
                    <a:srgbClr val="172B4D"/>
                  </a:solidFill>
                  <a:latin typeface="Microsoft YaHei"/>
                  <a:ea typeface="Microsoft YaHei"/>
                  <a:cs typeface="Microsoft YaHei"/>
                </a:rPr>
                <a:t>3.90 / 8.03</a:t>
              </a:r>
            </a:p>
          </p:txBody>
        </p:sp>
        <p:sp>
          <p:nvSpPr>
            <p:cNvPr id="40" name="Rectangle 40"/>
            <p:cNvSpPr/>
            <p:nvPr/>
          </p:nvSpPr>
          <p:spPr>
            <a:xfrm>
              <a:off x="3957918" y="3333750"/>
              <a:ext cx="1030941" cy="528638"/>
            </a:xfrm>
            <a:prstGeom prst="rect">
              <a:avLst/>
            </a:prstGeom>
            <a:solidFill>
              <a:srgbClr val="FFFFFF"/>
            </a:solidFill>
            <a:ln w="9525">
              <a:solidFill>
                <a:srgbClr val="D6E1EF"/>
              </a:solidFill>
            </a:ln>
          </p:spPr>
        </p:sp>
        <p:sp>
          <p:nvSpPr>
            <p:cNvPr id="41" name="TextBox 41"/>
            <p:cNvSpPr txBox="1"/>
            <p:nvPr/>
          </p:nvSpPr>
          <p:spPr>
            <a:xfrm>
              <a:off x="4019008" y="3499009"/>
              <a:ext cx="908761" cy="234696"/>
            </a:xfrm>
            <a:prstGeom prst="rect">
              <a:avLst/>
            </a:prstGeom>
            <a:noFill/>
            <a:ln>
              <a:noFill/>
            </a:ln>
          </p:spPr>
          <p:txBody>
            <a:bodyPr wrap="none" lIns="0" tIns="0" rIns="0" bIns="0" anchor="t" anchorCtr="0">
              <a:spAutoFit/>
            </a:bodyPr>
            <a:lstStyle/>
            <a:p>
              <a:pPr algn="ctr"/>
              <a:r>
                <a:rPr lang="zh-CN" sz="1200" dirty="0">
                  <a:solidFill>
                    <a:srgbClr val="172B4D"/>
                  </a:solidFill>
                  <a:latin typeface="Microsoft YaHei"/>
                  <a:ea typeface="Microsoft YaHei"/>
                  <a:cs typeface="Microsoft YaHei"/>
                </a:rPr>
                <a:t>3.82 / 9.26</a:t>
              </a:r>
            </a:p>
          </p:txBody>
        </p:sp>
        <p:sp>
          <p:nvSpPr>
            <p:cNvPr id="42" name="Rectangle 42"/>
            <p:cNvSpPr/>
            <p:nvPr/>
          </p:nvSpPr>
          <p:spPr>
            <a:xfrm>
              <a:off x="4988859" y="3333750"/>
              <a:ext cx="1030941" cy="528638"/>
            </a:xfrm>
            <a:prstGeom prst="rect">
              <a:avLst/>
            </a:prstGeom>
            <a:solidFill>
              <a:srgbClr val="FFFFFF"/>
            </a:solidFill>
            <a:ln w="9525">
              <a:solidFill>
                <a:srgbClr val="D6E1EF"/>
              </a:solidFill>
            </a:ln>
          </p:spPr>
        </p:sp>
        <p:sp>
          <p:nvSpPr>
            <p:cNvPr id="43" name="TextBox 43"/>
            <p:cNvSpPr txBox="1"/>
            <p:nvPr/>
          </p:nvSpPr>
          <p:spPr>
            <a:xfrm>
              <a:off x="5049949" y="3499009"/>
              <a:ext cx="908761" cy="234696"/>
            </a:xfrm>
            <a:prstGeom prst="rect">
              <a:avLst/>
            </a:prstGeom>
            <a:noFill/>
            <a:ln>
              <a:noFill/>
            </a:ln>
          </p:spPr>
          <p:txBody>
            <a:bodyPr wrap="none" lIns="0" tIns="0" rIns="0" bIns="0" anchor="t" anchorCtr="0">
              <a:spAutoFit/>
            </a:bodyPr>
            <a:lstStyle/>
            <a:p>
              <a:pPr algn="ctr"/>
              <a:r>
                <a:rPr lang="zh-CN" sz="1200" dirty="0">
                  <a:solidFill>
                    <a:srgbClr val="172B4D"/>
                  </a:solidFill>
                  <a:latin typeface="Microsoft YaHei"/>
                  <a:ea typeface="Microsoft YaHei"/>
                  <a:cs typeface="Microsoft YaHei"/>
                </a:rPr>
                <a:t>3.83 / 11.8</a:t>
              </a:r>
            </a:p>
          </p:txBody>
        </p:sp>
        <p:sp>
          <p:nvSpPr>
            <p:cNvPr id="44" name="Rectangle 44"/>
            <p:cNvSpPr/>
            <p:nvPr/>
          </p:nvSpPr>
          <p:spPr>
            <a:xfrm>
              <a:off x="762000" y="3862388"/>
              <a:ext cx="1134035" cy="528638"/>
            </a:xfrm>
            <a:prstGeom prst="rect">
              <a:avLst/>
            </a:prstGeom>
            <a:solidFill>
              <a:srgbClr val="FFFFFF"/>
            </a:solidFill>
            <a:ln w="9525">
              <a:solidFill>
                <a:srgbClr val="D6E1EF"/>
              </a:solidFill>
            </a:ln>
          </p:spPr>
        </p:sp>
        <p:sp>
          <p:nvSpPr>
            <p:cNvPr id="45" name="TextBox 45"/>
            <p:cNvSpPr txBox="1"/>
            <p:nvPr/>
          </p:nvSpPr>
          <p:spPr>
            <a:xfrm>
              <a:off x="851154" y="4027646"/>
              <a:ext cx="792937" cy="234696"/>
            </a:xfrm>
            <a:prstGeom prst="rect">
              <a:avLst/>
            </a:prstGeom>
            <a:noFill/>
            <a:ln>
              <a:noFill/>
            </a:ln>
          </p:spPr>
          <p:txBody>
            <a:bodyPr wrap="none" lIns="0" tIns="0" rIns="0" bIns="0" anchor="t" anchorCtr="0">
              <a:spAutoFit/>
            </a:bodyPr>
            <a:lstStyle/>
            <a:p>
              <a:pPr algn="l"/>
              <a:r>
                <a:rPr lang="en-US" sz="1200" dirty="0">
                  <a:solidFill>
                    <a:srgbClr val="172B4D"/>
                  </a:solidFill>
                  <a:latin typeface="Microsoft YaHei"/>
                  <a:ea typeface="Microsoft YaHei"/>
                  <a:cs typeface="Microsoft YaHei"/>
                </a:rPr>
                <a:t>i5-12500H</a:t>
              </a:r>
            </a:p>
          </p:txBody>
        </p:sp>
        <p:sp>
          <p:nvSpPr>
            <p:cNvPr id="46" name="Rectangle 46"/>
            <p:cNvSpPr/>
            <p:nvPr/>
          </p:nvSpPr>
          <p:spPr>
            <a:xfrm>
              <a:off x="1896035" y="3862388"/>
              <a:ext cx="1030941" cy="528638"/>
            </a:xfrm>
            <a:prstGeom prst="rect">
              <a:avLst/>
            </a:prstGeom>
            <a:solidFill>
              <a:srgbClr val="FFFFFF"/>
            </a:solidFill>
            <a:ln w="9525">
              <a:solidFill>
                <a:srgbClr val="D6E1EF"/>
              </a:solidFill>
            </a:ln>
          </p:spPr>
        </p:sp>
        <p:sp>
          <p:nvSpPr>
            <p:cNvPr id="47" name="TextBox 47"/>
            <p:cNvSpPr txBox="1"/>
            <p:nvPr/>
          </p:nvSpPr>
          <p:spPr>
            <a:xfrm>
              <a:off x="1957125" y="4027646"/>
              <a:ext cx="908761" cy="234696"/>
            </a:xfrm>
            <a:prstGeom prst="rect">
              <a:avLst/>
            </a:prstGeom>
            <a:noFill/>
            <a:ln>
              <a:noFill/>
            </a:ln>
          </p:spPr>
          <p:txBody>
            <a:bodyPr wrap="none" lIns="0" tIns="0" rIns="0" bIns="0" anchor="t" anchorCtr="0">
              <a:spAutoFit/>
            </a:bodyPr>
            <a:lstStyle/>
            <a:p>
              <a:pPr algn="ctr"/>
              <a:r>
                <a:rPr lang="zh-CN" sz="1200" dirty="0">
                  <a:solidFill>
                    <a:srgbClr val="172B4D"/>
                  </a:solidFill>
                  <a:latin typeface="Microsoft YaHei"/>
                  <a:ea typeface="Microsoft YaHei"/>
                  <a:cs typeface="Microsoft YaHei"/>
                </a:rPr>
                <a:t>0.01 / 0.51</a:t>
              </a:r>
            </a:p>
          </p:txBody>
        </p:sp>
        <p:sp>
          <p:nvSpPr>
            <p:cNvPr id="48" name="Rectangle 48"/>
            <p:cNvSpPr/>
            <p:nvPr/>
          </p:nvSpPr>
          <p:spPr>
            <a:xfrm>
              <a:off x="2926976" y="3862388"/>
              <a:ext cx="1030941" cy="528638"/>
            </a:xfrm>
            <a:prstGeom prst="rect">
              <a:avLst/>
            </a:prstGeom>
            <a:solidFill>
              <a:srgbClr val="FFFFFF"/>
            </a:solidFill>
            <a:ln w="9525">
              <a:solidFill>
                <a:srgbClr val="D6E1EF"/>
              </a:solidFill>
            </a:ln>
          </p:spPr>
        </p:sp>
        <p:sp>
          <p:nvSpPr>
            <p:cNvPr id="49" name="TextBox 49"/>
            <p:cNvSpPr txBox="1"/>
            <p:nvPr/>
          </p:nvSpPr>
          <p:spPr>
            <a:xfrm>
              <a:off x="2988066" y="4027646"/>
              <a:ext cx="908761" cy="234696"/>
            </a:xfrm>
            <a:prstGeom prst="rect">
              <a:avLst/>
            </a:prstGeom>
            <a:noFill/>
            <a:ln>
              <a:noFill/>
            </a:ln>
          </p:spPr>
          <p:txBody>
            <a:bodyPr wrap="none" lIns="0" tIns="0" rIns="0" bIns="0" anchor="t" anchorCtr="0">
              <a:spAutoFit/>
            </a:bodyPr>
            <a:lstStyle/>
            <a:p>
              <a:pPr algn="ctr"/>
              <a:r>
                <a:rPr lang="zh-CN" sz="1200" dirty="0">
                  <a:solidFill>
                    <a:srgbClr val="172B4D"/>
                  </a:solidFill>
                  <a:latin typeface="Microsoft YaHei"/>
                  <a:ea typeface="Microsoft YaHei"/>
                  <a:cs typeface="Microsoft YaHei"/>
                </a:rPr>
                <a:t>0.01 / 0.59</a:t>
              </a:r>
            </a:p>
          </p:txBody>
        </p:sp>
        <p:sp>
          <p:nvSpPr>
            <p:cNvPr id="50" name="Rectangle 50"/>
            <p:cNvSpPr/>
            <p:nvPr/>
          </p:nvSpPr>
          <p:spPr>
            <a:xfrm>
              <a:off x="3957918" y="3862388"/>
              <a:ext cx="1030941" cy="528638"/>
            </a:xfrm>
            <a:prstGeom prst="rect">
              <a:avLst/>
            </a:prstGeom>
            <a:solidFill>
              <a:srgbClr val="FFFFFF"/>
            </a:solidFill>
            <a:ln w="9525">
              <a:solidFill>
                <a:srgbClr val="D6E1EF"/>
              </a:solidFill>
            </a:ln>
          </p:spPr>
        </p:sp>
        <p:sp>
          <p:nvSpPr>
            <p:cNvPr id="51" name="TextBox 51"/>
            <p:cNvSpPr txBox="1"/>
            <p:nvPr/>
          </p:nvSpPr>
          <p:spPr>
            <a:xfrm>
              <a:off x="4019008" y="4027646"/>
              <a:ext cx="908761" cy="234696"/>
            </a:xfrm>
            <a:prstGeom prst="rect">
              <a:avLst/>
            </a:prstGeom>
            <a:noFill/>
            <a:ln>
              <a:noFill/>
            </a:ln>
          </p:spPr>
          <p:txBody>
            <a:bodyPr wrap="none" lIns="0" tIns="0" rIns="0" bIns="0" anchor="t" anchorCtr="0">
              <a:spAutoFit/>
            </a:bodyPr>
            <a:lstStyle/>
            <a:p>
              <a:pPr algn="ctr"/>
              <a:r>
                <a:rPr lang="zh-CN" sz="1200" dirty="0">
                  <a:solidFill>
                    <a:srgbClr val="172B4D"/>
                  </a:solidFill>
                  <a:latin typeface="Microsoft YaHei"/>
                  <a:ea typeface="Microsoft YaHei"/>
                  <a:cs typeface="Microsoft YaHei"/>
                </a:rPr>
                <a:t>0.01 / 0.64</a:t>
              </a:r>
            </a:p>
          </p:txBody>
        </p:sp>
        <p:sp>
          <p:nvSpPr>
            <p:cNvPr id="52" name="Rectangle 52"/>
            <p:cNvSpPr/>
            <p:nvPr/>
          </p:nvSpPr>
          <p:spPr>
            <a:xfrm>
              <a:off x="4988859" y="3862388"/>
              <a:ext cx="1030941" cy="528638"/>
            </a:xfrm>
            <a:prstGeom prst="rect">
              <a:avLst/>
            </a:prstGeom>
            <a:solidFill>
              <a:srgbClr val="FFFFFF"/>
            </a:solidFill>
            <a:ln w="9525">
              <a:solidFill>
                <a:srgbClr val="D6E1EF"/>
              </a:solidFill>
            </a:ln>
          </p:spPr>
        </p:sp>
        <p:sp>
          <p:nvSpPr>
            <p:cNvPr id="53" name="TextBox 53"/>
            <p:cNvSpPr txBox="1"/>
            <p:nvPr/>
          </p:nvSpPr>
          <p:spPr>
            <a:xfrm>
              <a:off x="5049949" y="4027646"/>
              <a:ext cx="908761" cy="234696"/>
            </a:xfrm>
            <a:prstGeom prst="rect">
              <a:avLst/>
            </a:prstGeom>
            <a:noFill/>
            <a:ln>
              <a:noFill/>
            </a:ln>
          </p:spPr>
          <p:txBody>
            <a:bodyPr wrap="none" lIns="0" tIns="0" rIns="0" bIns="0" anchor="t" anchorCtr="0">
              <a:spAutoFit/>
            </a:bodyPr>
            <a:lstStyle/>
            <a:p>
              <a:pPr algn="ctr"/>
              <a:r>
                <a:rPr lang="zh-CN" sz="1200" dirty="0">
                  <a:solidFill>
                    <a:srgbClr val="172B4D"/>
                  </a:solidFill>
                  <a:latin typeface="Microsoft YaHei"/>
                  <a:ea typeface="Microsoft YaHei"/>
                  <a:cs typeface="Microsoft YaHei"/>
                </a:rPr>
                <a:t>0.01 / 0.76</a:t>
              </a:r>
            </a:p>
          </p:txBody>
        </p:sp>
      </p:grpSp>
      <p:grpSp>
        <p:nvGrpSpPr>
          <p:cNvPr id="57" name="repro-label"/>
          <p:cNvGrpSpPr/>
          <p:nvPr/>
        </p:nvGrpSpPr>
        <p:grpSpPr>
          <a:xfrm>
            <a:off x="6391656" y="1536700"/>
            <a:ext cx="3463233" cy="621602"/>
            <a:chOff x="6391656" y="1536700"/>
            <a:chExt cx="3463233" cy="621602"/>
          </a:xfrm>
        </p:grpSpPr>
        <p:sp>
          <p:nvSpPr>
            <p:cNvPr id="55" name="TextBox 55"/>
            <p:cNvSpPr txBox="1"/>
            <p:nvPr/>
          </p:nvSpPr>
          <p:spPr>
            <a:xfrm>
              <a:off x="6391656" y="1536700"/>
              <a:ext cx="3463233" cy="352044"/>
            </a:xfrm>
            <a:prstGeom prst="rect">
              <a:avLst/>
            </a:prstGeom>
            <a:noFill/>
            <a:ln>
              <a:noFill/>
            </a:ln>
          </p:spPr>
          <p:txBody>
            <a:bodyPr wrap="none" lIns="0" tIns="0" rIns="0" bIns="0" anchor="t" anchorCtr="0">
              <a:spAutoFit/>
            </a:bodyPr>
            <a:lstStyle/>
            <a:p>
              <a:pPr algn="l"/>
              <a:r>
                <a:rPr lang="zh-CN" sz="1800" b="1" dirty="0">
                  <a:solidFill>
                    <a:srgbClr val="159AA8"/>
                  </a:solidFill>
                  <a:latin typeface="Microsoft YaHei"/>
                  <a:ea typeface="Microsoft YaHei"/>
                  <a:cs typeface="Microsoft YaHei"/>
                </a:rPr>
                <a:t>原 PPT 已有复现：i7-12700KF</a:t>
              </a:r>
            </a:p>
          </p:txBody>
        </p:sp>
        <p:sp>
          <p:nvSpPr>
            <p:cNvPr id="56" name="TextBox 56"/>
            <p:cNvSpPr txBox="1"/>
            <p:nvPr/>
          </p:nvSpPr>
          <p:spPr>
            <a:xfrm>
              <a:off x="6393561" y="1879600"/>
              <a:ext cx="3015696" cy="278702"/>
            </a:xfrm>
            <a:prstGeom prst="rect">
              <a:avLst/>
            </a:prstGeom>
            <a:noFill/>
            <a:ln>
              <a:noFill/>
            </a:ln>
          </p:spPr>
          <p:txBody>
            <a:bodyPr wrap="none" lIns="0" tIns="0" rIns="0" bIns="0" anchor="t" anchorCtr="0">
              <a:spAutoFit/>
            </a:bodyPr>
            <a:lstStyle/>
            <a:p>
              <a:pPr algn="l"/>
              <a:r>
                <a:rPr lang="zh-CN" sz="1420" dirty="0">
                  <a:solidFill>
                    <a:srgbClr val="52657E"/>
                  </a:solidFill>
                  <a:latin typeface="Microsoft YaHei"/>
                  <a:ea typeface="Microsoft YaHei"/>
                  <a:cs typeface="Microsoft YaHei"/>
                </a:rPr>
                <a:t>每组 30 次；本次仅读取原有截图。</a:t>
              </a:r>
            </a:p>
          </p:txBody>
        </p:sp>
      </p:grpSp>
      <p:grpSp>
        <p:nvGrpSpPr>
          <p:cNvPr id="89" name="existing-repro"/>
          <p:cNvGrpSpPr/>
          <p:nvPr/>
        </p:nvGrpSpPr>
        <p:grpSpPr>
          <a:xfrm>
            <a:off x="6362700" y="2276475"/>
            <a:ext cx="5067300" cy="2114550"/>
            <a:chOff x="6362700" y="2276475"/>
            <a:chExt cx="5067300" cy="2114550"/>
          </a:xfrm>
        </p:grpSpPr>
        <p:sp>
          <p:nvSpPr>
            <p:cNvPr id="58" name="Rectangle 58"/>
            <p:cNvSpPr/>
            <p:nvPr/>
          </p:nvSpPr>
          <p:spPr>
            <a:xfrm>
              <a:off x="6362700" y="2276475"/>
              <a:ext cx="5067300" cy="422910"/>
            </a:xfrm>
            <a:prstGeom prst="rect">
              <a:avLst/>
            </a:prstGeom>
            <a:solidFill>
              <a:srgbClr val="2F4F98"/>
            </a:solidFill>
            <a:ln>
              <a:noFill/>
            </a:ln>
          </p:spPr>
        </p:sp>
        <p:sp>
          <p:nvSpPr>
            <p:cNvPr id="59" name="Rectangle 59"/>
            <p:cNvSpPr/>
            <p:nvPr/>
          </p:nvSpPr>
          <p:spPr>
            <a:xfrm>
              <a:off x="6362700" y="2276475"/>
              <a:ext cx="1266825" cy="422910"/>
            </a:xfrm>
            <a:prstGeom prst="rect">
              <a:avLst/>
            </a:prstGeom>
            <a:solidFill>
              <a:srgbClr val="2F4F98"/>
            </a:solidFill>
            <a:ln w="9525">
              <a:solidFill>
                <a:srgbClr val="D6E1EF"/>
              </a:solidFill>
            </a:ln>
          </p:spPr>
        </p:sp>
        <p:sp>
          <p:nvSpPr>
            <p:cNvPr id="60" name="TextBox 60"/>
            <p:cNvSpPr txBox="1"/>
            <p:nvPr/>
          </p:nvSpPr>
          <p:spPr>
            <a:xfrm>
              <a:off x="6775412" y="2367439"/>
              <a:ext cx="441401" cy="308991"/>
            </a:xfrm>
            <a:prstGeom prst="rect">
              <a:avLst/>
            </a:prstGeom>
            <a:noFill/>
            <a:ln>
              <a:noFill/>
            </a:ln>
          </p:spPr>
          <p:txBody>
            <a:bodyPr wrap="none" lIns="0" tIns="0" rIns="0" bIns="0" anchor="t" anchorCtr="0">
              <a:spAutoFit/>
            </a:bodyPr>
            <a:lstStyle/>
            <a:p>
              <a:pPr algn="ctr"/>
              <a:r>
                <a:rPr lang="zh-CN" sz="1580" b="1" dirty="0">
                  <a:solidFill>
                    <a:srgbClr val="FFFFFF"/>
                  </a:solidFill>
                  <a:latin typeface="Microsoft YaHei"/>
                  <a:ea typeface="Microsoft YaHei"/>
                  <a:cs typeface="Microsoft YaHei"/>
                </a:rPr>
                <a:t>树高</a:t>
              </a:r>
            </a:p>
          </p:txBody>
        </p:sp>
        <p:sp>
          <p:nvSpPr>
            <p:cNvPr id="61" name="Rectangle 61"/>
            <p:cNvSpPr/>
            <p:nvPr/>
          </p:nvSpPr>
          <p:spPr>
            <a:xfrm>
              <a:off x="7629525" y="2276475"/>
              <a:ext cx="1900237" cy="422910"/>
            </a:xfrm>
            <a:prstGeom prst="rect">
              <a:avLst/>
            </a:prstGeom>
            <a:solidFill>
              <a:srgbClr val="2F4F98"/>
            </a:solidFill>
            <a:ln w="9525">
              <a:solidFill>
                <a:srgbClr val="D6E1EF"/>
              </a:solidFill>
            </a:ln>
          </p:spPr>
        </p:sp>
        <p:sp>
          <p:nvSpPr>
            <p:cNvPr id="62" name="TextBox 62"/>
            <p:cNvSpPr txBox="1"/>
            <p:nvPr/>
          </p:nvSpPr>
          <p:spPr>
            <a:xfrm>
              <a:off x="8158395" y="2367439"/>
              <a:ext cx="842498" cy="308991"/>
            </a:xfrm>
            <a:prstGeom prst="rect">
              <a:avLst/>
            </a:prstGeom>
            <a:noFill/>
            <a:ln>
              <a:noFill/>
            </a:ln>
          </p:spPr>
          <p:txBody>
            <a:bodyPr wrap="none" lIns="0" tIns="0" rIns="0" bIns="0" anchor="t" anchorCtr="0">
              <a:spAutoFit/>
            </a:bodyPr>
            <a:lstStyle/>
            <a:p>
              <a:pPr algn="ctr"/>
              <a:r>
                <a:rPr lang="en-US" sz="1580" b="1" dirty="0">
                  <a:solidFill>
                    <a:srgbClr val="FFFFFF"/>
                  </a:solidFill>
                  <a:latin typeface="Microsoft YaHei"/>
                  <a:ea typeface="Microsoft YaHei"/>
                  <a:cs typeface="Microsoft YaHei"/>
                </a:rPr>
                <a:t>WIT (s)</a:t>
              </a:r>
            </a:p>
          </p:txBody>
        </p:sp>
        <p:sp>
          <p:nvSpPr>
            <p:cNvPr id="63" name="Rectangle 63"/>
            <p:cNvSpPr/>
            <p:nvPr/>
          </p:nvSpPr>
          <p:spPr>
            <a:xfrm>
              <a:off x="9529762" y="2276475"/>
              <a:ext cx="1900237" cy="422910"/>
            </a:xfrm>
            <a:prstGeom prst="rect">
              <a:avLst/>
            </a:prstGeom>
            <a:solidFill>
              <a:srgbClr val="2F4F98"/>
            </a:solidFill>
            <a:ln w="9525">
              <a:solidFill>
                <a:srgbClr val="D6E1EF"/>
              </a:solidFill>
            </a:ln>
          </p:spPr>
        </p:sp>
        <p:sp>
          <p:nvSpPr>
            <p:cNvPr id="64" name="TextBox 64"/>
            <p:cNvSpPr txBox="1"/>
            <p:nvPr/>
          </p:nvSpPr>
          <p:spPr>
            <a:xfrm>
              <a:off x="10052812" y="2367439"/>
              <a:ext cx="854139" cy="308991"/>
            </a:xfrm>
            <a:prstGeom prst="rect">
              <a:avLst/>
            </a:prstGeom>
            <a:noFill/>
            <a:ln>
              <a:noFill/>
            </a:ln>
          </p:spPr>
          <p:txBody>
            <a:bodyPr wrap="none" lIns="0" tIns="0" rIns="0" bIns="0" anchor="t" anchorCtr="0">
              <a:spAutoFit/>
            </a:bodyPr>
            <a:lstStyle/>
            <a:p>
              <a:pPr algn="ctr"/>
              <a:r>
                <a:rPr lang="en-US" sz="1580" b="1" dirty="0">
                  <a:solidFill>
                    <a:srgbClr val="FFFFFF"/>
                  </a:solidFill>
                  <a:latin typeface="Microsoft YaHei"/>
                  <a:ea typeface="Microsoft YaHei"/>
                  <a:cs typeface="Microsoft YaHei"/>
                </a:rPr>
                <a:t>PRF (s)</a:t>
              </a:r>
            </a:p>
          </p:txBody>
        </p:sp>
        <p:sp>
          <p:nvSpPr>
            <p:cNvPr id="65" name="Rectangle 65"/>
            <p:cNvSpPr/>
            <p:nvPr/>
          </p:nvSpPr>
          <p:spPr>
            <a:xfrm>
              <a:off x="6362700" y="2699385"/>
              <a:ext cx="1266825" cy="422910"/>
            </a:xfrm>
            <a:prstGeom prst="rect">
              <a:avLst/>
            </a:prstGeom>
            <a:solidFill>
              <a:srgbClr val="FFFFFF"/>
            </a:solidFill>
            <a:ln w="9525">
              <a:solidFill>
                <a:srgbClr val="D6E1EF"/>
              </a:solidFill>
            </a:ln>
          </p:spPr>
        </p:sp>
        <p:sp>
          <p:nvSpPr>
            <p:cNvPr id="66" name="TextBox 66"/>
            <p:cNvSpPr txBox="1"/>
            <p:nvPr/>
          </p:nvSpPr>
          <p:spPr>
            <a:xfrm>
              <a:off x="6449949" y="2790349"/>
              <a:ext cx="249972" cy="308991"/>
            </a:xfrm>
            <a:prstGeom prst="rect">
              <a:avLst/>
            </a:prstGeom>
            <a:noFill/>
            <a:ln>
              <a:noFill/>
            </a:ln>
          </p:spPr>
          <p:txBody>
            <a:bodyPr wrap="none" lIns="0" tIns="0" rIns="0" bIns="0" anchor="t" anchorCtr="0">
              <a:spAutoFit/>
            </a:bodyPr>
            <a:lstStyle/>
            <a:p>
              <a:pPr algn="l"/>
              <a:r>
                <a:rPr lang="zh-CN" sz="1580" dirty="0">
                  <a:solidFill>
                    <a:srgbClr val="172B4D"/>
                  </a:solidFill>
                  <a:latin typeface="Microsoft YaHei"/>
                  <a:ea typeface="Microsoft YaHei"/>
                  <a:cs typeface="Microsoft YaHei"/>
                </a:rPr>
                <a:t>10</a:t>
              </a:r>
            </a:p>
          </p:txBody>
        </p:sp>
        <p:sp>
          <p:nvSpPr>
            <p:cNvPr id="67" name="Rectangle 67"/>
            <p:cNvSpPr/>
            <p:nvPr/>
          </p:nvSpPr>
          <p:spPr>
            <a:xfrm>
              <a:off x="7629525" y="2699385"/>
              <a:ext cx="1900237" cy="422910"/>
            </a:xfrm>
            <a:prstGeom prst="rect">
              <a:avLst/>
            </a:prstGeom>
            <a:solidFill>
              <a:srgbClr val="FFFFFF"/>
            </a:solidFill>
            <a:ln w="9525">
              <a:solidFill>
                <a:srgbClr val="D6E1EF"/>
              </a:solidFill>
            </a:ln>
          </p:spPr>
        </p:sp>
        <p:sp>
          <p:nvSpPr>
            <p:cNvPr id="68" name="TextBox 68"/>
            <p:cNvSpPr txBox="1"/>
            <p:nvPr/>
          </p:nvSpPr>
          <p:spPr>
            <a:xfrm>
              <a:off x="8220688" y="2790349"/>
              <a:ext cx="717911" cy="308991"/>
            </a:xfrm>
            <a:prstGeom prst="rect">
              <a:avLst/>
            </a:prstGeom>
            <a:noFill/>
            <a:ln>
              <a:noFill/>
            </a:ln>
          </p:spPr>
          <p:txBody>
            <a:bodyPr wrap="none" lIns="0" tIns="0" rIns="0" bIns="0" anchor="t" anchorCtr="0">
              <a:spAutoFit/>
            </a:bodyPr>
            <a:lstStyle/>
            <a:p>
              <a:pPr algn="ctr"/>
              <a:r>
                <a:rPr lang="zh-CN" sz="1580" dirty="0">
                  <a:solidFill>
                    <a:srgbClr val="172B4D"/>
                  </a:solidFill>
                  <a:latin typeface="Microsoft YaHei"/>
                  <a:ea typeface="Microsoft YaHei"/>
                  <a:cs typeface="Microsoft YaHei"/>
                </a:rPr>
                <a:t>0.2194</a:t>
              </a:r>
            </a:p>
          </p:txBody>
        </p:sp>
        <p:sp>
          <p:nvSpPr>
            <p:cNvPr id="69" name="Rectangle 69"/>
            <p:cNvSpPr/>
            <p:nvPr/>
          </p:nvSpPr>
          <p:spPr>
            <a:xfrm>
              <a:off x="9529762" y="2699385"/>
              <a:ext cx="1900237" cy="422910"/>
            </a:xfrm>
            <a:prstGeom prst="rect">
              <a:avLst/>
            </a:prstGeom>
            <a:solidFill>
              <a:srgbClr val="FFFFFF"/>
            </a:solidFill>
            <a:ln w="9525">
              <a:solidFill>
                <a:srgbClr val="D6E1EF"/>
              </a:solidFill>
            </a:ln>
          </p:spPr>
        </p:sp>
        <p:sp>
          <p:nvSpPr>
            <p:cNvPr id="70" name="TextBox 70"/>
            <p:cNvSpPr txBox="1"/>
            <p:nvPr/>
          </p:nvSpPr>
          <p:spPr>
            <a:xfrm>
              <a:off x="10120926" y="2790349"/>
              <a:ext cx="717911" cy="308991"/>
            </a:xfrm>
            <a:prstGeom prst="rect">
              <a:avLst/>
            </a:prstGeom>
            <a:noFill/>
            <a:ln>
              <a:noFill/>
            </a:ln>
          </p:spPr>
          <p:txBody>
            <a:bodyPr wrap="none" lIns="0" tIns="0" rIns="0" bIns="0" anchor="t" anchorCtr="0">
              <a:spAutoFit/>
            </a:bodyPr>
            <a:lstStyle/>
            <a:p>
              <a:pPr algn="ctr"/>
              <a:r>
                <a:rPr lang="zh-CN" sz="1580" dirty="0">
                  <a:solidFill>
                    <a:srgbClr val="172B4D"/>
                  </a:solidFill>
                  <a:latin typeface="Microsoft YaHei"/>
                  <a:ea typeface="Microsoft YaHei"/>
                  <a:cs typeface="Microsoft YaHei"/>
                </a:rPr>
                <a:t>0.5023</a:t>
              </a:r>
            </a:p>
          </p:txBody>
        </p:sp>
        <p:sp>
          <p:nvSpPr>
            <p:cNvPr id="71" name="Rectangle 71"/>
            <p:cNvSpPr/>
            <p:nvPr/>
          </p:nvSpPr>
          <p:spPr>
            <a:xfrm>
              <a:off x="6362700" y="3122295"/>
              <a:ext cx="1266825" cy="422910"/>
            </a:xfrm>
            <a:prstGeom prst="rect">
              <a:avLst/>
            </a:prstGeom>
            <a:solidFill>
              <a:srgbClr val="FFFFFF"/>
            </a:solidFill>
            <a:ln w="9525">
              <a:solidFill>
                <a:srgbClr val="D6E1EF"/>
              </a:solidFill>
            </a:ln>
          </p:spPr>
        </p:sp>
        <p:sp>
          <p:nvSpPr>
            <p:cNvPr id="72" name="TextBox 72"/>
            <p:cNvSpPr txBox="1"/>
            <p:nvPr/>
          </p:nvSpPr>
          <p:spPr>
            <a:xfrm>
              <a:off x="6449949" y="3213259"/>
              <a:ext cx="249972" cy="308991"/>
            </a:xfrm>
            <a:prstGeom prst="rect">
              <a:avLst/>
            </a:prstGeom>
            <a:noFill/>
            <a:ln>
              <a:noFill/>
            </a:ln>
          </p:spPr>
          <p:txBody>
            <a:bodyPr wrap="none" lIns="0" tIns="0" rIns="0" bIns="0" anchor="t" anchorCtr="0">
              <a:spAutoFit/>
            </a:bodyPr>
            <a:lstStyle/>
            <a:p>
              <a:pPr algn="l"/>
              <a:r>
                <a:rPr lang="zh-CN" sz="1580" dirty="0">
                  <a:solidFill>
                    <a:srgbClr val="172B4D"/>
                  </a:solidFill>
                  <a:latin typeface="Microsoft YaHei"/>
                  <a:ea typeface="Microsoft YaHei"/>
                  <a:cs typeface="Microsoft YaHei"/>
                </a:rPr>
                <a:t>20</a:t>
              </a:r>
            </a:p>
          </p:txBody>
        </p:sp>
        <p:sp>
          <p:nvSpPr>
            <p:cNvPr id="73" name="Rectangle 73"/>
            <p:cNvSpPr/>
            <p:nvPr/>
          </p:nvSpPr>
          <p:spPr>
            <a:xfrm>
              <a:off x="7629525" y="3122295"/>
              <a:ext cx="1900237" cy="422910"/>
            </a:xfrm>
            <a:prstGeom prst="rect">
              <a:avLst/>
            </a:prstGeom>
            <a:solidFill>
              <a:srgbClr val="FFFFFF"/>
            </a:solidFill>
            <a:ln w="9525">
              <a:solidFill>
                <a:srgbClr val="D6E1EF"/>
              </a:solidFill>
            </a:ln>
          </p:spPr>
        </p:sp>
        <p:sp>
          <p:nvSpPr>
            <p:cNvPr id="74" name="TextBox 74"/>
            <p:cNvSpPr txBox="1"/>
            <p:nvPr/>
          </p:nvSpPr>
          <p:spPr>
            <a:xfrm>
              <a:off x="8220688" y="3213259"/>
              <a:ext cx="717911" cy="308991"/>
            </a:xfrm>
            <a:prstGeom prst="rect">
              <a:avLst/>
            </a:prstGeom>
            <a:noFill/>
            <a:ln>
              <a:noFill/>
            </a:ln>
          </p:spPr>
          <p:txBody>
            <a:bodyPr wrap="none" lIns="0" tIns="0" rIns="0" bIns="0" anchor="t" anchorCtr="0">
              <a:spAutoFit/>
            </a:bodyPr>
            <a:lstStyle/>
            <a:p>
              <a:pPr algn="ctr"/>
              <a:r>
                <a:rPr lang="zh-CN" sz="1580" dirty="0">
                  <a:solidFill>
                    <a:srgbClr val="172B4D"/>
                  </a:solidFill>
                  <a:latin typeface="Microsoft YaHei"/>
                  <a:ea typeface="Microsoft YaHei"/>
                  <a:cs typeface="Microsoft YaHei"/>
                </a:rPr>
                <a:t>0.2246</a:t>
              </a:r>
            </a:p>
          </p:txBody>
        </p:sp>
        <p:sp>
          <p:nvSpPr>
            <p:cNvPr id="75" name="Rectangle 75"/>
            <p:cNvSpPr/>
            <p:nvPr/>
          </p:nvSpPr>
          <p:spPr>
            <a:xfrm>
              <a:off x="9529762" y="3122295"/>
              <a:ext cx="1900237" cy="422910"/>
            </a:xfrm>
            <a:prstGeom prst="rect">
              <a:avLst/>
            </a:prstGeom>
            <a:solidFill>
              <a:srgbClr val="FFFFFF"/>
            </a:solidFill>
            <a:ln w="9525">
              <a:solidFill>
                <a:srgbClr val="D6E1EF"/>
              </a:solidFill>
            </a:ln>
          </p:spPr>
        </p:sp>
        <p:sp>
          <p:nvSpPr>
            <p:cNvPr id="76" name="TextBox 76"/>
            <p:cNvSpPr txBox="1"/>
            <p:nvPr/>
          </p:nvSpPr>
          <p:spPr>
            <a:xfrm>
              <a:off x="10120926" y="3213259"/>
              <a:ext cx="717911" cy="308991"/>
            </a:xfrm>
            <a:prstGeom prst="rect">
              <a:avLst/>
            </a:prstGeom>
            <a:noFill/>
            <a:ln>
              <a:noFill/>
            </a:ln>
          </p:spPr>
          <p:txBody>
            <a:bodyPr wrap="none" lIns="0" tIns="0" rIns="0" bIns="0" anchor="t" anchorCtr="0">
              <a:spAutoFit/>
            </a:bodyPr>
            <a:lstStyle/>
            <a:p>
              <a:pPr algn="ctr"/>
              <a:r>
                <a:rPr lang="zh-CN" sz="1580" dirty="0">
                  <a:solidFill>
                    <a:srgbClr val="172B4D"/>
                  </a:solidFill>
                  <a:latin typeface="Microsoft YaHei"/>
                  <a:ea typeface="Microsoft YaHei"/>
                  <a:cs typeface="Microsoft YaHei"/>
                </a:rPr>
                <a:t>0.5668</a:t>
              </a:r>
            </a:p>
          </p:txBody>
        </p:sp>
        <p:sp>
          <p:nvSpPr>
            <p:cNvPr id="77" name="Rectangle 77"/>
            <p:cNvSpPr/>
            <p:nvPr/>
          </p:nvSpPr>
          <p:spPr>
            <a:xfrm>
              <a:off x="6362700" y="3545205"/>
              <a:ext cx="1266825" cy="422910"/>
            </a:xfrm>
            <a:prstGeom prst="rect">
              <a:avLst/>
            </a:prstGeom>
            <a:solidFill>
              <a:srgbClr val="FFFFFF"/>
            </a:solidFill>
            <a:ln w="9525">
              <a:solidFill>
                <a:srgbClr val="D6E1EF"/>
              </a:solidFill>
            </a:ln>
          </p:spPr>
        </p:sp>
        <p:sp>
          <p:nvSpPr>
            <p:cNvPr id="78" name="TextBox 78"/>
            <p:cNvSpPr txBox="1"/>
            <p:nvPr/>
          </p:nvSpPr>
          <p:spPr>
            <a:xfrm>
              <a:off x="6449949" y="3636169"/>
              <a:ext cx="249972" cy="308991"/>
            </a:xfrm>
            <a:prstGeom prst="rect">
              <a:avLst/>
            </a:prstGeom>
            <a:noFill/>
            <a:ln>
              <a:noFill/>
            </a:ln>
          </p:spPr>
          <p:txBody>
            <a:bodyPr wrap="none" lIns="0" tIns="0" rIns="0" bIns="0" anchor="t" anchorCtr="0">
              <a:spAutoFit/>
            </a:bodyPr>
            <a:lstStyle/>
            <a:p>
              <a:pPr algn="l"/>
              <a:r>
                <a:rPr lang="zh-CN" sz="1580" dirty="0">
                  <a:solidFill>
                    <a:srgbClr val="172B4D"/>
                  </a:solidFill>
                  <a:latin typeface="Microsoft YaHei"/>
                  <a:ea typeface="Microsoft YaHei"/>
                  <a:cs typeface="Microsoft YaHei"/>
                </a:rPr>
                <a:t>30</a:t>
              </a:r>
            </a:p>
          </p:txBody>
        </p:sp>
        <p:sp>
          <p:nvSpPr>
            <p:cNvPr id="79" name="Rectangle 79"/>
            <p:cNvSpPr/>
            <p:nvPr/>
          </p:nvSpPr>
          <p:spPr>
            <a:xfrm>
              <a:off x="7629525" y="3545205"/>
              <a:ext cx="1900237" cy="422910"/>
            </a:xfrm>
            <a:prstGeom prst="rect">
              <a:avLst/>
            </a:prstGeom>
            <a:solidFill>
              <a:srgbClr val="FFFFFF"/>
            </a:solidFill>
            <a:ln w="9525">
              <a:solidFill>
                <a:srgbClr val="D6E1EF"/>
              </a:solidFill>
            </a:ln>
          </p:spPr>
        </p:sp>
        <p:sp>
          <p:nvSpPr>
            <p:cNvPr id="80" name="TextBox 80"/>
            <p:cNvSpPr txBox="1"/>
            <p:nvPr/>
          </p:nvSpPr>
          <p:spPr>
            <a:xfrm>
              <a:off x="8220688" y="3636169"/>
              <a:ext cx="717911" cy="308991"/>
            </a:xfrm>
            <a:prstGeom prst="rect">
              <a:avLst/>
            </a:prstGeom>
            <a:noFill/>
            <a:ln>
              <a:noFill/>
            </a:ln>
          </p:spPr>
          <p:txBody>
            <a:bodyPr wrap="none" lIns="0" tIns="0" rIns="0" bIns="0" anchor="t" anchorCtr="0">
              <a:spAutoFit/>
            </a:bodyPr>
            <a:lstStyle/>
            <a:p>
              <a:pPr algn="ctr"/>
              <a:r>
                <a:rPr lang="zh-CN" sz="1580" dirty="0">
                  <a:solidFill>
                    <a:srgbClr val="172B4D"/>
                  </a:solidFill>
                  <a:latin typeface="Microsoft YaHei"/>
                  <a:ea typeface="Microsoft YaHei"/>
                  <a:cs typeface="Microsoft YaHei"/>
                </a:rPr>
                <a:t>0.2632</a:t>
              </a:r>
            </a:p>
          </p:txBody>
        </p:sp>
        <p:sp>
          <p:nvSpPr>
            <p:cNvPr id="81" name="Rectangle 81"/>
            <p:cNvSpPr/>
            <p:nvPr/>
          </p:nvSpPr>
          <p:spPr>
            <a:xfrm>
              <a:off x="9529762" y="3545205"/>
              <a:ext cx="1900237" cy="422910"/>
            </a:xfrm>
            <a:prstGeom prst="rect">
              <a:avLst/>
            </a:prstGeom>
            <a:solidFill>
              <a:srgbClr val="FFFFFF"/>
            </a:solidFill>
            <a:ln w="9525">
              <a:solidFill>
                <a:srgbClr val="D6E1EF"/>
              </a:solidFill>
            </a:ln>
          </p:spPr>
        </p:sp>
        <p:sp>
          <p:nvSpPr>
            <p:cNvPr id="82" name="TextBox 82"/>
            <p:cNvSpPr txBox="1"/>
            <p:nvPr/>
          </p:nvSpPr>
          <p:spPr>
            <a:xfrm>
              <a:off x="10120926" y="3636169"/>
              <a:ext cx="717911" cy="308991"/>
            </a:xfrm>
            <a:prstGeom prst="rect">
              <a:avLst/>
            </a:prstGeom>
            <a:noFill/>
            <a:ln>
              <a:noFill/>
            </a:ln>
          </p:spPr>
          <p:txBody>
            <a:bodyPr wrap="none" lIns="0" tIns="0" rIns="0" bIns="0" anchor="t" anchorCtr="0">
              <a:spAutoFit/>
            </a:bodyPr>
            <a:lstStyle/>
            <a:p>
              <a:pPr algn="ctr"/>
              <a:r>
                <a:rPr lang="zh-CN" sz="1580" dirty="0">
                  <a:solidFill>
                    <a:srgbClr val="172B4D"/>
                  </a:solidFill>
                  <a:latin typeface="Microsoft YaHei"/>
                  <a:ea typeface="Microsoft YaHei"/>
                  <a:cs typeface="Microsoft YaHei"/>
                </a:rPr>
                <a:t>0.5480</a:t>
              </a:r>
            </a:p>
          </p:txBody>
        </p:sp>
        <p:sp>
          <p:nvSpPr>
            <p:cNvPr id="83" name="Rectangle 83"/>
            <p:cNvSpPr/>
            <p:nvPr/>
          </p:nvSpPr>
          <p:spPr>
            <a:xfrm>
              <a:off x="6362700" y="3968115"/>
              <a:ext cx="1266825" cy="422910"/>
            </a:xfrm>
            <a:prstGeom prst="rect">
              <a:avLst/>
            </a:prstGeom>
            <a:solidFill>
              <a:srgbClr val="FFFFFF"/>
            </a:solidFill>
            <a:ln w="9525">
              <a:solidFill>
                <a:srgbClr val="D6E1EF"/>
              </a:solidFill>
            </a:ln>
          </p:spPr>
        </p:sp>
        <p:sp>
          <p:nvSpPr>
            <p:cNvPr id="84" name="TextBox 84"/>
            <p:cNvSpPr txBox="1"/>
            <p:nvPr/>
          </p:nvSpPr>
          <p:spPr>
            <a:xfrm>
              <a:off x="6449949" y="4059079"/>
              <a:ext cx="249972" cy="308991"/>
            </a:xfrm>
            <a:prstGeom prst="rect">
              <a:avLst/>
            </a:prstGeom>
            <a:noFill/>
            <a:ln>
              <a:noFill/>
            </a:ln>
          </p:spPr>
          <p:txBody>
            <a:bodyPr wrap="none" lIns="0" tIns="0" rIns="0" bIns="0" anchor="t" anchorCtr="0">
              <a:spAutoFit/>
            </a:bodyPr>
            <a:lstStyle/>
            <a:p>
              <a:pPr algn="l"/>
              <a:r>
                <a:rPr lang="zh-CN" sz="1580" dirty="0">
                  <a:solidFill>
                    <a:srgbClr val="172B4D"/>
                  </a:solidFill>
                  <a:latin typeface="Microsoft YaHei"/>
                  <a:ea typeface="Microsoft YaHei"/>
                  <a:cs typeface="Microsoft YaHei"/>
                </a:rPr>
                <a:t>40</a:t>
              </a:r>
            </a:p>
          </p:txBody>
        </p:sp>
        <p:sp>
          <p:nvSpPr>
            <p:cNvPr id="85" name="Rectangle 85"/>
            <p:cNvSpPr/>
            <p:nvPr/>
          </p:nvSpPr>
          <p:spPr>
            <a:xfrm>
              <a:off x="7629525" y="3968115"/>
              <a:ext cx="1900237" cy="422910"/>
            </a:xfrm>
            <a:prstGeom prst="rect">
              <a:avLst/>
            </a:prstGeom>
            <a:solidFill>
              <a:srgbClr val="FFFFFF"/>
            </a:solidFill>
            <a:ln w="9525">
              <a:solidFill>
                <a:srgbClr val="D6E1EF"/>
              </a:solidFill>
            </a:ln>
          </p:spPr>
        </p:sp>
        <p:sp>
          <p:nvSpPr>
            <p:cNvPr id="86" name="TextBox 86"/>
            <p:cNvSpPr txBox="1"/>
            <p:nvPr/>
          </p:nvSpPr>
          <p:spPr>
            <a:xfrm>
              <a:off x="8220688" y="4059079"/>
              <a:ext cx="717911" cy="308991"/>
            </a:xfrm>
            <a:prstGeom prst="rect">
              <a:avLst/>
            </a:prstGeom>
            <a:noFill/>
            <a:ln>
              <a:noFill/>
            </a:ln>
          </p:spPr>
          <p:txBody>
            <a:bodyPr wrap="none" lIns="0" tIns="0" rIns="0" bIns="0" anchor="t" anchorCtr="0">
              <a:spAutoFit/>
            </a:bodyPr>
            <a:lstStyle/>
            <a:p>
              <a:pPr algn="ctr"/>
              <a:r>
                <a:rPr lang="zh-CN" sz="1580" dirty="0">
                  <a:solidFill>
                    <a:srgbClr val="172B4D"/>
                  </a:solidFill>
                  <a:latin typeface="Microsoft YaHei"/>
                  <a:ea typeface="Microsoft YaHei"/>
                  <a:cs typeface="Microsoft YaHei"/>
                </a:rPr>
                <a:t>0.2951</a:t>
              </a:r>
            </a:p>
          </p:txBody>
        </p:sp>
        <p:sp>
          <p:nvSpPr>
            <p:cNvPr id="87" name="Rectangle 87"/>
            <p:cNvSpPr/>
            <p:nvPr/>
          </p:nvSpPr>
          <p:spPr>
            <a:xfrm>
              <a:off x="9529762" y="3968115"/>
              <a:ext cx="1900237" cy="422910"/>
            </a:xfrm>
            <a:prstGeom prst="rect">
              <a:avLst/>
            </a:prstGeom>
            <a:solidFill>
              <a:srgbClr val="FFFFFF"/>
            </a:solidFill>
            <a:ln w="9525">
              <a:solidFill>
                <a:srgbClr val="D6E1EF"/>
              </a:solidFill>
            </a:ln>
          </p:spPr>
        </p:sp>
        <p:sp>
          <p:nvSpPr>
            <p:cNvPr id="88" name="TextBox 88"/>
            <p:cNvSpPr txBox="1"/>
            <p:nvPr/>
          </p:nvSpPr>
          <p:spPr>
            <a:xfrm>
              <a:off x="10120926" y="4059079"/>
              <a:ext cx="717911" cy="308991"/>
            </a:xfrm>
            <a:prstGeom prst="rect">
              <a:avLst/>
            </a:prstGeom>
            <a:noFill/>
            <a:ln>
              <a:noFill/>
            </a:ln>
          </p:spPr>
          <p:txBody>
            <a:bodyPr wrap="none" lIns="0" tIns="0" rIns="0" bIns="0" anchor="t" anchorCtr="0">
              <a:spAutoFit/>
            </a:bodyPr>
            <a:lstStyle/>
            <a:p>
              <a:pPr algn="ctr"/>
              <a:r>
                <a:rPr lang="zh-CN" sz="1580" dirty="0">
                  <a:solidFill>
                    <a:srgbClr val="172B4D"/>
                  </a:solidFill>
                  <a:latin typeface="Microsoft YaHei"/>
                  <a:ea typeface="Microsoft YaHei"/>
                  <a:cs typeface="Microsoft YaHei"/>
                </a:rPr>
                <a:t>0.6420</a:t>
              </a:r>
            </a:p>
          </p:txBody>
        </p:sp>
      </p:grpSp>
      <p:grpSp>
        <p:nvGrpSpPr>
          <p:cNvPr id="92" name="time-reading"/>
          <p:cNvGrpSpPr/>
          <p:nvPr/>
        </p:nvGrpSpPr>
        <p:grpSpPr>
          <a:xfrm>
            <a:off x="790575" y="4724400"/>
            <a:ext cx="9583865" cy="988504"/>
            <a:chOff x="790575" y="4724400"/>
            <a:chExt cx="9583865" cy="988504"/>
          </a:xfrm>
        </p:grpSpPr>
        <p:sp>
          <p:nvSpPr>
            <p:cNvPr id="90" name="TextBox 90"/>
            <p:cNvSpPr txBox="1"/>
            <p:nvPr/>
          </p:nvSpPr>
          <p:spPr>
            <a:xfrm>
              <a:off x="790575" y="4724400"/>
              <a:ext cx="1031392"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关键观察</a:t>
              </a:r>
            </a:p>
          </p:txBody>
        </p:sp>
        <p:sp>
          <p:nvSpPr>
            <p:cNvPr id="91" name="TextBox 91"/>
            <p:cNvSpPr txBox="1"/>
            <p:nvPr/>
          </p:nvSpPr>
          <p:spPr>
            <a:xfrm>
              <a:off x="791718" y="5086350"/>
              <a:ext cx="9582722"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h40 两阶段合计：Pi 约 26.2 s，论文 i5 约 0.77 s；复现 PRF 量级接近论文，但 WIT 明显更慢，且 PRF</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并非严格单调增长。</a:t>
              </a:r>
            </a:p>
          </p:txBody>
        </p:sp>
      </p:grpSp>
      <p:grpSp>
        <p:nvGrpSpPr>
          <p:cNvPr id="95" name="takeaway"/>
          <p:cNvGrpSpPr/>
          <p:nvPr/>
        </p:nvGrpSpPr>
        <p:grpSpPr>
          <a:xfrm>
            <a:off x="723900" y="5924550"/>
            <a:ext cx="10744200" cy="466725"/>
            <a:chOff x="723900" y="5924550"/>
            <a:chExt cx="10744200" cy="466725"/>
          </a:xfrm>
        </p:grpSpPr>
        <p:sp>
          <p:nvSpPr>
            <p:cNvPr id="93" name="Rectangle 93"/>
            <p:cNvSpPr/>
            <p:nvPr/>
          </p:nvSpPr>
          <p:spPr>
            <a:xfrm>
              <a:off x="723900" y="5924550"/>
              <a:ext cx="10744200" cy="466725"/>
            </a:xfrm>
            <a:prstGeom prst="roundRect">
              <a:avLst>
                <a:gd name="adj" fmla="val 12245"/>
              </a:avLst>
            </a:prstGeom>
            <a:solidFill>
              <a:srgbClr val="EDF3FB"/>
            </a:solidFill>
            <a:ln>
              <a:noFill/>
            </a:ln>
          </p:spPr>
        </p:sp>
        <p:sp>
          <p:nvSpPr>
            <p:cNvPr id="94" name="TextBox 94"/>
            <p:cNvSpPr txBox="1"/>
            <p:nvPr/>
          </p:nvSpPr>
          <p:spPr>
            <a:xfrm>
              <a:off x="887349" y="6038850"/>
              <a:ext cx="7950761"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硬件、witness 后端、版本与计时口径不同；不能由截图直接判定差异的唯一原因。</a:t>
              </a:r>
            </a:p>
          </p:txBody>
        </p:sp>
      </p:grpSp>
    </p:spTree>
  </p:cSld>
  <p:clrMapOvr>
    <a:masterClrMapping/>
  </p:clrMapOvr>
</p:sld>
</file>

<file path=ppt/slides/slide17.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sp>
        <p:nvSpPr>
          <p:cNvPr id="28" name="矩形 27"/>
          <p:cNvSpPr/>
          <p:nvPr/>
        </p:nvSpPr>
        <p:spPr>
          <a:xfrm>
            <a:off x="685800" y="495300"/>
            <a:ext cx="10810875" cy="495300"/>
          </a:xfrm>
          <a:prstGeom prst="rect">
            <a:avLst/>
          </a:prstGeom>
          <a:noFill/>
          <a:ln>
            <a:noFill/>
          </a:ln>
        </p:spPr>
        <p:txBody>
          <a:bodyPr wrap="none" lIns="91440" tIns="67151" rIns="0" bIns="0" anchor="t" anchorCtr="0">
            <a:noAutofit/>
          </a:bodyPr>
          <a:lstStyle/>
          <a:p>
            <a:pPr algn="l"/>
            <a:r>
              <a:rPr lang="zh-CN" sz="2620" b="1" dirty="0">
                <a:solidFill>
                  <a:srgbClr val="172B4D"/>
                </a:solidFill>
                <a:latin typeface="Microsoft YaHei"/>
                <a:ea typeface="Microsoft YaHei"/>
                <a:cs typeface="Microsoft YaHei"/>
              </a:rPr>
              <a:t>可扩展性：制造商轻了，全网仍有成本</a:t>
            </a:r>
          </a:p>
        </p:txBody>
      </p:sp>
      <p:sp>
        <p:nvSpPr>
          <p:cNvPr id="3" name="Line 3"/>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6" name="page-footer"/>
          <p:cNvGrpSpPr/>
          <p:nvPr/>
        </p:nvGrpSpPr>
        <p:grpSpPr>
          <a:xfrm>
            <a:off x="776288" y="6524625"/>
            <a:ext cx="10629899" cy="176212"/>
            <a:chOff x="776288" y="6524625"/>
            <a:chExt cx="10629899" cy="176212"/>
          </a:xfrm>
        </p:grpSpPr>
        <p:sp>
          <p:nvSpPr>
            <p:cNvPr id="4" name="TextBox 4"/>
            <p:cNvSpPr txBox="1"/>
            <p:nvPr/>
          </p:nvSpPr>
          <p:spPr>
            <a:xfrm>
              <a:off x="776288" y="6524625"/>
              <a:ext cx="2350275"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03 原型与实验 · 论文 VII-B / C、Fig.6 / 7</a:t>
              </a:r>
            </a:p>
          </p:txBody>
        </p:sp>
        <p:sp>
          <p:nvSpPr>
            <p:cNvPr id="5" name="TextBox 5"/>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17 / 20</a:t>
              </a:r>
            </a:p>
          </p:txBody>
        </p:sp>
      </p:grpSp>
      <p:grpSp>
        <p:nvGrpSpPr>
          <p:cNvPr id="11" name="manufacturer-cost"/>
          <p:cNvGrpSpPr/>
          <p:nvPr/>
        </p:nvGrpSpPr>
        <p:grpSpPr>
          <a:xfrm>
            <a:off x="762000" y="1524000"/>
            <a:ext cx="5143500" cy="1914525"/>
            <a:chOff x="762000" y="1524000"/>
            <a:chExt cx="5143500" cy="1914525"/>
          </a:xfrm>
        </p:grpSpPr>
        <p:sp>
          <p:nvSpPr>
            <p:cNvPr id="7" name="Rectangle 7"/>
            <p:cNvSpPr/>
            <p:nvPr/>
          </p:nvSpPr>
          <p:spPr>
            <a:xfrm>
              <a:off x="762000" y="1524000"/>
              <a:ext cx="5143500" cy="1914525"/>
            </a:xfrm>
            <a:prstGeom prst="roundRect">
              <a:avLst>
                <a:gd name="adj" fmla="val 3980"/>
              </a:avLst>
            </a:prstGeom>
            <a:solidFill>
              <a:srgbClr val="EDF3FB"/>
            </a:solidFill>
            <a:ln>
              <a:noFill/>
            </a:ln>
          </p:spPr>
        </p:sp>
        <p:sp>
          <p:nvSpPr>
            <p:cNvPr id="8" name="Freeform 8"/>
            <p:cNvSpPr/>
            <p:nvPr/>
          </p:nvSpPr>
          <p:spPr>
            <a:xfrm>
              <a:off x="762000" y="1524000"/>
              <a:ext cx="47625" cy="1914525"/>
            </a:xfrm>
            <a:custGeom>
              <a:avLst/>
              <a:gdLst/>
              <a:ahLst/>
              <a:cxnLst/>
              <a:rect l="l" t="t" r="r" b="b"/>
              <a:pathLst>
                <a:path w="47625" h="1914525">
                  <a:moveTo>
                    <a:pt x="0" y="0"/>
                  </a:moveTo>
                  <a:lnTo>
                    <a:pt x="47625" y="0"/>
                  </a:lnTo>
                  <a:lnTo>
                    <a:pt x="47625" y="1914525"/>
                  </a:lnTo>
                  <a:lnTo>
                    <a:pt x="0" y="1914525"/>
                  </a:lnTo>
                  <a:close/>
                </a:path>
              </a:pathLst>
            </a:custGeom>
            <a:solidFill>
              <a:srgbClr val="2F4F98"/>
            </a:solidFill>
            <a:ln>
              <a:noFill/>
            </a:ln>
          </p:spPr>
        </p:sp>
        <p:sp>
          <p:nvSpPr>
            <p:cNvPr id="9" name="TextBox 9"/>
            <p:cNvSpPr txBox="1"/>
            <p:nvPr/>
          </p:nvSpPr>
          <p:spPr>
            <a:xfrm>
              <a:off x="962025" y="1647825"/>
              <a:ext cx="2549906"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制造商：周期性发布量</a:t>
              </a:r>
            </a:p>
          </p:txBody>
        </p:sp>
        <p:sp>
          <p:nvSpPr>
            <p:cNvPr id="10" name="TextBox 10"/>
            <p:cNvSpPr txBox="1"/>
            <p:nvPr/>
          </p:nvSpPr>
          <p:spPr>
            <a:xfrm>
              <a:off x="962787" y="2016125"/>
              <a:ext cx="4004056" cy="972693"/>
            </a:xfrm>
            <a:prstGeom prst="rect">
              <a:avLst/>
            </a:prstGeom>
            <a:noFill/>
            <a:ln>
              <a:noFill/>
            </a:ln>
          </p:spPr>
          <p:txBody>
            <a:bodyPr wrap="none" lIns="0" tIns="0" rIns="0" bIns="0" anchor="t" anchorCtr="0">
              <a:spAutoFit/>
            </a:bodyPr>
            <a:lstStyle/>
            <a:p>
              <a:pPr algn="l">
                <a:lnSpc>
                  <a:spcPts val="2501"/>
                </a:lnSpc>
              </a:pPr>
              <a:r>
                <a:rPr lang="zh-CN" sz="1720" dirty="0">
                  <a:solidFill>
                    <a:srgbClr val="172B4D"/>
                  </a:solidFill>
                  <a:latin typeface="Microsoft YaHei"/>
                  <a:ea typeface="Microsoft YaHei"/>
                  <a:cs typeface="Microsoft YaHei"/>
                </a:rPr>
                <a:t>n 台设备，每台证明 m 次。</a:t>
              </a:r>
              <a:br>
                <a:rPr lang="zh-CN" sz="1720" dirty="0">
                  <a:solidFill>
                    <a:srgbClr val="172B4D"/>
                  </a:solidFill>
                  <a:latin typeface="Microsoft YaHei"/>
                  <a:ea typeface="Microsoft YaHei"/>
                  <a:cs typeface="Microsoft YaHei"/>
                </a:rPr>
              </a:br>
              <a:r>
                <a:rPr lang="zh-CN" sz="1720" dirty="0">
                  <a:solidFill>
                    <a:srgbClr val="172B4D"/>
                  </a:solidFill>
                  <a:latin typeface="Microsoft YaHei"/>
                  <a:ea typeface="Microsoft YaHei"/>
                  <a:cs typeface="Microsoft YaHei"/>
                </a:rPr>
                <a:t>只需公布 m 个全局挑战，发布量 O(m)。</a:t>
              </a:r>
              <a:br>
                <a:rPr lang="zh-CN" sz="1720" dirty="0">
                  <a:solidFill>
                    <a:srgbClr val="172B4D"/>
                  </a:solidFill>
                  <a:latin typeface="Microsoft YaHei"/>
                  <a:ea typeface="Microsoft YaHei"/>
                  <a:cs typeface="Microsoft YaHei"/>
                </a:rPr>
              </a:br>
              <a:r>
                <a:rPr lang="zh-CN" sz="1720" dirty="0">
                  <a:solidFill>
                    <a:srgbClr val="172B4D"/>
                  </a:solidFill>
                  <a:latin typeface="Microsoft YaHei"/>
                  <a:ea typeface="Microsoft YaHei"/>
                  <a:cs typeface="Microsoft YaHei"/>
                </a:rPr>
                <a:t>对比逐设备发送挑战的 O(nm)。</a:t>
              </a:r>
            </a:p>
          </p:txBody>
        </p:sp>
      </p:grpSp>
      <p:grpSp>
        <p:nvGrpSpPr>
          <p:cNvPr id="16" name="network-cost"/>
          <p:cNvGrpSpPr/>
          <p:nvPr/>
        </p:nvGrpSpPr>
        <p:grpSpPr>
          <a:xfrm>
            <a:off x="6248400" y="1524000"/>
            <a:ext cx="5181600" cy="1914525"/>
            <a:chOff x="6248400" y="1524000"/>
            <a:chExt cx="5181600" cy="1914525"/>
          </a:xfrm>
        </p:grpSpPr>
        <p:sp>
          <p:nvSpPr>
            <p:cNvPr id="12" name="Rectangle 12"/>
            <p:cNvSpPr/>
            <p:nvPr/>
          </p:nvSpPr>
          <p:spPr>
            <a:xfrm>
              <a:off x="6248400" y="1524000"/>
              <a:ext cx="5181600" cy="1914525"/>
            </a:xfrm>
            <a:prstGeom prst="roundRect">
              <a:avLst>
                <a:gd name="adj" fmla="val 3980"/>
              </a:avLst>
            </a:prstGeom>
            <a:solidFill>
              <a:srgbClr val="EDF3FB"/>
            </a:solidFill>
            <a:ln>
              <a:noFill/>
            </a:ln>
          </p:spPr>
        </p:sp>
        <p:sp>
          <p:nvSpPr>
            <p:cNvPr id="13" name="Freeform 13"/>
            <p:cNvSpPr/>
            <p:nvPr/>
          </p:nvSpPr>
          <p:spPr>
            <a:xfrm>
              <a:off x="6248400" y="1524000"/>
              <a:ext cx="47625" cy="1914525"/>
            </a:xfrm>
            <a:custGeom>
              <a:avLst/>
              <a:gdLst/>
              <a:ahLst/>
              <a:cxnLst/>
              <a:rect l="l" t="t" r="r" b="b"/>
              <a:pathLst>
                <a:path w="47625" h="1914525">
                  <a:moveTo>
                    <a:pt x="0" y="0"/>
                  </a:moveTo>
                  <a:lnTo>
                    <a:pt x="47625" y="0"/>
                  </a:lnTo>
                  <a:lnTo>
                    <a:pt x="47625" y="1914525"/>
                  </a:lnTo>
                  <a:lnTo>
                    <a:pt x="0" y="1914525"/>
                  </a:lnTo>
                  <a:close/>
                </a:path>
              </a:pathLst>
            </a:custGeom>
            <a:solidFill>
              <a:srgbClr val="159AA8"/>
            </a:solidFill>
            <a:ln>
              <a:noFill/>
            </a:ln>
          </p:spPr>
        </p:sp>
        <p:sp>
          <p:nvSpPr>
            <p:cNvPr id="14" name="TextBox 14"/>
            <p:cNvSpPr txBox="1"/>
            <p:nvPr/>
          </p:nvSpPr>
          <p:spPr>
            <a:xfrm>
              <a:off x="6448425" y="1647825"/>
              <a:ext cx="3309163" cy="367665"/>
            </a:xfrm>
            <a:prstGeom prst="rect">
              <a:avLst/>
            </a:prstGeom>
            <a:noFill/>
            <a:ln>
              <a:noFill/>
            </a:ln>
          </p:spPr>
          <p:txBody>
            <a:bodyPr wrap="none" lIns="0" tIns="0" rIns="0" bIns="0" anchor="t" anchorCtr="0">
              <a:spAutoFit/>
            </a:bodyPr>
            <a:lstStyle/>
            <a:p>
              <a:pPr algn="l"/>
              <a:r>
                <a:rPr lang="zh-CN" sz="1880" b="1" dirty="0">
                  <a:solidFill>
                    <a:srgbClr val="159AA8"/>
                  </a:solidFill>
                  <a:latin typeface="Microsoft YaHei"/>
                  <a:ea typeface="Microsoft YaHei"/>
                  <a:cs typeface="Microsoft YaHei"/>
                </a:rPr>
                <a:t>设备与基础设施：成本仍增长</a:t>
              </a:r>
            </a:p>
          </p:txBody>
        </p:sp>
        <p:sp>
          <p:nvSpPr>
            <p:cNvPr id="15" name="TextBox 15"/>
            <p:cNvSpPr txBox="1"/>
            <p:nvPr/>
          </p:nvSpPr>
          <p:spPr>
            <a:xfrm>
              <a:off x="6449187" y="2016125"/>
              <a:ext cx="3741928" cy="972693"/>
            </a:xfrm>
            <a:prstGeom prst="rect">
              <a:avLst/>
            </a:prstGeom>
            <a:noFill/>
            <a:ln>
              <a:noFill/>
            </a:ln>
          </p:spPr>
          <p:txBody>
            <a:bodyPr wrap="none" lIns="0" tIns="0" rIns="0" bIns="0" anchor="t" anchorCtr="0">
              <a:spAutoFit/>
            </a:bodyPr>
            <a:lstStyle/>
            <a:p>
              <a:pPr algn="l">
                <a:lnSpc>
                  <a:spcPts val="2501"/>
                </a:lnSpc>
              </a:pPr>
              <a:r>
                <a:rPr lang="zh-CN" sz="1720" dirty="0">
                  <a:solidFill>
                    <a:srgbClr val="172B4D"/>
                  </a:solidFill>
                  <a:latin typeface="Microsoft YaHei"/>
                  <a:ea typeface="Microsoft YaHei"/>
                  <a:cs typeface="Microsoft YaHei"/>
                </a:rPr>
                <a:t>全体设备仍提交约 n × m 份证明。</a:t>
              </a:r>
              <a:br>
                <a:rPr lang="zh-CN" sz="1720" dirty="0">
                  <a:solidFill>
                    <a:srgbClr val="172B4D"/>
                  </a:solidFill>
                  <a:latin typeface="Microsoft YaHei"/>
                  <a:ea typeface="Microsoft YaHei"/>
                  <a:cs typeface="Microsoft YaHei"/>
                </a:rPr>
              </a:br>
              <a:r>
                <a:rPr lang="zh-CN" sz="1720" dirty="0">
                  <a:solidFill>
                    <a:srgbClr val="172B4D"/>
                  </a:solidFill>
                  <a:latin typeface="Microsoft YaHei"/>
                  <a:ea typeface="Microsoft YaHei"/>
                  <a:cs typeface="Microsoft YaHei"/>
                </a:rPr>
                <a:t>离线承诺树与预计算也随 n × m 增长。</a:t>
              </a:r>
              <a:br>
                <a:rPr lang="zh-CN" sz="1720" dirty="0">
                  <a:solidFill>
                    <a:srgbClr val="172B4D"/>
                  </a:solidFill>
                  <a:latin typeface="Microsoft YaHei"/>
                  <a:ea typeface="Microsoft YaHei"/>
                  <a:cs typeface="Microsoft YaHei"/>
                </a:rPr>
              </a:br>
              <a:r>
                <a:rPr lang="zh-CN" sz="1720" dirty="0">
                  <a:solidFill>
                    <a:srgbClr val="172B4D"/>
                  </a:solidFill>
                  <a:latin typeface="Microsoft YaHei"/>
                  <a:ea typeface="Microsoft YaHei"/>
                  <a:cs typeface="Microsoft YaHei"/>
                </a:rPr>
                <a:t>链上吞吐、费用与存储不能视为常数。</a:t>
              </a:r>
            </a:p>
          </p:txBody>
        </p:sp>
      </p:grpSp>
      <p:grpSp>
        <p:nvGrpSpPr>
          <p:cNvPr id="31" name="scaling-example"/>
          <p:cNvGrpSpPr/>
          <p:nvPr/>
        </p:nvGrpSpPr>
        <p:grpSpPr>
          <a:xfrm>
            <a:off x="762000" y="3752850"/>
            <a:ext cx="10668000" cy="1200150"/>
            <a:chOff x="762000" y="3752850"/>
            <a:chExt cx="10668000" cy="1200150"/>
          </a:xfrm>
        </p:grpSpPr>
        <p:sp>
          <p:nvSpPr>
            <p:cNvPr id="17" name="Rectangle 17"/>
            <p:cNvSpPr/>
            <p:nvPr/>
          </p:nvSpPr>
          <p:spPr>
            <a:xfrm>
              <a:off x="762000" y="3752850"/>
              <a:ext cx="10668000" cy="400050"/>
            </a:xfrm>
            <a:prstGeom prst="rect">
              <a:avLst/>
            </a:prstGeom>
            <a:solidFill>
              <a:srgbClr val="2F4F98"/>
            </a:solidFill>
            <a:ln>
              <a:noFill/>
            </a:ln>
          </p:spPr>
        </p:sp>
        <p:sp>
          <p:nvSpPr>
            <p:cNvPr id="18" name="Rectangle 18"/>
            <p:cNvSpPr/>
            <p:nvPr/>
          </p:nvSpPr>
          <p:spPr>
            <a:xfrm>
              <a:off x="762000" y="3752850"/>
              <a:ext cx="6096000" cy="400050"/>
            </a:xfrm>
            <a:prstGeom prst="rect">
              <a:avLst/>
            </a:prstGeom>
            <a:solidFill>
              <a:srgbClr val="2F4F98"/>
            </a:solidFill>
            <a:ln w="9525">
              <a:solidFill>
                <a:srgbClr val="D6E1EF"/>
              </a:solidFill>
            </a:ln>
          </p:spPr>
        </p:sp>
        <p:sp>
          <p:nvSpPr>
            <p:cNvPr id="19" name="TextBox 19"/>
            <p:cNvSpPr txBox="1"/>
            <p:nvPr/>
          </p:nvSpPr>
          <p:spPr>
            <a:xfrm>
              <a:off x="2424455" y="3823018"/>
              <a:ext cx="2771089" cy="322707"/>
            </a:xfrm>
            <a:prstGeom prst="rect">
              <a:avLst/>
            </a:prstGeom>
            <a:noFill/>
            <a:ln>
              <a:noFill/>
            </a:ln>
          </p:spPr>
          <p:txBody>
            <a:bodyPr wrap="none" lIns="0" tIns="0" rIns="0" bIns="0" anchor="t" anchorCtr="0">
              <a:spAutoFit/>
            </a:bodyPr>
            <a:lstStyle/>
            <a:p>
              <a:pPr algn="ctr"/>
              <a:r>
                <a:rPr lang="zh-CN" sz="1650" b="1" dirty="0">
                  <a:solidFill>
                    <a:srgbClr val="FFFFFF"/>
                  </a:solidFill>
                  <a:latin typeface="Microsoft YaHei"/>
                  <a:ea typeface="Microsoft YaHei"/>
                  <a:cs typeface="Microsoft YaHei"/>
                </a:rPr>
                <a:t>示例：n = 10^6，m = 10^4</a:t>
              </a:r>
            </a:p>
          </p:txBody>
        </p:sp>
        <p:sp>
          <p:nvSpPr>
            <p:cNvPr id="20" name="Rectangle 20"/>
            <p:cNvSpPr/>
            <p:nvPr/>
          </p:nvSpPr>
          <p:spPr>
            <a:xfrm>
              <a:off x="6858000" y="3752850"/>
              <a:ext cx="4572000" cy="400050"/>
            </a:xfrm>
            <a:prstGeom prst="rect">
              <a:avLst/>
            </a:prstGeom>
            <a:solidFill>
              <a:srgbClr val="2F4F98"/>
            </a:solidFill>
            <a:ln w="9525">
              <a:solidFill>
                <a:srgbClr val="D6E1EF"/>
              </a:solidFill>
            </a:ln>
          </p:spPr>
        </p:sp>
        <p:sp>
          <p:nvSpPr>
            <p:cNvPr id="21" name="TextBox 21"/>
            <p:cNvSpPr txBox="1"/>
            <p:nvPr/>
          </p:nvSpPr>
          <p:spPr>
            <a:xfrm>
              <a:off x="7890896" y="3823018"/>
              <a:ext cx="2506208" cy="322707"/>
            </a:xfrm>
            <a:prstGeom prst="rect">
              <a:avLst/>
            </a:prstGeom>
            <a:noFill/>
            <a:ln>
              <a:noFill/>
            </a:ln>
          </p:spPr>
          <p:txBody>
            <a:bodyPr wrap="none" lIns="0" tIns="0" rIns="0" bIns="0" anchor="t" anchorCtr="0">
              <a:spAutoFit/>
            </a:bodyPr>
            <a:lstStyle/>
            <a:p>
              <a:pPr algn="ctr"/>
              <a:r>
                <a:rPr lang="zh-CN" sz="1650" b="1" dirty="0">
                  <a:solidFill>
                    <a:srgbClr val="FFFFFF"/>
                  </a:solidFill>
                  <a:latin typeface="Microsoft YaHei"/>
                  <a:ea typeface="Microsoft YaHei"/>
                  <a:cs typeface="Microsoft YaHei"/>
                </a:rPr>
                <a:t>挑战发布 / 证明提交次数</a:t>
              </a:r>
            </a:p>
          </p:txBody>
        </p:sp>
        <p:sp>
          <p:nvSpPr>
            <p:cNvPr id="22" name="Rectangle 22"/>
            <p:cNvSpPr/>
            <p:nvPr/>
          </p:nvSpPr>
          <p:spPr>
            <a:xfrm>
              <a:off x="762000" y="4152900"/>
              <a:ext cx="6096000" cy="400050"/>
            </a:xfrm>
            <a:prstGeom prst="rect">
              <a:avLst/>
            </a:prstGeom>
            <a:solidFill>
              <a:srgbClr val="FFFFFF"/>
            </a:solidFill>
            <a:ln w="9525">
              <a:solidFill>
                <a:srgbClr val="D6E1EF"/>
              </a:solidFill>
            </a:ln>
          </p:spPr>
        </p:sp>
        <p:sp>
          <p:nvSpPr>
            <p:cNvPr id="23" name="TextBox 23"/>
            <p:cNvSpPr txBox="1"/>
            <p:nvPr/>
          </p:nvSpPr>
          <p:spPr>
            <a:xfrm>
              <a:off x="848868" y="4223068"/>
              <a:ext cx="2237994" cy="322707"/>
            </a:xfrm>
            <a:prstGeom prst="rect">
              <a:avLst/>
            </a:prstGeom>
            <a:noFill/>
            <a:ln>
              <a:noFill/>
            </a:ln>
          </p:spPr>
          <p:txBody>
            <a:bodyPr wrap="none" lIns="0" tIns="0" rIns="0" bIns="0" anchor="t" anchorCtr="0">
              <a:spAutoFit/>
            </a:bodyPr>
            <a:lstStyle/>
            <a:p>
              <a:pPr algn="l"/>
              <a:r>
                <a:rPr lang="zh-CN" sz="1650" dirty="0">
                  <a:solidFill>
                    <a:srgbClr val="172B4D"/>
                  </a:solidFill>
                  <a:latin typeface="Microsoft YaHei"/>
                  <a:ea typeface="Microsoft YaHei"/>
                  <a:cs typeface="Microsoft YaHei"/>
                </a:rPr>
                <a:t>制造商的全局挑战发布</a:t>
              </a:r>
            </a:p>
          </p:txBody>
        </p:sp>
        <p:sp>
          <p:nvSpPr>
            <p:cNvPr id="24" name="Rectangle 24"/>
            <p:cNvSpPr/>
            <p:nvPr/>
          </p:nvSpPr>
          <p:spPr>
            <a:xfrm>
              <a:off x="6858000" y="4152900"/>
              <a:ext cx="4572000" cy="400050"/>
            </a:xfrm>
            <a:prstGeom prst="rect">
              <a:avLst/>
            </a:prstGeom>
            <a:solidFill>
              <a:srgbClr val="FFFFFF"/>
            </a:solidFill>
            <a:ln w="9525">
              <a:solidFill>
                <a:srgbClr val="D6E1EF"/>
              </a:solidFill>
            </a:ln>
          </p:spPr>
        </p:sp>
        <p:sp>
          <p:nvSpPr>
            <p:cNvPr id="25" name="TextBox 25"/>
            <p:cNvSpPr txBox="1"/>
            <p:nvPr/>
          </p:nvSpPr>
          <p:spPr>
            <a:xfrm>
              <a:off x="8891283" y="4223068"/>
              <a:ext cx="505435"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10^4</a:t>
              </a:r>
            </a:p>
          </p:txBody>
        </p:sp>
        <p:sp>
          <p:nvSpPr>
            <p:cNvPr id="26" name="Rectangle 26"/>
            <p:cNvSpPr/>
            <p:nvPr/>
          </p:nvSpPr>
          <p:spPr>
            <a:xfrm>
              <a:off x="762000" y="4552950"/>
              <a:ext cx="6096000" cy="400050"/>
            </a:xfrm>
            <a:prstGeom prst="rect">
              <a:avLst/>
            </a:prstGeom>
            <a:solidFill>
              <a:srgbClr val="FFFFFF"/>
            </a:solidFill>
            <a:ln w="9525">
              <a:solidFill>
                <a:srgbClr val="D6E1EF"/>
              </a:solidFill>
            </a:ln>
          </p:spPr>
        </p:sp>
        <p:sp>
          <p:nvSpPr>
            <p:cNvPr id="27" name="TextBox 27"/>
            <p:cNvSpPr txBox="1"/>
            <p:nvPr/>
          </p:nvSpPr>
          <p:spPr>
            <a:xfrm>
              <a:off x="848868" y="4623118"/>
              <a:ext cx="2015871" cy="322707"/>
            </a:xfrm>
            <a:prstGeom prst="rect">
              <a:avLst/>
            </a:prstGeom>
            <a:noFill/>
            <a:ln>
              <a:noFill/>
            </a:ln>
          </p:spPr>
          <p:txBody>
            <a:bodyPr wrap="none" lIns="0" tIns="0" rIns="0" bIns="0" anchor="t" anchorCtr="0">
              <a:spAutoFit/>
            </a:bodyPr>
            <a:lstStyle/>
            <a:p>
              <a:pPr algn="l"/>
              <a:r>
                <a:rPr lang="zh-CN" sz="1650" dirty="0">
                  <a:solidFill>
                    <a:srgbClr val="172B4D"/>
                  </a:solidFill>
                  <a:latin typeface="Microsoft YaHei"/>
                  <a:ea typeface="Microsoft YaHei"/>
                  <a:cs typeface="Microsoft YaHei"/>
                </a:rPr>
                <a:t>全体设备的证明提交</a:t>
              </a:r>
            </a:p>
          </p:txBody>
        </p:sp>
        <p:sp>
          <p:nvSpPr>
            <p:cNvPr id="29" name="Rectangle 29"/>
            <p:cNvSpPr/>
            <p:nvPr/>
          </p:nvSpPr>
          <p:spPr>
            <a:xfrm>
              <a:off x="6858000" y="4552950"/>
              <a:ext cx="4572000" cy="400050"/>
            </a:xfrm>
            <a:prstGeom prst="rect">
              <a:avLst/>
            </a:prstGeom>
            <a:solidFill>
              <a:srgbClr val="FFFFFF"/>
            </a:solidFill>
            <a:ln w="9525">
              <a:solidFill>
                <a:srgbClr val="D6E1EF"/>
              </a:solidFill>
            </a:ln>
          </p:spPr>
        </p:sp>
        <p:sp>
          <p:nvSpPr>
            <p:cNvPr id="30" name="TextBox 30"/>
            <p:cNvSpPr txBox="1"/>
            <p:nvPr/>
          </p:nvSpPr>
          <p:spPr>
            <a:xfrm>
              <a:off x="8830199" y="4623118"/>
              <a:ext cx="627602"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10^10</a:t>
              </a:r>
            </a:p>
          </p:txBody>
        </p:sp>
      </p:grpSp>
      <p:grpSp>
        <p:nvGrpSpPr>
          <p:cNvPr id="35" name="storage-correction"/>
          <p:cNvGrpSpPr/>
          <p:nvPr/>
        </p:nvGrpSpPr>
        <p:grpSpPr>
          <a:xfrm>
            <a:off x="792099" y="5305425"/>
            <a:ext cx="8860894" cy="308991"/>
            <a:chOff x="792099" y="5305425"/>
            <a:chExt cx="8860894" cy="308991"/>
          </a:xfrm>
        </p:grpSpPr>
        <p:sp>
          <p:nvSpPr>
            <p:cNvPr id="32" name="TextBox 32"/>
            <p:cNvSpPr txBox="1"/>
            <p:nvPr/>
          </p:nvSpPr>
          <p:spPr>
            <a:xfrm>
              <a:off x="792099" y="5305425"/>
              <a:ext cx="8860894" cy="308991"/>
            </a:xfrm>
            <a:prstGeom prst="rect">
              <a:avLst/>
            </a:prstGeom>
            <a:noFill/>
            <a:ln>
              <a:noFill/>
            </a:ln>
          </p:spPr>
          <p:txBody>
            <a:bodyPr wrap="none" lIns="0" tIns="0" rIns="0" bIns="0" anchor="t" anchorCtr="0">
              <a:spAutoFit/>
            </a:bodyPr>
            <a:lstStyle/>
            <a:p>
              <a:pPr algn="l"/>
              <a:r>
                <a:rPr lang="zh-CN" sz="1580" dirty="0">
                  <a:solidFill>
                    <a:srgbClr val="172B4D"/>
                  </a:solidFill>
                  <a:latin typeface="Microsoft YaHei"/>
                  <a:ea typeface="Microsoft YaHei"/>
                  <a:cs typeface="Microsoft YaHei"/>
                </a:rPr>
                <a:t>未来挑战仅随 m 增长：10^6 × 32 B = 32 MB（约 30.5 MiB）；公开树与访问路径成本另计。</a:t>
              </a:r>
            </a:p>
          </p:txBody>
        </p:sp>
      </p:grpSp>
      <p:grpSp>
        <p:nvGrpSpPr>
          <p:cNvPr id="38" name="takeaway"/>
          <p:cNvGrpSpPr/>
          <p:nvPr/>
        </p:nvGrpSpPr>
        <p:grpSpPr>
          <a:xfrm>
            <a:off x="723900" y="5924550"/>
            <a:ext cx="10744200" cy="466725"/>
            <a:chOff x="723900" y="5924550"/>
            <a:chExt cx="10744200" cy="466725"/>
          </a:xfrm>
        </p:grpSpPr>
        <p:sp>
          <p:nvSpPr>
            <p:cNvPr id="36" name="Rectangle 36"/>
            <p:cNvSpPr/>
            <p:nvPr/>
          </p:nvSpPr>
          <p:spPr>
            <a:xfrm>
              <a:off x="723900" y="5924550"/>
              <a:ext cx="10744200" cy="466725"/>
            </a:xfrm>
            <a:prstGeom prst="roundRect">
              <a:avLst>
                <a:gd name="adj" fmla="val 12245"/>
              </a:avLst>
            </a:prstGeom>
            <a:solidFill>
              <a:srgbClr val="EDF3FB"/>
            </a:solidFill>
            <a:ln>
              <a:noFill/>
            </a:ln>
          </p:spPr>
        </p:sp>
        <p:sp>
          <p:nvSpPr>
            <p:cNvPr id="37" name="TextBox 37"/>
            <p:cNvSpPr txBox="1"/>
            <p:nvPr/>
          </p:nvSpPr>
          <p:spPr>
            <a:xfrm>
              <a:off x="887349" y="6038850"/>
              <a:ext cx="7325745"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适合能访问公开节点的 Pub/Sub 与 P2P；Mesh / Swarm 的表现仍需验证。</a:t>
              </a:r>
            </a:p>
          </p:txBody>
        </p:sp>
      </p:grpSp>
    </p:spTree>
  </p:cSld>
  <p:clrMapOvr>
    <a:masterClrMapping/>
  </p:clrMapOvr>
</p:sld>
</file>

<file path=ppt/slides/slide18.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grpSp>
        <p:nvGrpSpPr>
          <p:cNvPr id="3" name="page-title"/>
          <p:cNvGrpSpPr/>
          <p:nvPr/>
        </p:nvGrpSpPr>
        <p:grpSpPr>
          <a:xfrm>
            <a:off x="763905" y="528320"/>
            <a:ext cx="5317236" cy="513398"/>
            <a:chOff x="763905" y="528320"/>
            <a:chExt cx="5317236" cy="513398"/>
          </a:xfrm>
        </p:grpSpPr>
        <p:sp>
          <p:nvSpPr>
            <p:cNvPr id="2" name="TextBox 2"/>
            <p:cNvSpPr txBox="1"/>
            <p:nvPr/>
          </p:nvSpPr>
          <p:spPr>
            <a:xfrm>
              <a:off x="763905" y="528320"/>
              <a:ext cx="5317236" cy="513398"/>
            </a:xfrm>
            <a:prstGeom prst="rect">
              <a:avLst/>
            </a:prstGeom>
            <a:noFill/>
            <a:ln>
              <a:noFill/>
            </a:ln>
          </p:spPr>
          <p:txBody>
            <a:bodyPr wrap="none" lIns="0" tIns="0" rIns="0" bIns="0" anchor="t" anchorCtr="0">
              <a:spAutoFit/>
            </a:bodyPr>
            <a:lstStyle/>
            <a:p>
              <a:pPr algn="l"/>
              <a:r>
                <a:rPr lang="zh-CN" sz="2620" b="1" dirty="0">
                  <a:solidFill>
                    <a:srgbClr val="172B4D"/>
                  </a:solidFill>
                  <a:latin typeface="Microsoft YaHei"/>
                  <a:ea typeface="Microsoft YaHei"/>
                  <a:cs typeface="Microsoft YaHei"/>
                </a:rPr>
                <a:t>能耗与设备负担：快不一定更省电</a:t>
              </a:r>
            </a:p>
          </p:txBody>
        </p:sp>
      </p:grpSp>
      <p:sp>
        <p:nvSpPr>
          <p:cNvPr id="4" name="Line 4"/>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7" name="page-footer"/>
          <p:cNvGrpSpPr/>
          <p:nvPr/>
        </p:nvGrpSpPr>
        <p:grpSpPr>
          <a:xfrm>
            <a:off x="776288" y="6524625"/>
            <a:ext cx="10629899" cy="176212"/>
            <a:chOff x="776288" y="6524625"/>
            <a:chExt cx="10629899" cy="176212"/>
          </a:xfrm>
        </p:grpSpPr>
        <p:sp>
          <p:nvSpPr>
            <p:cNvPr id="5" name="TextBox 5"/>
            <p:cNvSpPr txBox="1"/>
            <p:nvPr/>
          </p:nvSpPr>
          <p:spPr>
            <a:xfrm>
              <a:off x="776288" y="6524625"/>
              <a:ext cx="1886739"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03 原型与实验 · 论文 Table VI、IX</a:t>
              </a:r>
            </a:p>
          </p:txBody>
        </p:sp>
        <p:sp>
          <p:nvSpPr>
            <p:cNvPr id="6" name="TextBox 6"/>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18 / 20</a:t>
              </a:r>
            </a:p>
          </p:txBody>
        </p:sp>
      </p:grpSp>
      <p:grpSp>
        <p:nvGrpSpPr>
          <p:cNvPr id="43" name="energy-results"/>
          <p:cNvGrpSpPr/>
          <p:nvPr/>
        </p:nvGrpSpPr>
        <p:grpSpPr>
          <a:xfrm>
            <a:off x="762000" y="1628775"/>
            <a:ext cx="10668000" cy="1943100"/>
            <a:chOff x="762000" y="1628775"/>
            <a:chExt cx="10668000" cy="1943100"/>
          </a:xfrm>
        </p:grpSpPr>
        <p:sp>
          <p:nvSpPr>
            <p:cNvPr id="8" name="Rectangle 8"/>
            <p:cNvSpPr/>
            <p:nvPr/>
          </p:nvSpPr>
          <p:spPr>
            <a:xfrm>
              <a:off x="762000" y="1628775"/>
              <a:ext cx="10668000" cy="485775"/>
            </a:xfrm>
            <a:prstGeom prst="rect">
              <a:avLst/>
            </a:prstGeom>
            <a:solidFill>
              <a:srgbClr val="2F4F98"/>
            </a:solidFill>
            <a:ln>
              <a:noFill/>
            </a:ln>
          </p:spPr>
        </p:sp>
        <p:sp>
          <p:nvSpPr>
            <p:cNvPr id="9" name="Rectangle 9"/>
            <p:cNvSpPr/>
            <p:nvPr/>
          </p:nvSpPr>
          <p:spPr>
            <a:xfrm>
              <a:off x="762000" y="1628775"/>
              <a:ext cx="3200400" cy="485775"/>
            </a:xfrm>
            <a:prstGeom prst="rect">
              <a:avLst/>
            </a:prstGeom>
            <a:solidFill>
              <a:srgbClr val="2F4F98"/>
            </a:solidFill>
            <a:ln w="9525">
              <a:solidFill>
                <a:srgbClr val="D6E1EF"/>
              </a:solidFill>
            </a:ln>
          </p:spPr>
        </p:sp>
        <p:sp>
          <p:nvSpPr>
            <p:cNvPr id="10" name="TextBox 10"/>
            <p:cNvSpPr txBox="1"/>
            <p:nvPr/>
          </p:nvSpPr>
          <p:spPr>
            <a:xfrm>
              <a:off x="1895716" y="1741805"/>
              <a:ext cx="932969" cy="322707"/>
            </a:xfrm>
            <a:prstGeom prst="rect">
              <a:avLst/>
            </a:prstGeom>
            <a:noFill/>
            <a:ln>
              <a:noFill/>
            </a:ln>
          </p:spPr>
          <p:txBody>
            <a:bodyPr wrap="none" lIns="0" tIns="0" rIns="0" bIns="0" anchor="t" anchorCtr="0">
              <a:spAutoFit/>
            </a:bodyPr>
            <a:lstStyle/>
            <a:p>
              <a:pPr algn="ctr"/>
              <a:r>
                <a:rPr lang="zh-CN" sz="1650" b="1" dirty="0">
                  <a:solidFill>
                    <a:srgbClr val="FFFFFF"/>
                  </a:solidFill>
                  <a:latin typeface="Microsoft YaHei"/>
                  <a:ea typeface="Microsoft YaHei"/>
                  <a:cs typeface="Microsoft YaHei"/>
                </a:rPr>
                <a:t>zRA 平台</a:t>
              </a:r>
            </a:p>
          </p:txBody>
        </p:sp>
        <p:sp>
          <p:nvSpPr>
            <p:cNvPr id="11" name="Rectangle 11"/>
            <p:cNvSpPr/>
            <p:nvPr/>
          </p:nvSpPr>
          <p:spPr>
            <a:xfrm>
              <a:off x="3962400" y="1628775"/>
              <a:ext cx="2133600" cy="485775"/>
            </a:xfrm>
            <a:prstGeom prst="rect">
              <a:avLst/>
            </a:prstGeom>
            <a:solidFill>
              <a:srgbClr val="2F4F98"/>
            </a:solidFill>
            <a:ln w="9525">
              <a:solidFill>
                <a:srgbClr val="D6E1EF"/>
              </a:solidFill>
            </a:ln>
          </p:spPr>
        </p:sp>
        <p:sp>
          <p:nvSpPr>
            <p:cNvPr id="12" name="TextBox 12"/>
            <p:cNvSpPr txBox="1"/>
            <p:nvPr/>
          </p:nvSpPr>
          <p:spPr>
            <a:xfrm>
              <a:off x="4354449" y="1741805"/>
              <a:ext cx="1349502" cy="322707"/>
            </a:xfrm>
            <a:prstGeom prst="rect">
              <a:avLst/>
            </a:prstGeom>
            <a:noFill/>
            <a:ln>
              <a:noFill/>
            </a:ln>
          </p:spPr>
          <p:txBody>
            <a:bodyPr wrap="none" lIns="0" tIns="0" rIns="0" bIns="0" anchor="t" anchorCtr="0">
              <a:spAutoFit/>
            </a:bodyPr>
            <a:lstStyle/>
            <a:p>
              <a:pPr algn="ctr"/>
              <a:r>
                <a:rPr lang="zh-CN" sz="1650" b="1" dirty="0">
                  <a:solidFill>
                    <a:srgbClr val="FFFFFF"/>
                  </a:solidFill>
                  <a:latin typeface="Microsoft YaHei"/>
                  <a:ea typeface="Microsoft YaHei"/>
                  <a:cs typeface="Microsoft YaHei"/>
                </a:rPr>
                <a:t>一次证明时间</a:t>
              </a:r>
            </a:p>
          </p:txBody>
        </p:sp>
        <p:sp>
          <p:nvSpPr>
            <p:cNvPr id="13" name="Rectangle 13"/>
            <p:cNvSpPr/>
            <p:nvPr/>
          </p:nvSpPr>
          <p:spPr>
            <a:xfrm>
              <a:off x="6096000" y="1628775"/>
              <a:ext cx="1778000" cy="485775"/>
            </a:xfrm>
            <a:prstGeom prst="rect">
              <a:avLst/>
            </a:prstGeom>
            <a:solidFill>
              <a:srgbClr val="2F4F98"/>
            </a:solidFill>
            <a:ln w="9525">
              <a:solidFill>
                <a:srgbClr val="D6E1EF"/>
              </a:solidFill>
            </a:ln>
          </p:spPr>
        </p:sp>
        <p:sp>
          <p:nvSpPr>
            <p:cNvPr id="14" name="TextBox 14"/>
            <p:cNvSpPr txBox="1"/>
            <p:nvPr/>
          </p:nvSpPr>
          <p:spPr>
            <a:xfrm>
              <a:off x="6754495" y="1741805"/>
              <a:ext cx="461010" cy="322707"/>
            </a:xfrm>
            <a:prstGeom prst="rect">
              <a:avLst/>
            </a:prstGeom>
            <a:noFill/>
            <a:ln>
              <a:noFill/>
            </a:ln>
          </p:spPr>
          <p:txBody>
            <a:bodyPr wrap="none" lIns="0" tIns="0" rIns="0" bIns="0" anchor="t" anchorCtr="0">
              <a:spAutoFit/>
            </a:bodyPr>
            <a:lstStyle/>
            <a:p>
              <a:pPr algn="ctr"/>
              <a:r>
                <a:rPr lang="zh-CN" sz="1650" b="1" dirty="0">
                  <a:solidFill>
                    <a:srgbClr val="FFFFFF"/>
                  </a:solidFill>
                  <a:latin typeface="Microsoft YaHei"/>
                  <a:ea typeface="Microsoft YaHei"/>
                  <a:cs typeface="Microsoft YaHei"/>
                </a:rPr>
                <a:t>能耗</a:t>
              </a:r>
            </a:p>
          </p:txBody>
        </p:sp>
        <p:sp>
          <p:nvSpPr>
            <p:cNvPr id="15" name="Rectangle 15"/>
            <p:cNvSpPr/>
            <p:nvPr/>
          </p:nvSpPr>
          <p:spPr>
            <a:xfrm>
              <a:off x="7874000" y="1628775"/>
              <a:ext cx="3556000" cy="485775"/>
            </a:xfrm>
            <a:prstGeom prst="rect">
              <a:avLst/>
            </a:prstGeom>
            <a:solidFill>
              <a:srgbClr val="2F4F98"/>
            </a:solidFill>
            <a:ln w="9525">
              <a:solidFill>
                <a:srgbClr val="D6E1EF"/>
              </a:solidFill>
            </a:ln>
          </p:spPr>
        </p:sp>
        <p:sp>
          <p:nvSpPr>
            <p:cNvPr id="16" name="TextBox 16"/>
            <p:cNvSpPr txBox="1"/>
            <p:nvPr/>
          </p:nvSpPr>
          <p:spPr>
            <a:xfrm>
              <a:off x="9199372" y="1741805"/>
              <a:ext cx="905256" cy="322707"/>
            </a:xfrm>
            <a:prstGeom prst="rect">
              <a:avLst/>
            </a:prstGeom>
            <a:noFill/>
            <a:ln>
              <a:noFill/>
            </a:ln>
          </p:spPr>
          <p:txBody>
            <a:bodyPr wrap="none" lIns="0" tIns="0" rIns="0" bIns="0" anchor="t" anchorCtr="0">
              <a:spAutoFit/>
            </a:bodyPr>
            <a:lstStyle/>
            <a:p>
              <a:pPr algn="ctr"/>
              <a:r>
                <a:rPr lang="zh-CN" sz="1650" b="1" dirty="0">
                  <a:solidFill>
                    <a:srgbClr val="FFFFFF"/>
                  </a:solidFill>
                  <a:latin typeface="Microsoft YaHei"/>
                  <a:ea typeface="Microsoft YaHei"/>
                  <a:cs typeface="Microsoft YaHei"/>
                </a:rPr>
                <a:t>测量口径</a:t>
              </a:r>
            </a:p>
          </p:txBody>
        </p:sp>
        <p:sp>
          <p:nvSpPr>
            <p:cNvPr id="17" name="Rectangle 17"/>
            <p:cNvSpPr/>
            <p:nvPr/>
          </p:nvSpPr>
          <p:spPr>
            <a:xfrm>
              <a:off x="762000" y="2114550"/>
              <a:ext cx="3200400" cy="485775"/>
            </a:xfrm>
            <a:prstGeom prst="rect">
              <a:avLst/>
            </a:prstGeom>
            <a:solidFill>
              <a:srgbClr val="FFFFFF"/>
            </a:solidFill>
            <a:ln w="9525">
              <a:solidFill>
                <a:srgbClr val="D6E1EF"/>
              </a:solidFill>
            </a:ln>
          </p:spPr>
        </p:sp>
        <p:sp>
          <p:nvSpPr>
            <p:cNvPr id="18" name="TextBox 18"/>
            <p:cNvSpPr txBox="1"/>
            <p:nvPr/>
          </p:nvSpPr>
          <p:spPr>
            <a:xfrm>
              <a:off x="848868" y="2227580"/>
              <a:ext cx="769300" cy="322707"/>
            </a:xfrm>
            <a:prstGeom prst="rect">
              <a:avLst/>
            </a:prstGeom>
            <a:noFill/>
            <a:ln>
              <a:noFill/>
            </a:ln>
          </p:spPr>
          <p:txBody>
            <a:bodyPr wrap="none" lIns="0" tIns="0" rIns="0" bIns="0" anchor="t" anchorCtr="0">
              <a:spAutoFit/>
            </a:bodyPr>
            <a:lstStyle/>
            <a:p>
              <a:pPr algn="l"/>
              <a:r>
                <a:rPr lang="en-US" sz="1650" dirty="0">
                  <a:solidFill>
                    <a:srgbClr val="172B4D"/>
                  </a:solidFill>
                  <a:latin typeface="Microsoft YaHei"/>
                  <a:ea typeface="Microsoft YaHei"/>
                  <a:cs typeface="Microsoft YaHei"/>
                </a:rPr>
                <a:t>Core i5</a:t>
              </a:r>
            </a:p>
          </p:txBody>
        </p:sp>
        <p:sp>
          <p:nvSpPr>
            <p:cNvPr id="19" name="Rectangle 19"/>
            <p:cNvSpPr/>
            <p:nvPr/>
          </p:nvSpPr>
          <p:spPr>
            <a:xfrm>
              <a:off x="3962400" y="2114550"/>
              <a:ext cx="2133600" cy="485775"/>
            </a:xfrm>
            <a:prstGeom prst="rect">
              <a:avLst/>
            </a:prstGeom>
            <a:solidFill>
              <a:srgbClr val="FFFFFF"/>
            </a:solidFill>
            <a:ln w="9525">
              <a:solidFill>
                <a:srgbClr val="D6E1EF"/>
              </a:solidFill>
            </a:ln>
          </p:spPr>
        </p:sp>
        <p:sp>
          <p:nvSpPr>
            <p:cNvPr id="20" name="TextBox 20"/>
            <p:cNvSpPr txBox="1"/>
            <p:nvPr/>
          </p:nvSpPr>
          <p:spPr>
            <a:xfrm>
              <a:off x="4743164" y="2227580"/>
              <a:ext cx="572072" cy="322707"/>
            </a:xfrm>
            <a:prstGeom prst="rect">
              <a:avLst/>
            </a:prstGeom>
            <a:noFill/>
            <a:ln>
              <a:noFill/>
            </a:ln>
          </p:spPr>
          <p:txBody>
            <a:bodyPr wrap="none" lIns="0" tIns="0" rIns="0" bIns="0" anchor="t" anchorCtr="0">
              <a:spAutoFit/>
            </a:bodyPr>
            <a:lstStyle/>
            <a:p>
              <a:pPr algn="ctr"/>
              <a:r>
                <a:rPr lang="en-US" sz="1650" dirty="0">
                  <a:solidFill>
                    <a:srgbClr val="172B4D"/>
                  </a:solidFill>
                  <a:latin typeface="Microsoft YaHei"/>
                  <a:ea typeface="Microsoft YaHei"/>
                  <a:cs typeface="Microsoft YaHei"/>
                </a:rPr>
                <a:t>0.6 s</a:t>
              </a:r>
            </a:p>
          </p:txBody>
        </p:sp>
        <p:sp>
          <p:nvSpPr>
            <p:cNvPr id="21" name="Rectangle 21"/>
            <p:cNvSpPr/>
            <p:nvPr/>
          </p:nvSpPr>
          <p:spPr>
            <a:xfrm>
              <a:off x="6096000" y="2114550"/>
              <a:ext cx="1778000" cy="485775"/>
            </a:xfrm>
            <a:prstGeom prst="rect">
              <a:avLst/>
            </a:prstGeom>
            <a:solidFill>
              <a:srgbClr val="FFFFFF"/>
            </a:solidFill>
            <a:ln w="9525">
              <a:solidFill>
                <a:srgbClr val="D6E1EF"/>
              </a:solidFill>
            </a:ln>
          </p:spPr>
        </p:sp>
        <p:sp>
          <p:nvSpPr>
            <p:cNvPr id="22" name="TextBox 22"/>
            <p:cNvSpPr txBox="1"/>
            <p:nvPr/>
          </p:nvSpPr>
          <p:spPr>
            <a:xfrm>
              <a:off x="6554165" y="2227580"/>
              <a:ext cx="861670" cy="322707"/>
            </a:xfrm>
            <a:prstGeom prst="rect">
              <a:avLst/>
            </a:prstGeom>
            <a:noFill/>
            <a:ln>
              <a:noFill/>
            </a:ln>
          </p:spPr>
          <p:txBody>
            <a:bodyPr wrap="none" lIns="0" tIns="0" rIns="0" bIns="0" anchor="t" anchorCtr="0">
              <a:spAutoFit/>
            </a:bodyPr>
            <a:lstStyle/>
            <a:p>
              <a:pPr algn="ctr"/>
              <a:r>
                <a:rPr lang="en-US" sz="1650" dirty="0">
                  <a:solidFill>
                    <a:srgbClr val="172B4D"/>
                  </a:solidFill>
                  <a:latin typeface="Microsoft YaHei"/>
                  <a:ea typeface="Microsoft YaHei"/>
                  <a:cs typeface="Microsoft YaHei"/>
                </a:rPr>
                <a:t>0.479 J</a:t>
              </a:r>
            </a:p>
          </p:txBody>
        </p:sp>
        <p:sp>
          <p:nvSpPr>
            <p:cNvPr id="23" name="Rectangle 23"/>
            <p:cNvSpPr/>
            <p:nvPr/>
          </p:nvSpPr>
          <p:spPr>
            <a:xfrm>
              <a:off x="7874000" y="2114550"/>
              <a:ext cx="3556000" cy="485775"/>
            </a:xfrm>
            <a:prstGeom prst="rect">
              <a:avLst/>
            </a:prstGeom>
            <a:solidFill>
              <a:srgbClr val="FFFFFF"/>
            </a:solidFill>
            <a:ln w="9525">
              <a:solidFill>
                <a:srgbClr val="D6E1EF"/>
              </a:solidFill>
            </a:ln>
          </p:spPr>
        </p:sp>
        <p:sp>
          <p:nvSpPr>
            <p:cNvPr id="24" name="TextBox 24"/>
            <p:cNvSpPr txBox="1"/>
            <p:nvPr/>
          </p:nvSpPr>
          <p:spPr>
            <a:xfrm>
              <a:off x="8877294" y="2227580"/>
              <a:ext cx="1549413"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powertop 估计</a:t>
              </a:r>
            </a:p>
          </p:txBody>
        </p:sp>
        <p:sp>
          <p:nvSpPr>
            <p:cNvPr id="25" name="Rectangle 25"/>
            <p:cNvSpPr/>
            <p:nvPr/>
          </p:nvSpPr>
          <p:spPr>
            <a:xfrm>
              <a:off x="762000" y="2600325"/>
              <a:ext cx="3200400" cy="485775"/>
            </a:xfrm>
            <a:prstGeom prst="rect">
              <a:avLst/>
            </a:prstGeom>
            <a:solidFill>
              <a:srgbClr val="FFFFFF"/>
            </a:solidFill>
            <a:ln w="9525">
              <a:solidFill>
                <a:srgbClr val="D6E1EF"/>
              </a:solidFill>
            </a:ln>
          </p:spPr>
        </p:sp>
        <p:sp>
          <p:nvSpPr>
            <p:cNvPr id="26" name="TextBox 26"/>
            <p:cNvSpPr txBox="1"/>
            <p:nvPr/>
          </p:nvSpPr>
          <p:spPr>
            <a:xfrm>
              <a:off x="848868" y="2713355"/>
              <a:ext cx="1714119" cy="322707"/>
            </a:xfrm>
            <a:prstGeom prst="rect">
              <a:avLst/>
            </a:prstGeom>
            <a:noFill/>
            <a:ln>
              <a:noFill/>
            </a:ln>
          </p:spPr>
          <p:txBody>
            <a:bodyPr wrap="none" lIns="0" tIns="0" rIns="0" bIns="0" anchor="t" anchorCtr="0">
              <a:spAutoFit/>
            </a:bodyPr>
            <a:lstStyle/>
            <a:p>
              <a:pPr algn="l"/>
              <a:r>
                <a:rPr lang="en-US" sz="1650" dirty="0">
                  <a:solidFill>
                    <a:srgbClr val="172B4D"/>
                  </a:solidFill>
                  <a:latin typeface="Microsoft YaHei"/>
                  <a:ea typeface="Microsoft YaHei"/>
                  <a:cs typeface="Microsoft YaHei"/>
                </a:rPr>
                <a:t>Cortex-A53 / Pi</a:t>
              </a:r>
            </a:p>
          </p:txBody>
        </p:sp>
        <p:sp>
          <p:nvSpPr>
            <p:cNvPr id="27" name="Rectangle 27"/>
            <p:cNvSpPr/>
            <p:nvPr/>
          </p:nvSpPr>
          <p:spPr>
            <a:xfrm>
              <a:off x="3962400" y="2600325"/>
              <a:ext cx="2133600" cy="485775"/>
            </a:xfrm>
            <a:prstGeom prst="rect">
              <a:avLst/>
            </a:prstGeom>
            <a:solidFill>
              <a:srgbClr val="FFFFFF"/>
            </a:solidFill>
            <a:ln w="9525">
              <a:solidFill>
                <a:srgbClr val="D6E1EF"/>
              </a:solidFill>
            </a:ln>
          </p:spPr>
        </p:sp>
        <p:sp>
          <p:nvSpPr>
            <p:cNvPr id="28" name="TextBox 28"/>
            <p:cNvSpPr txBox="1"/>
            <p:nvPr/>
          </p:nvSpPr>
          <p:spPr>
            <a:xfrm>
              <a:off x="4682080" y="2713355"/>
              <a:ext cx="694239" cy="322707"/>
            </a:xfrm>
            <a:prstGeom prst="rect">
              <a:avLst/>
            </a:prstGeom>
            <a:noFill/>
            <a:ln>
              <a:noFill/>
            </a:ln>
          </p:spPr>
          <p:txBody>
            <a:bodyPr wrap="none" lIns="0" tIns="0" rIns="0" bIns="0" anchor="t" anchorCtr="0">
              <a:spAutoFit/>
            </a:bodyPr>
            <a:lstStyle/>
            <a:p>
              <a:pPr algn="ctr"/>
              <a:r>
                <a:rPr lang="en-US" sz="1650" dirty="0">
                  <a:solidFill>
                    <a:srgbClr val="172B4D"/>
                  </a:solidFill>
                  <a:latin typeface="Microsoft YaHei"/>
                  <a:ea typeface="Microsoft YaHei"/>
                  <a:cs typeface="Microsoft YaHei"/>
                </a:rPr>
                <a:t>21.8 s</a:t>
              </a:r>
            </a:p>
          </p:txBody>
        </p:sp>
        <p:sp>
          <p:nvSpPr>
            <p:cNvPr id="29" name="Rectangle 29"/>
            <p:cNvSpPr/>
            <p:nvPr/>
          </p:nvSpPr>
          <p:spPr>
            <a:xfrm>
              <a:off x="6096000" y="2600325"/>
              <a:ext cx="1778000" cy="485775"/>
            </a:xfrm>
            <a:prstGeom prst="rect">
              <a:avLst/>
            </a:prstGeom>
            <a:solidFill>
              <a:srgbClr val="FFFFFF"/>
            </a:solidFill>
            <a:ln w="9525">
              <a:solidFill>
                <a:srgbClr val="D6E1EF"/>
              </a:solidFill>
            </a:ln>
          </p:spPr>
        </p:sp>
        <p:sp>
          <p:nvSpPr>
            <p:cNvPr id="30" name="TextBox 30"/>
            <p:cNvSpPr txBox="1"/>
            <p:nvPr/>
          </p:nvSpPr>
          <p:spPr>
            <a:xfrm>
              <a:off x="6554165" y="2713355"/>
              <a:ext cx="861670" cy="322707"/>
            </a:xfrm>
            <a:prstGeom prst="rect">
              <a:avLst/>
            </a:prstGeom>
            <a:noFill/>
            <a:ln>
              <a:noFill/>
            </a:ln>
          </p:spPr>
          <p:txBody>
            <a:bodyPr wrap="none" lIns="0" tIns="0" rIns="0" bIns="0" anchor="t" anchorCtr="0">
              <a:spAutoFit/>
            </a:bodyPr>
            <a:lstStyle/>
            <a:p>
              <a:pPr algn="ctr"/>
              <a:r>
                <a:rPr lang="en-US" sz="1650" dirty="0">
                  <a:solidFill>
                    <a:srgbClr val="172B4D"/>
                  </a:solidFill>
                  <a:latin typeface="Microsoft YaHei"/>
                  <a:ea typeface="Microsoft YaHei"/>
                  <a:cs typeface="Microsoft YaHei"/>
                </a:rPr>
                <a:t>14.46 J</a:t>
              </a:r>
            </a:p>
          </p:txBody>
        </p:sp>
        <p:sp>
          <p:nvSpPr>
            <p:cNvPr id="31" name="Rectangle 31"/>
            <p:cNvSpPr/>
            <p:nvPr/>
          </p:nvSpPr>
          <p:spPr>
            <a:xfrm>
              <a:off x="7874000" y="2600325"/>
              <a:ext cx="3556000" cy="485775"/>
            </a:xfrm>
            <a:prstGeom prst="rect">
              <a:avLst/>
            </a:prstGeom>
            <a:solidFill>
              <a:srgbClr val="FFFFFF"/>
            </a:solidFill>
            <a:ln w="9525">
              <a:solidFill>
                <a:srgbClr val="D6E1EF"/>
              </a:solidFill>
            </a:ln>
          </p:spPr>
        </p:sp>
        <p:sp>
          <p:nvSpPr>
            <p:cNvPr id="32" name="TextBox 32"/>
            <p:cNvSpPr txBox="1"/>
            <p:nvPr/>
          </p:nvSpPr>
          <p:spPr>
            <a:xfrm>
              <a:off x="8620700" y="2713355"/>
              <a:ext cx="2062601"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USB 电压 / 电流测量</a:t>
              </a:r>
            </a:p>
          </p:txBody>
        </p:sp>
        <p:sp>
          <p:nvSpPr>
            <p:cNvPr id="35" name="Rectangle 35"/>
            <p:cNvSpPr/>
            <p:nvPr/>
          </p:nvSpPr>
          <p:spPr>
            <a:xfrm>
              <a:off x="762000" y="3086100"/>
              <a:ext cx="3200400" cy="485775"/>
            </a:xfrm>
            <a:prstGeom prst="rect">
              <a:avLst/>
            </a:prstGeom>
            <a:solidFill>
              <a:srgbClr val="FFFFFF"/>
            </a:solidFill>
            <a:ln w="9525">
              <a:solidFill>
                <a:srgbClr val="D6E1EF"/>
              </a:solidFill>
            </a:ln>
          </p:spPr>
        </p:sp>
        <p:sp>
          <p:nvSpPr>
            <p:cNvPr id="36" name="TextBox 36"/>
            <p:cNvSpPr txBox="1"/>
            <p:nvPr/>
          </p:nvSpPr>
          <p:spPr>
            <a:xfrm>
              <a:off x="848868" y="3199130"/>
              <a:ext cx="2199501" cy="322707"/>
            </a:xfrm>
            <a:prstGeom prst="rect">
              <a:avLst/>
            </a:prstGeom>
            <a:noFill/>
            <a:ln>
              <a:noFill/>
            </a:ln>
          </p:spPr>
          <p:txBody>
            <a:bodyPr wrap="none" lIns="0" tIns="0" rIns="0" bIns="0" anchor="t" anchorCtr="0">
              <a:spAutoFit/>
            </a:bodyPr>
            <a:lstStyle/>
            <a:p>
              <a:pPr algn="l"/>
              <a:r>
                <a:rPr lang="en-US" sz="1650" dirty="0">
                  <a:solidFill>
                    <a:srgbClr val="172B4D"/>
                  </a:solidFill>
                  <a:latin typeface="Microsoft YaHei"/>
                  <a:ea typeface="Microsoft YaHei"/>
                  <a:cs typeface="Microsoft YaHei"/>
                </a:rPr>
                <a:t>Cortex-A17 / Tinker</a:t>
              </a:r>
            </a:p>
          </p:txBody>
        </p:sp>
        <p:sp>
          <p:nvSpPr>
            <p:cNvPr id="37" name="Rectangle 37"/>
            <p:cNvSpPr/>
            <p:nvPr/>
          </p:nvSpPr>
          <p:spPr>
            <a:xfrm>
              <a:off x="3962400" y="3086100"/>
              <a:ext cx="2133600" cy="485775"/>
            </a:xfrm>
            <a:prstGeom prst="rect">
              <a:avLst/>
            </a:prstGeom>
            <a:solidFill>
              <a:srgbClr val="FFFFFF"/>
            </a:solidFill>
            <a:ln w="9525">
              <a:solidFill>
                <a:srgbClr val="D6E1EF"/>
              </a:solidFill>
            </a:ln>
          </p:spPr>
        </p:sp>
        <p:sp>
          <p:nvSpPr>
            <p:cNvPr id="38" name="TextBox 38"/>
            <p:cNvSpPr txBox="1"/>
            <p:nvPr/>
          </p:nvSpPr>
          <p:spPr>
            <a:xfrm>
              <a:off x="4682080" y="3199130"/>
              <a:ext cx="694239" cy="322707"/>
            </a:xfrm>
            <a:prstGeom prst="rect">
              <a:avLst/>
            </a:prstGeom>
            <a:noFill/>
            <a:ln>
              <a:noFill/>
            </a:ln>
          </p:spPr>
          <p:txBody>
            <a:bodyPr wrap="none" lIns="0" tIns="0" rIns="0" bIns="0" anchor="t" anchorCtr="0">
              <a:spAutoFit/>
            </a:bodyPr>
            <a:lstStyle/>
            <a:p>
              <a:pPr algn="ctr"/>
              <a:r>
                <a:rPr lang="en-US" sz="1650" dirty="0">
                  <a:solidFill>
                    <a:srgbClr val="172B4D"/>
                  </a:solidFill>
                  <a:latin typeface="Microsoft YaHei"/>
                  <a:ea typeface="Microsoft YaHei"/>
                  <a:cs typeface="Microsoft YaHei"/>
                </a:rPr>
                <a:t>11.9 s</a:t>
              </a:r>
            </a:p>
          </p:txBody>
        </p:sp>
        <p:sp>
          <p:nvSpPr>
            <p:cNvPr id="39" name="Rectangle 39"/>
            <p:cNvSpPr/>
            <p:nvPr/>
          </p:nvSpPr>
          <p:spPr>
            <a:xfrm>
              <a:off x="6096000" y="3086100"/>
              <a:ext cx="1778000" cy="485775"/>
            </a:xfrm>
            <a:prstGeom prst="rect">
              <a:avLst/>
            </a:prstGeom>
            <a:solidFill>
              <a:srgbClr val="FFFFFF"/>
            </a:solidFill>
            <a:ln w="9525">
              <a:solidFill>
                <a:srgbClr val="D6E1EF"/>
              </a:solidFill>
            </a:ln>
          </p:spPr>
        </p:sp>
        <p:sp>
          <p:nvSpPr>
            <p:cNvPr id="40" name="TextBox 40"/>
            <p:cNvSpPr txBox="1"/>
            <p:nvPr/>
          </p:nvSpPr>
          <p:spPr>
            <a:xfrm>
              <a:off x="6554165" y="3199130"/>
              <a:ext cx="861670" cy="322707"/>
            </a:xfrm>
            <a:prstGeom prst="rect">
              <a:avLst/>
            </a:prstGeom>
            <a:noFill/>
            <a:ln>
              <a:noFill/>
            </a:ln>
          </p:spPr>
          <p:txBody>
            <a:bodyPr wrap="none" lIns="0" tIns="0" rIns="0" bIns="0" anchor="t" anchorCtr="0">
              <a:spAutoFit/>
            </a:bodyPr>
            <a:lstStyle/>
            <a:p>
              <a:pPr algn="ctr"/>
              <a:r>
                <a:rPr lang="en-US" sz="1650" dirty="0">
                  <a:solidFill>
                    <a:srgbClr val="172B4D"/>
                  </a:solidFill>
                  <a:latin typeface="Microsoft YaHei"/>
                  <a:ea typeface="Microsoft YaHei"/>
                  <a:cs typeface="Microsoft YaHei"/>
                </a:rPr>
                <a:t>53.08 J</a:t>
              </a:r>
            </a:p>
          </p:txBody>
        </p:sp>
        <p:sp>
          <p:nvSpPr>
            <p:cNvPr id="41" name="Rectangle 41"/>
            <p:cNvSpPr/>
            <p:nvPr/>
          </p:nvSpPr>
          <p:spPr>
            <a:xfrm>
              <a:off x="7874000" y="3086100"/>
              <a:ext cx="3556000" cy="485775"/>
            </a:xfrm>
            <a:prstGeom prst="rect">
              <a:avLst/>
            </a:prstGeom>
            <a:solidFill>
              <a:srgbClr val="FFFFFF"/>
            </a:solidFill>
            <a:ln w="9525">
              <a:solidFill>
                <a:srgbClr val="D6E1EF"/>
              </a:solidFill>
            </a:ln>
          </p:spPr>
        </p:sp>
        <p:sp>
          <p:nvSpPr>
            <p:cNvPr id="42" name="TextBox 42"/>
            <p:cNvSpPr txBox="1"/>
            <p:nvPr/>
          </p:nvSpPr>
          <p:spPr>
            <a:xfrm>
              <a:off x="8620700" y="3199130"/>
              <a:ext cx="2062601" cy="322707"/>
            </a:xfrm>
            <a:prstGeom prst="rect">
              <a:avLst/>
            </a:prstGeom>
            <a:noFill/>
            <a:ln>
              <a:noFill/>
            </a:ln>
          </p:spPr>
          <p:txBody>
            <a:bodyPr wrap="none" lIns="0" tIns="0" rIns="0" bIns="0" anchor="t" anchorCtr="0">
              <a:spAutoFit/>
            </a:bodyPr>
            <a:lstStyle/>
            <a:p>
              <a:pPr algn="ctr"/>
              <a:r>
                <a:rPr lang="zh-CN" sz="1650" dirty="0">
                  <a:solidFill>
                    <a:srgbClr val="172B4D"/>
                  </a:solidFill>
                  <a:latin typeface="Microsoft YaHei"/>
                  <a:ea typeface="Microsoft YaHei"/>
                  <a:cs typeface="Microsoft YaHei"/>
                </a:rPr>
                <a:t>USB 电压 / 电流测量</a:t>
              </a:r>
            </a:p>
          </p:txBody>
        </p:sp>
      </p:grpSp>
      <p:grpSp>
        <p:nvGrpSpPr>
          <p:cNvPr id="48" name="energy-tradeoff"/>
          <p:cNvGrpSpPr/>
          <p:nvPr/>
        </p:nvGrpSpPr>
        <p:grpSpPr>
          <a:xfrm>
            <a:off x="762000" y="3867150"/>
            <a:ext cx="5143500" cy="1790700"/>
            <a:chOff x="762000" y="3867150"/>
            <a:chExt cx="5143500" cy="1790700"/>
          </a:xfrm>
        </p:grpSpPr>
        <p:sp>
          <p:nvSpPr>
            <p:cNvPr id="44" name="Rectangle 44"/>
            <p:cNvSpPr/>
            <p:nvPr/>
          </p:nvSpPr>
          <p:spPr>
            <a:xfrm>
              <a:off x="762000" y="3867150"/>
              <a:ext cx="5143500" cy="1790700"/>
            </a:xfrm>
            <a:prstGeom prst="roundRect">
              <a:avLst>
                <a:gd name="adj" fmla="val 4255"/>
              </a:avLst>
            </a:prstGeom>
            <a:solidFill>
              <a:srgbClr val="EDF3FB"/>
            </a:solidFill>
            <a:ln>
              <a:noFill/>
            </a:ln>
          </p:spPr>
        </p:sp>
        <p:sp>
          <p:nvSpPr>
            <p:cNvPr id="45" name="Freeform 45"/>
            <p:cNvSpPr/>
            <p:nvPr/>
          </p:nvSpPr>
          <p:spPr>
            <a:xfrm>
              <a:off x="762000" y="3867150"/>
              <a:ext cx="47625" cy="1790700"/>
            </a:xfrm>
            <a:custGeom>
              <a:avLst/>
              <a:gdLst/>
              <a:ahLst/>
              <a:cxnLst/>
              <a:rect l="l" t="t" r="r" b="b"/>
              <a:pathLst>
                <a:path w="47625" h="1790700">
                  <a:moveTo>
                    <a:pt x="0" y="0"/>
                  </a:moveTo>
                  <a:lnTo>
                    <a:pt x="47625" y="0"/>
                  </a:lnTo>
                  <a:lnTo>
                    <a:pt x="47625" y="1790700"/>
                  </a:lnTo>
                  <a:lnTo>
                    <a:pt x="0" y="1790700"/>
                  </a:lnTo>
                  <a:close/>
                </a:path>
              </a:pathLst>
            </a:custGeom>
            <a:solidFill>
              <a:srgbClr val="2F4F98"/>
            </a:solidFill>
            <a:ln>
              <a:noFill/>
            </a:ln>
          </p:spPr>
        </p:sp>
        <p:sp>
          <p:nvSpPr>
            <p:cNvPr id="46" name="TextBox 46"/>
            <p:cNvSpPr txBox="1"/>
            <p:nvPr/>
          </p:nvSpPr>
          <p:spPr>
            <a:xfrm>
              <a:off x="962025" y="3990975"/>
              <a:ext cx="3056077" cy="367665"/>
            </a:xfrm>
            <a:prstGeom prst="rect">
              <a:avLst/>
            </a:prstGeom>
            <a:noFill/>
            <a:ln>
              <a:noFill/>
            </a:ln>
          </p:spPr>
          <p:txBody>
            <a:bodyPr wrap="none" lIns="0" tIns="0" rIns="0" bIns="0" anchor="t" anchorCtr="0">
              <a:spAutoFit/>
            </a:bodyPr>
            <a:lstStyle/>
            <a:p>
              <a:pPr algn="l"/>
              <a:r>
                <a:rPr lang="zh-CN" sz="1880" b="1" dirty="0">
                  <a:solidFill>
                    <a:srgbClr val="2F4F98"/>
                  </a:solidFill>
                  <a:latin typeface="Microsoft YaHei"/>
                  <a:ea typeface="Microsoft YaHei"/>
                  <a:cs typeface="Microsoft YaHei"/>
                </a:rPr>
                <a:t>性能与能耗不能只看一个数</a:t>
              </a:r>
            </a:p>
          </p:txBody>
        </p:sp>
        <p:sp>
          <p:nvSpPr>
            <p:cNvPr id="47" name="TextBox 47"/>
            <p:cNvSpPr txBox="1"/>
            <p:nvPr/>
          </p:nvSpPr>
          <p:spPr>
            <a:xfrm>
              <a:off x="963168" y="4371975"/>
              <a:ext cx="4123944"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Tinker 比 Pi 更快，但表中能耗约 3.67 倍。</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低频证明和电源充足场景更容易承受。</a:t>
              </a:r>
            </a:p>
          </p:txBody>
        </p:sp>
      </p:grpSp>
      <p:grpSp>
        <p:nvGrpSpPr>
          <p:cNvPr id="53" name="constrained"/>
          <p:cNvGrpSpPr/>
          <p:nvPr/>
        </p:nvGrpSpPr>
        <p:grpSpPr>
          <a:xfrm>
            <a:off x="6248400" y="3867150"/>
            <a:ext cx="5181600" cy="1790700"/>
            <a:chOff x="6248400" y="3867150"/>
            <a:chExt cx="5181600" cy="1790700"/>
          </a:xfrm>
        </p:grpSpPr>
        <p:sp>
          <p:nvSpPr>
            <p:cNvPr id="49" name="Rectangle 49"/>
            <p:cNvSpPr/>
            <p:nvPr/>
          </p:nvSpPr>
          <p:spPr>
            <a:xfrm>
              <a:off x="6248400" y="3867150"/>
              <a:ext cx="5181600" cy="1790700"/>
            </a:xfrm>
            <a:prstGeom prst="roundRect">
              <a:avLst>
                <a:gd name="adj" fmla="val 4255"/>
              </a:avLst>
            </a:prstGeom>
            <a:solidFill>
              <a:srgbClr val="EDF3FB"/>
            </a:solidFill>
            <a:ln>
              <a:noFill/>
            </a:ln>
          </p:spPr>
        </p:sp>
        <p:sp>
          <p:nvSpPr>
            <p:cNvPr id="50" name="Freeform 50"/>
            <p:cNvSpPr/>
            <p:nvPr/>
          </p:nvSpPr>
          <p:spPr>
            <a:xfrm>
              <a:off x="6248400" y="3867150"/>
              <a:ext cx="47625" cy="1790700"/>
            </a:xfrm>
            <a:custGeom>
              <a:avLst/>
              <a:gdLst/>
              <a:ahLst/>
              <a:cxnLst/>
              <a:rect l="l" t="t" r="r" b="b"/>
              <a:pathLst>
                <a:path w="47625" h="1790700">
                  <a:moveTo>
                    <a:pt x="0" y="0"/>
                  </a:moveTo>
                  <a:lnTo>
                    <a:pt x="47625" y="0"/>
                  </a:lnTo>
                  <a:lnTo>
                    <a:pt x="47625" y="1790700"/>
                  </a:lnTo>
                  <a:lnTo>
                    <a:pt x="0" y="1790700"/>
                  </a:lnTo>
                  <a:close/>
                </a:path>
              </a:pathLst>
            </a:custGeom>
            <a:solidFill>
              <a:srgbClr val="159AA8"/>
            </a:solidFill>
            <a:ln>
              <a:noFill/>
            </a:ln>
          </p:spPr>
        </p:sp>
        <p:sp>
          <p:nvSpPr>
            <p:cNvPr id="51" name="TextBox 51"/>
            <p:cNvSpPr txBox="1"/>
            <p:nvPr/>
          </p:nvSpPr>
          <p:spPr>
            <a:xfrm>
              <a:off x="6448425" y="3990975"/>
              <a:ext cx="2296820" cy="367665"/>
            </a:xfrm>
            <a:prstGeom prst="rect">
              <a:avLst/>
            </a:prstGeom>
            <a:noFill/>
            <a:ln>
              <a:noFill/>
            </a:ln>
          </p:spPr>
          <p:txBody>
            <a:bodyPr wrap="none" lIns="0" tIns="0" rIns="0" bIns="0" anchor="t" anchorCtr="0">
              <a:spAutoFit/>
            </a:bodyPr>
            <a:lstStyle/>
            <a:p>
              <a:pPr algn="l"/>
              <a:r>
                <a:rPr lang="zh-CN" sz="1880" b="1" dirty="0">
                  <a:solidFill>
                    <a:srgbClr val="159AA8"/>
                  </a:solidFill>
                  <a:latin typeface="Microsoft YaHei"/>
                  <a:ea typeface="Microsoft YaHei"/>
                  <a:cs typeface="Microsoft YaHei"/>
                </a:rPr>
                <a:t>当前原型的适用限制</a:t>
              </a:r>
            </a:p>
          </p:txBody>
        </p:sp>
        <p:sp>
          <p:nvSpPr>
            <p:cNvPr id="52" name="TextBox 52"/>
            <p:cNvSpPr txBox="1"/>
            <p:nvPr/>
          </p:nvSpPr>
          <p:spPr>
            <a:xfrm>
              <a:off x="6449568" y="4371975"/>
              <a:ext cx="4207764" cy="626554"/>
            </a:xfrm>
            <a:prstGeom prst="rect">
              <a:avLst/>
            </a:prstGeom>
            <a:noFill/>
            <a:ln>
              <a:noFill/>
            </a:ln>
          </p:spPr>
          <p:txBody>
            <a:bodyPr wrap="none" lIns="0" tIns="0" rIns="0" bIns="0" anchor="t" anchorCtr="0">
              <a:spAutoFit/>
            </a:bodyPr>
            <a:lstStyle/>
            <a:p>
              <a:pPr algn="l">
                <a:lnSpc>
                  <a:spcPts val="2392"/>
                </a:lnSpc>
              </a:pPr>
              <a:r>
                <a:rPr lang="zh-CN" sz="1650" dirty="0">
                  <a:solidFill>
                    <a:srgbClr val="172B4D"/>
                  </a:solidFill>
                  <a:latin typeface="Microsoft YaHei"/>
                  <a:ea typeface="Microsoft YaHei"/>
                  <a:cs typeface="Microsoft YaHei"/>
                </a:rPr>
                <a:t>论文明确指出：极受限 AVR / Cortex-M</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难以完成当前证明计算；需优化或硬件支持。</a:t>
              </a:r>
            </a:p>
          </p:txBody>
        </p:sp>
      </p:grpSp>
      <p:grpSp>
        <p:nvGrpSpPr>
          <p:cNvPr id="56" name="takeaway"/>
          <p:cNvGrpSpPr/>
          <p:nvPr/>
        </p:nvGrpSpPr>
        <p:grpSpPr>
          <a:xfrm>
            <a:off x="723900" y="5924550"/>
            <a:ext cx="10744200" cy="466725"/>
            <a:chOff x="723900" y="5924550"/>
            <a:chExt cx="10744200" cy="466725"/>
          </a:xfrm>
        </p:grpSpPr>
        <p:sp>
          <p:nvSpPr>
            <p:cNvPr id="54" name="Rectangle 54"/>
            <p:cNvSpPr/>
            <p:nvPr/>
          </p:nvSpPr>
          <p:spPr>
            <a:xfrm>
              <a:off x="723900" y="5924550"/>
              <a:ext cx="10744200" cy="466725"/>
            </a:xfrm>
            <a:prstGeom prst="roundRect">
              <a:avLst>
                <a:gd name="adj" fmla="val 12245"/>
              </a:avLst>
            </a:prstGeom>
            <a:solidFill>
              <a:srgbClr val="EDF3FB"/>
            </a:solidFill>
            <a:ln>
              <a:noFill/>
            </a:ln>
          </p:spPr>
        </p:sp>
        <p:sp>
          <p:nvSpPr>
            <p:cNvPr id="55" name="TextBox 55"/>
            <p:cNvSpPr txBox="1"/>
            <p:nvPr/>
          </p:nvSpPr>
          <p:spPr>
            <a:xfrm>
              <a:off x="887349" y="6038850"/>
              <a:ext cx="7186768"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Table VI 的验证耗时 &lt;1 ms 是计算指标，不包含交易传播与链上最终确认。</a:t>
              </a:r>
            </a:p>
          </p:txBody>
        </p:sp>
      </p:grpSp>
    </p:spTree>
  </p:cSld>
  <p:clrMapOvr>
    <a:masterClrMapping/>
  </p:clrMapOvr>
</p:sld>
</file>

<file path=ppt/slides/slide19.xml><?xml version="1.0" encoding="utf-8"?>
<p:sld xmlns:a="http://schemas.openxmlformats.org/drawingml/2006/main" xmlns:p="http://schemas.openxmlformats.org/presentationml/2006/main">
  <p:cSld>
    <p:bg>
      <p:bgPr>
        <a:solidFill>
          <a:schemeClr val="bg1"/>
        </a:solidFill>
        <a:effectLst/>
      </p:bgPr>
    </p:bg>
    <p:spTree>
      <p:nvGrpSpPr>
        <p:cNvPr id="1" name=""/>
        <p:cNvGrpSpPr/>
        <p:nvPr/>
      </p:nvGrpSpPr>
      <p:grpSpPr/>
      <p:sp>
        <p:nvSpPr>
          <p:cNvPr id="33" name="矩形 32"/>
          <p:cNvSpPr/>
          <p:nvPr/>
        </p:nvSpPr>
        <p:spPr>
          <a:xfrm>
            <a:off x="0" y="0"/>
            <a:ext cx="12192000" cy="152400"/>
          </a:xfrm>
          <a:prstGeom prst="rect">
            <a:avLst/>
          </a:prstGeom>
          <a:solidFill>
            <a:srgbClr val="2F4F98"/>
          </a:solidFill>
          <a:ln>
            <a:noFill/>
          </a:ln>
        </p:spPr>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a:noFill/>
          </a:ln>
        </p:spPr>
        <p:txBody>
          <a:bodyPr rtlCol="0" anchor="ctr"/>
          <a:lstStyle/>
          <a:p>
            <a:pPr algn="ctr"/>
            <a:endParaRPr lang="zh-CN" altLang="en-US" sz="1200"/>
          </a:p>
        </p:txBody>
      </p:sp>
      <p:sp>
        <p:nvSpPr>
          <p:cNvPr id="12" name="矩形 11"/>
          <p:cNvSpPr/>
          <p:nvPr/>
        </p:nvSpPr>
        <p:spPr>
          <a:xfrm>
            <a:off x="685800" y="495300"/>
            <a:ext cx="10810875" cy="495300"/>
          </a:xfrm>
          <a:prstGeom prst="rect">
            <a:avLst/>
          </a:prstGeom>
          <a:noFill/>
          <a:ln>
            <a:noFill/>
          </a:ln>
        </p:spPr>
        <p:txBody>
          <a:bodyPr wrap="none" lIns="91440" tIns="67151" rIns="0" bIns="0" anchor="t" anchorCtr="0">
            <a:noAutofit/>
          </a:bodyPr>
          <a:lstStyle/>
          <a:p>
            <a:pPr algn="l"/>
            <a:r>
              <a:rPr lang="zh-CN" sz="2620" b="1" dirty="0">
                <a:solidFill>
                  <a:srgbClr val="172B4D"/>
                </a:solidFill>
                <a:latin typeface="Microsoft YaHei"/>
                <a:ea typeface="Microsoft YaHei"/>
                <a:cs typeface="Microsoft YaHei"/>
              </a:rPr>
              <a:t>论文评价：贡献、代价与后续方向</a:t>
            </a:r>
          </a:p>
        </p:txBody>
      </p:sp>
      <p:sp>
        <p:nvSpPr>
          <p:cNvPr id="3" name="Line 3"/>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2F4F98"/>
            </a:solidFill>
          </a:ln>
        </p:spPr>
      </p:sp>
      <p:grpSp>
        <p:nvGrpSpPr>
          <p:cNvPr id="6" name="page-footer"/>
          <p:cNvGrpSpPr/>
          <p:nvPr/>
        </p:nvGrpSpPr>
        <p:grpSpPr>
          <a:xfrm>
            <a:off x="776288" y="6524625"/>
            <a:ext cx="10629899" cy="176212"/>
            <a:chOff x="776288" y="6524625"/>
            <a:chExt cx="10629899" cy="176212"/>
          </a:xfrm>
        </p:grpSpPr>
        <p:sp>
          <p:nvSpPr>
            <p:cNvPr id="4" name="TextBox 4"/>
            <p:cNvSpPr txBox="1"/>
            <p:nvPr/>
          </p:nvSpPr>
          <p:spPr>
            <a:xfrm>
              <a:off x="776288" y="6524625"/>
              <a:ext cx="2845422" cy="176212"/>
            </a:xfrm>
            <a:prstGeom prst="rect">
              <a:avLst/>
            </a:prstGeom>
            <a:noFill/>
            <a:ln>
              <a:noFill/>
            </a:ln>
          </p:spPr>
          <p:txBody>
            <a:bodyPr wrap="none" lIns="0" tIns="0" rIns="0" bIns="0" anchor="t" anchorCtr="0">
              <a:spAutoFit/>
            </a:bodyPr>
            <a:lstStyle/>
            <a:p>
              <a:pPr algn="l"/>
              <a:r>
                <a:rPr lang="zh-CN" sz="900" dirty="0">
                  <a:solidFill>
                    <a:srgbClr val="52657E"/>
                  </a:solidFill>
                  <a:latin typeface="Microsoft YaHei"/>
                  <a:ea typeface="Microsoft YaHei"/>
                  <a:cs typeface="Microsoft YaHei"/>
                </a:rPr>
                <a:t>04 评价与启示 · 论文 IV-B、V、IX；数据一致性核对</a:t>
              </a:r>
            </a:p>
          </p:txBody>
        </p:sp>
        <p:sp>
          <p:nvSpPr>
            <p:cNvPr id="5" name="TextBox 5"/>
            <p:cNvSpPr txBox="1"/>
            <p:nvPr/>
          </p:nvSpPr>
          <p:spPr>
            <a:xfrm>
              <a:off x="10990783" y="6524625"/>
              <a:ext cx="415404" cy="176212"/>
            </a:xfrm>
            <a:prstGeom prst="rect">
              <a:avLst/>
            </a:prstGeom>
            <a:noFill/>
            <a:ln>
              <a:noFill/>
            </a:ln>
          </p:spPr>
          <p:txBody>
            <a:bodyPr wrap="none" lIns="0" tIns="0" rIns="0" bIns="0" anchor="t" anchorCtr="0">
              <a:spAutoFit/>
            </a:bodyPr>
            <a:lstStyle/>
            <a:p>
              <a:pPr algn="r"/>
              <a:r>
                <a:rPr lang="zh-CN" sz="900" dirty="0">
                  <a:solidFill>
                    <a:srgbClr val="52657E"/>
                  </a:solidFill>
                  <a:latin typeface="Microsoft YaHei"/>
                  <a:ea typeface="Microsoft YaHei"/>
                  <a:cs typeface="Microsoft YaHei"/>
                </a:rPr>
                <a:t>19 / 20</a:t>
              </a:r>
            </a:p>
          </p:txBody>
        </p:sp>
      </p:grpSp>
      <p:grpSp>
        <p:nvGrpSpPr>
          <p:cNvPr id="10" name="assessment-0"/>
          <p:cNvGrpSpPr/>
          <p:nvPr/>
        </p:nvGrpSpPr>
        <p:grpSpPr>
          <a:xfrm>
            <a:off x="762000" y="1524000"/>
            <a:ext cx="6870192" cy="1152525"/>
            <a:chOff x="762000" y="1524000"/>
            <a:chExt cx="6870192" cy="1152525"/>
          </a:xfrm>
        </p:grpSpPr>
        <p:sp>
          <p:nvSpPr>
            <p:cNvPr id="7" name="Rectangle 7"/>
            <p:cNvSpPr/>
            <p:nvPr/>
          </p:nvSpPr>
          <p:spPr>
            <a:xfrm>
              <a:off x="762000" y="1524000"/>
              <a:ext cx="2266950" cy="1152525"/>
            </a:xfrm>
            <a:prstGeom prst="roundRect">
              <a:avLst>
                <a:gd name="adj" fmla="val 4959"/>
              </a:avLst>
            </a:prstGeom>
            <a:solidFill>
              <a:srgbClr val="EDF3FB"/>
            </a:solidFill>
            <a:ln>
              <a:noFill/>
            </a:ln>
          </p:spPr>
        </p:sp>
        <p:sp>
          <p:nvSpPr>
            <p:cNvPr id="8" name="TextBox 8"/>
            <p:cNvSpPr txBox="1"/>
            <p:nvPr/>
          </p:nvSpPr>
          <p:spPr>
            <a:xfrm>
              <a:off x="933069" y="1930400"/>
              <a:ext cx="1069848" cy="381381"/>
            </a:xfrm>
            <a:prstGeom prst="rect">
              <a:avLst/>
            </a:prstGeom>
            <a:noFill/>
            <a:ln>
              <a:noFill/>
            </a:ln>
          </p:spPr>
          <p:txBody>
            <a:bodyPr wrap="none" lIns="0" tIns="0" rIns="0" bIns="0" anchor="t" anchorCtr="0">
              <a:spAutoFit/>
            </a:bodyPr>
            <a:lstStyle/>
            <a:p>
              <a:pPr algn="l"/>
              <a:r>
                <a:rPr lang="zh-CN" sz="1950" b="1" dirty="0">
                  <a:solidFill>
                    <a:srgbClr val="2F4F98"/>
                  </a:solidFill>
                  <a:latin typeface="Microsoft YaHei"/>
                  <a:ea typeface="Microsoft YaHei"/>
                  <a:cs typeface="Microsoft YaHei"/>
                </a:rPr>
                <a:t>主要贡献</a:t>
              </a:r>
            </a:p>
          </p:txBody>
        </p:sp>
        <p:sp>
          <p:nvSpPr>
            <p:cNvPr id="9" name="TextBox 9"/>
            <p:cNvSpPr txBox="1"/>
            <p:nvPr/>
          </p:nvSpPr>
          <p:spPr>
            <a:xfrm>
              <a:off x="3277743" y="1609725"/>
              <a:ext cx="4354449" cy="932307"/>
            </a:xfrm>
            <a:prstGeom prst="rect">
              <a:avLst/>
            </a:prstGeom>
            <a:noFill/>
            <a:ln>
              <a:noFill/>
            </a:ln>
          </p:spPr>
          <p:txBody>
            <a:bodyPr wrap="none" lIns="0" tIns="0" rIns="0" bIns="0" anchor="t" anchorCtr="0">
              <a:spAutoFit/>
            </a:bodyPr>
            <a:lstStyle/>
            <a:p>
              <a:pPr algn="l">
                <a:lnSpc>
                  <a:spcPts val="2400"/>
                </a:lnSpc>
              </a:pPr>
              <a:r>
                <a:rPr lang="zh-CN" sz="1650" dirty="0">
                  <a:solidFill>
                    <a:srgbClr val="172B4D"/>
                  </a:solidFill>
                  <a:latin typeface="Microsoft YaHei"/>
                  <a:ea typeface="Microsoft YaHei"/>
                  <a:cs typeface="Microsoft YaHei"/>
                </a:rPr>
                <a:t>把正确响应的验证转成公开可审计的 ZK 证明；</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全局挑战削减制造商逐设备通信；</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提供 Circom / Solidity 开源原型。</a:t>
              </a:r>
            </a:p>
          </p:txBody>
        </p:sp>
      </p:grpSp>
      <p:grpSp>
        <p:nvGrpSpPr>
          <p:cNvPr id="15" name="assessment-1"/>
          <p:cNvGrpSpPr/>
          <p:nvPr/>
        </p:nvGrpSpPr>
        <p:grpSpPr>
          <a:xfrm>
            <a:off x="762000" y="2867025"/>
            <a:ext cx="7184517" cy="1152525"/>
            <a:chOff x="762000" y="2867025"/>
            <a:chExt cx="7184517" cy="1152525"/>
          </a:xfrm>
        </p:grpSpPr>
        <p:sp>
          <p:nvSpPr>
            <p:cNvPr id="11" name="Rectangle 11"/>
            <p:cNvSpPr/>
            <p:nvPr/>
          </p:nvSpPr>
          <p:spPr>
            <a:xfrm>
              <a:off x="762000" y="2867025"/>
              <a:ext cx="2266950" cy="1152525"/>
            </a:xfrm>
            <a:prstGeom prst="roundRect">
              <a:avLst>
                <a:gd name="adj" fmla="val 4959"/>
              </a:avLst>
            </a:prstGeom>
            <a:solidFill>
              <a:srgbClr val="EDF3FB"/>
            </a:solidFill>
            <a:ln>
              <a:noFill/>
            </a:ln>
          </p:spPr>
        </p:sp>
        <p:sp>
          <p:nvSpPr>
            <p:cNvPr id="13" name="TextBox 13"/>
            <p:cNvSpPr txBox="1"/>
            <p:nvPr/>
          </p:nvSpPr>
          <p:spPr>
            <a:xfrm>
              <a:off x="933069" y="3273425"/>
              <a:ext cx="1857375" cy="381381"/>
            </a:xfrm>
            <a:prstGeom prst="rect">
              <a:avLst/>
            </a:prstGeom>
            <a:noFill/>
            <a:ln>
              <a:noFill/>
            </a:ln>
          </p:spPr>
          <p:txBody>
            <a:bodyPr wrap="none" lIns="0" tIns="0" rIns="0" bIns="0" anchor="t" anchorCtr="0">
              <a:spAutoFit/>
            </a:bodyPr>
            <a:lstStyle/>
            <a:p>
              <a:pPr algn="l"/>
              <a:r>
                <a:rPr lang="zh-CN" sz="1950" b="1" dirty="0">
                  <a:solidFill>
                    <a:srgbClr val="2F4F98"/>
                  </a:solidFill>
                  <a:latin typeface="Microsoft YaHei"/>
                  <a:ea typeface="Microsoft YaHei"/>
                  <a:cs typeface="Microsoft YaHei"/>
                </a:rPr>
                <a:t>核心代价与边界</a:t>
              </a:r>
            </a:p>
          </p:txBody>
        </p:sp>
        <p:sp>
          <p:nvSpPr>
            <p:cNvPr id="14" name="TextBox 14"/>
            <p:cNvSpPr txBox="1"/>
            <p:nvPr/>
          </p:nvSpPr>
          <p:spPr>
            <a:xfrm>
              <a:off x="3277743" y="2952750"/>
              <a:ext cx="4668774" cy="932307"/>
            </a:xfrm>
            <a:prstGeom prst="rect">
              <a:avLst/>
            </a:prstGeom>
            <a:noFill/>
            <a:ln>
              <a:noFill/>
            </a:ln>
          </p:spPr>
          <p:txBody>
            <a:bodyPr wrap="none" lIns="0" tIns="0" rIns="0" bIns="0" anchor="t" anchorCtr="0">
              <a:spAutoFit/>
            </a:bodyPr>
            <a:lstStyle/>
            <a:p>
              <a:pPr algn="l">
                <a:lnSpc>
                  <a:spcPts val="2400"/>
                </a:lnSpc>
              </a:pPr>
              <a:r>
                <a:rPr lang="zh-CN" sz="1650" dirty="0">
                  <a:solidFill>
                    <a:srgbClr val="172B4D"/>
                  </a:solidFill>
                  <a:latin typeface="Microsoft YaHei"/>
                  <a:ea typeface="Microsoft YaHei"/>
                  <a:cs typeface="Microsoft YaHei"/>
                </a:rPr>
                <a:t>仍需信任测量锚、认可根与挑战发布；</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Groth16 有可信初始化，Setup 成本未计入实验；</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低端设备计算、能耗及链上吞吐仍受限。</a:t>
              </a:r>
            </a:p>
          </p:txBody>
        </p:sp>
      </p:grpSp>
      <p:grpSp>
        <p:nvGrpSpPr>
          <p:cNvPr id="19" name="assessment-2"/>
          <p:cNvGrpSpPr/>
          <p:nvPr/>
        </p:nvGrpSpPr>
        <p:grpSpPr>
          <a:xfrm>
            <a:off x="762000" y="4210050"/>
            <a:ext cx="6786372" cy="1152525"/>
            <a:chOff x="762000" y="4210050"/>
            <a:chExt cx="6786372" cy="1152525"/>
          </a:xfrm>
        </p:grpSpPr>
        <p:sp>
          <p:nvSpPr>
            <p:cNvPr id="16" name="Rectangle 16"/>
            <p:cNvSpPr/>
            <p:nvPr/>
          </p:nvSpPr>
          <p:spPr>
            <a:xfrm>
              <a:off x="762000" y="4210050"/>
              <a:ext cx="2266950" cy="1152525"/>
            </a:xfrm>
            <a:prstGeom prst="roundRect">
              <a:avLst>
                <a:gd name="adj" fmla="val 4959"/>
              </a:avLst>
            </a:prstGeom>
            <a:solidFill>
              <a:srgbClr val="EDF3FB"/>
            </a:solidFill>
            <a:ln>
              <a:noFill/>
            </a:ln>
          </p:spPr>
        </p:sp>
        <p:sp>
          <p:nvSpPr>
            <p:cNvPr id="17" name="TextBox 17"/>
            <p:cNvSpPr txBox="1"/>
            <p:nvPr/>
          </p:nvSpPr>
          <p:spPr>
            <a:xfrm>
              <a:off x="933069" y="4616450"/>
              <a:ext cx="1069848" cy="381381"/>
            </a:xfrm>
            <a:prstGeom prst="rect">
              <a:avLst/>
            </a:prstGeom>
            <a:noFill/>
            <a:ln>
              <a:noFill/>
            </a:ln>
          </p:spPr>
          <p:txBody>
            <a:bodyPr wrap="none" lIns="0" tIns="0" rIns="0" bIns="0" anchor="t" anchorCtr="0">
              <a:spAutoFit/>
            </a:bodyPr>
            <a:lstStyle/>
            <a:p>
              <a:pPr algn="l"/>
              <a:r>
                <a:rPr lang="zh-CN" sz="1950" b="1" dirty="0">
                  <a:solidFill>
                    <a:srgbClr val="2F4F98"/>
                  </a:solidFill>
                  <a:latin typeface="Microsoft YaHei"/>
                  <a:ea typeface="Microsoft YaHei"/>
                  <a:cs typeface="Microsoft YaHei"/>
                </a:rPr>
                <a:t>研究启示</a:t>
              </a:r>
            </a:p>
          </p:txBody>
        </p:sp>
        <p:sp>
          <p:nvSpPr>
            <p:cNvPr id="18" name="TextBox 18"/>
            <p:cNvSpPr txBox="1"/>
            <p:nvPr/>
          </p:nvSpPr>
          <p:spPr>
            <a:xfrm>
              <a:off x="3277743" y="4295775"/>
              <a:ext cx="4270629" cy="932307"/>
            </a:xfrm>
            <a:prstGeom prst="rect">
              <a:avLst/>
            </a:prstGeom>
            <a:noFill/>
            <a:ln>
              <a:noFill/>
            </a:ln>
          </p:spPr>
          <p:txBody>
            <a:bodyPr wrap="none" lIns="0" tIns="0" rIns="0" bIns="0" anchor="t" anchorCtr="0">
              <a:spAutoFit/>
            </a:bodyPr>
            <a:lstStyle/>
            <a:p>
              <a:pPr algn="l">
                <a:lnSpc>
                  <a:spcPts val="2400"/>
                </a:lnSpc>
              </a:pPr>
              <a:r>
                <a:rPr lang="zh-CN" sz="1650" dirty="0">
                  <a:solidFill>
                    <a:srgbClr val="172B4D"/>
                  </a:solidFill>
                  <a:latin typeface="Microsoft YaHei"/>
                  <a:ea typeface="Microsoft YaHei"/>
                  <a:cs typeface="Microsoft YaHei"/>
                </a:rPr>
                <a:t>把“真实性来源”与“公开可验证性”分开分析；</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探索高效证明后端、硬件加速及安全外包；</a:t>
              </a:r>
              <a:br>
                <a:rPr lang="zh-CN" sz="1650" dirty="0">
                  <a:solidFill>
                    <a:srgbClr val="172B4D"/>
                  </a:solidFill>
                  <a:latin typeface="Microsoft YaHei"/>
                  <a:ea typeface="Microsoft YaHei"/>
                  <a:cs typeface="Microsoft YaHei"/>
                </a:rPr>
              </a:br>
              <a:r>
                <a:rPr lang="zh-CN" sz="1650" dirty="0">
                  <a:solidFill>
                    <a:srgbClr val="172B4D"/>
                  </a:solidFill>
                  <a:latin typeface="Microsoft YaHei"/>
                  <a:ea typeface="Microsoft YaHei"/>
                  <a:cs typeface="Microsoft YaHei"/>
                </a:rPr>
                <a:t>验证 Mesh / Swarm 与软件更新的实际成本。</a:t>
              </a:r>
            </a:p>
          </p:txBody>
        </p:sp>
      </p:grpSp>
      <p:grpSp>
        <p:nvGrpSpPr>
          <p:cNvPr id="22" name="takeaway"/>
          <p:cNvGrpSpPr/>
          <p:nvPr/>
        </p:nvGrpSpPr>
        <p:grpSpPr>
          <a:xfrm>
            <a:off x="723900" y="5924550"/>
            <a:ext cx="10744200" cy="466725"/>
            <a:chOff x="723900" y="5924550"/>
            <a:chExt cx="10744200" cy="466725"/>
          </a:xfrm>
        </p:grpSpPr>
        <p:sp>
          <p:nvSpPr>
            <p:cNvPr id="20" name="Rectangle 20"/>
            <p:cNvSpPr/>
            <p:nvPr/>
          </p:nvSpPr>
          <p:spPr>
            <a:xfrm>
              <a:off x="723900" y="5924550"/>
              <a:ext cx="10744200" cy="466725"/>
            </a:xfrm>
            <a:prstGeom prst="roundRect">
              <a:avLst>
                <a:gd name="adj" fmla="val 12245"/>
              </a:avLst>
            </a:prstGeom>
            <a:solidFill>
              <a:srgbClr val="EDF3FB"/>
            </a:solidFill>
            <a:ln>
              <a:noFill/>
            </a:ln>
          </p:spPr>
        </p:sp>
        <p:sp>
          <p:nvSpPr>
            <p:cNvPr id="21" name="TextBox 21"/>
            <p:cNvSpPr txBox="1"/>
            <p:nvPr/>
          </p:nvSpPr>
          <p:spPr>
            <a:xfrm>
              <a:off x="887349" y="6038850"/>
              <a:ext cx="8130452" cy="308991"/>
            </a:xfrm>
            <a:prstGeom prst="rect">
              <a:avLst/>
            </a:prstGeom>
            <a:noFill/>
            <a:ln>
              <a:noFill/>
            </a:ln>
          </p:spPr>
          <p:txBody>
            <a:bodyPr wrap="none" lIns="0" tIns="0" rIns="0" bIns="0" anchor="t" anchorCtr="0">
              <a:spAutoFit/>
            </a:bodyPr>
            <a:lstStyle/>
            <a:p>
              <a:pPr algn="l"/>
              <a:r>
                <a:rPr lang="zh-CN" sz="1580" b="1" dirty="0">
                  <a:solidFill>
                    <a:srgbClr val="2F4F98"/>
                  </a:solidFill>
                  <a:latin typeface="Microsoft YaHei"/>
                  <a:ea typeface="Microsoft YaHei"/>
                  <a:cs typeface="Microsoft YaHei"/>
                </a:rPr>
                <a:t>阅读实验应以表格与单位核对为准：Table V 不支持正文“笔记本 proof 不足 4 ms”。</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文本框 14"/>
          <p:cNvSpPr txBox="1"/>
          <p:nvPr/>
        </p:nvSpPr>
        <p:spPr>
          <a:xfrm>
            <a:off x="2032000" y="2074333"/>
            <a:ext cx="8128000" cy="697865"/>
          </a:xfrm>
          <a:prstGeom prst="rect">
            <a:avLst/>
          </a:prstGeom>
          <a:noFill/>
        </p:spPr>
        <p:txBody>
          <a:bodyPr vert="horz" wrap="square" lIns="0" tIns="0" rIns="0" bIns="0" rtlCol="0" anchor="t">
            <a:spAutoFit/>
          </a:bodyPr>
          <a:lstStyle/>
          <a:p>
            <a:pPr algn="ctr"/>
            <a:r>
              <a:rPr lang="zh-CN" altLang="en-US" sz="4535" b="1">
                <a:solidFill>
                  <a:srgbClr val="171A21"/>
                </a:solidFill>
                <a:latin typeface="宋体" panose="02010600030101010101" pitchFamily="2" charset="-122"/>
                <a:ea typeface="宋体" panose="02010600030101010101" pitchFamily="2" charset="-122"/>
              </a:rPr>
              <a:t>谢谢聆听</a:t>
            </a:r>
            <a:endParaRPr lang="zh-CN" altLang="en-US" sz="4535" b="1">
              <a:solidFill>
                <a:srgbClr val="171A21"/>
              </a:solidFill>
              <a:latin typeface="宋体" panose="02010600030101010101" pitchFamily="2" charset="-122"/>
              <a:ea typeface="宋体" panose="02010600030101010101" pitchFamily="2" charset="-122"/>
            </a:endParaRPr>
          </a:p>
        </p:txBody>
      </p:sp>
      <p:sp>
        <p:nvSpPr>
          <p:cNvPr id="16" name="文本框 15"/>
          <p:cNvSpPr txBox="1"/>
          <p:nvPr/>
        </p:nvSpPr>
        <p:spPr>
          <a:xfrm>
            <a:off x="4402667" y="3175000"/>
            <a:ext cx="3386667" cy="430530"/>
          </a:xfrm>
          <a:prstGeom prst="rect">
            <a:avLst/>
          </a:prstGeom>
          <a:noFill/>
        </p:spPr>
        <p:txBody>
          <a:bodyPr vert="horz" wrap="square" lIns="0" tIns="0" rIns="0" bIns="0" rtlCol="0" anchor="t">
            <a:spAutoFit/>
          </a:bodyPr>
          <a:lstStyle/>
          <a:p>
            <a:pPr algn="ctr"/>
            <a:r>
              <a:rPr lang="en-US" altLang="zh-CN" sz="2800" b="1">
                <a:solidFill>
                  <a:srgbClr val="2F4F98"/>
                </a:solidFill>
                <a:latin typeface="Times New Roman" panose="02020603050405020304" charset="0"/>
                <a:ea typeface="思源黑体 1" panose="02010600030101010101" charset="-122"/>
                <a:cs typeface="Times New Roman" panose="02020603050405020304" charset="0"/>
              </a:rPr>
              <a:t>Q &amp; A</a:t>
            </a:r>
            <a:endParaRPr lang="en-US" altLang="zh-CN" sz="2800" b="1">
              <a:solidFill>
                <a:srgbClr val="2F4F98"/>
              </a:solidFill>
              <a:latin typeface="Times New Roman" panose="02020603050405020304" charset="0"/>
              <a:ea typeface="思源黑体 1" panose="02010600030101010101" charset="-122"/>
              <a:cs typeface="Times New Roman" panose="02020603050405020304" charset="0"/>
            </a:endParaRPr>
          </a:p>
        </p:txBody>
      </p:sp>
      <p:sp>
        <p:nvSpPr>
          <p:cNvPr id="18" name="文本框 17"/>
          <p:cNvSpPr txBox="1"/>
          <p:nvPr/>
        </p:nvSpPr>
        <p:spPr>
          <a:xfrm>
            <a:off x="3725333" y="5164667"/>
            <a:ext cx="4741333" cy="225425"/>
          </a:xfrm>
          <a:prstGeom prst="rect">
            <a:avLst/>
          </a:prstGeom>
          <a:noFill/>
        </p:spPr>
        <p:txBody>
          <a:bodyPr vert="horz" wrap="square" lIns="0" tIns="0" rIns="0" bIns="0" rtlCol="0" anchor="t">
            <a:spAutoFit/>
          </a:bodyPr>
          <a:lstStyle/>
          <a:p>
            <a:pPr algn="ctr"/>
            <a:r>
              <a:rPr lang="en-US" altLang="zh-CN" sz="1465" b="1">
                <a:solidFill>
                  <a:srgbClr val="E9ECF3"/>
                </a:solidFill>
                <a:latin typeface="Arial" panose="020B0604020202020204" pitchFamily="34" charset="0"/>
                <a:ea typeface="思源黑体 1" panose="02010600030101010101" charset="-122"/>
              </a:rPr>
              <a:t>THANK YOU FOR LISTENING</a:t>
            </a:r>
            <a:endParaRPr lang="zh-CN" altLang="en-US" sz="1465" b="1">
              <a:solidFill>
                <a:srgbClr val="E9ECF3"/>
              </a:solidFill>
              <a:latin typeface="Arial" panose="020B0604020202020204" pitchFamily="34" charset="0"/>
              <a:ea typeface="思源黑体 1" panose="02010600030101010101" charset="-122"/>
            </a:endParaRPr>
          </a:p>
        </p:txBody>
      </p:sp>
      <p:sp>
        <p:nvSpPr>
          <p:cNvPr id="33" name="矩形 32"/>
          <p:cNvSpPr/>
          <p:nvPr/>
        </p:nvSpPr>
        <p:spPr>
          <a:xfrm>
            <a:off x="0" y="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0" y="6705600"/>
            <a:ext cx="12192000" cy="152400"/>
          </a:xfrm>
          <a:prstGeom prst="rect">
            <a:avLst/>
          </a:prstGeom>
          <a:solidFill>
            <a:srgbClr val="2F4F98"/>
          </a:solidFill>
          <a:ln w="25400" cap="flat" cmpd="sng" algn="ctr">
            <a:noFill/>
            <a:prstDash val="solid"/>
          </a:ln>
          <a:effectLst/>
          <a:extLst>
            <a:ext uri="{91240B29-F687-4F45-9708-019B960494DF}">
              <a14:hiddenLine xmlns:a14="http://schemas.microsoft.com/office/drawing/2010/main" w="25400">
                <a:solidFill>
                  <a:srgbClr val="2F4F9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Tree>
  </p:cSld>
  <p:clrMapOvr>
    <a:masterClrMapping/>
  </p:clrMapOvr>
</p:sld>
</file>

<file path=ppt/tags/tag1_tf1.xml><?xml version="1.0" encoding="utf-8"?>
<p:tagLst xmlns:p="http://schemas.openxmlformats.org/presentationml/2006/main">
  <p:tag name="KSO_DOCER_RESOURCE_TRACE_INFO" val="{&quot;id&quot;:&quot;50063282&quot;,&quot;origin&quot;:0,&quot;type&quot;:&quot;icons&quot;,&quot;user&quot;:&quot;1895563845&quot;}"/>
</p:tagLst>
</file>

<file path=ppt/tags/tag2_tf1.xml><?xml version="1.0" encoding="utf-8"?>
<p:tagLst xmlns:p="http://schemas.openxmlformats.org/presentationml/2006/main">
  <p:tag name="KSO_DOCER_RESOURCE_TRACE_INFO" val="{&quot;id&quot;:&quot;50063553&quot;,&quot;origin&quot;:0,&quot;type&quot;:&quot;icons&quot;,&quot;user&quot;:&quot;1895563845&quot;}"/>
</p:tagLst>
</file>

<file path=ppt/tags/tag3_tf1.xml><?xml version="1.0" encoding="utf-8"?>
<p:tagLst xmlns:p="http://schemas.openxmlformats.org/presentationml/2006/main">
  <p:tag name="KSO_DOCER_RESOURCE_TRACE_INFO" val="{&quot;id&quot;:&quot;20288997&quot;,&quot;origin&quot;:0,&quot;type&quot;:&quot;icons&quot;,&quot;user&quot;:&quot;1895563845&quot;}"/>
</p:tagLst>
</file>

<file path=ppt/tags/tag4_tf1.xml><?xml version="1.0" encoding="utf-8"?>
<p:tagLst xmlns:p="http://schemas.openxmlformats.org/presentationml/2006/main">
  <p:tag name="KSO_DOCER_RESOURCE_TRACE_INFO" val="{&quot;id&quot;:&quot;20288997&quot;,&quot;origin&quot;:0,&quot;type&quot;:&quot;icons&quot;,&quot;user&quot;:&quot;1895563845&quot;}"/>
</p:tagLst>
</file>

<file path=ppt/tags/tag5_tf1.xml><?xml version="1.0" encoding="utf-8"?>
<p:tagLst xmlns:p="http://schemas.openxmlformats.org/presentationml/2006/main">
  <p:tag name="KSO_DOCER_RESOURCE_TRACE_INFO" val="{&quot;id&quot;:&quot;20288997&quot;,&quot;origin&quot;:0,&quot;type&quot;:&quot;icons&quot;,&quot;user&quot;:&quot;1895563845&quot;}"/>
</p:tagLst>
</file>

<file path=ppt/tags/tag6_tf1.xml><?xml version="1.0" encoding="utf-8"?>
<p:tagLst xmlns:p="http://schemas.openxmlformats.org/presentationml/2006/main">
  <p:tag name="KSO_DOCER_RESOURCE_TRACE_INFO" val="{&quot;id&quot;:&quot;3659276&quot;,&quot;origin&quot;:0,&quot;type&quot;:&quot;icons&quot;,&quot;user&quot;:&quot;1895563845&quot;}"/>
</p:tagLst>
</file>

<file path=ppt/tags/tag7_tf1.xml><?xml version="1.0" encoding="utf-8"?>
<p:tagLst xmlns:p="http://schemas.openxmlformats.org/presentationml/2006/main">
  <p:tag name="KSO_DOCER_RESOURCE_TRACE_INFO" val="{&quot;id&quot;:&quot;3659276&quot;,&quot;origin&quot;:0,&quot;type&quot;:&quot;icons&quot;,&quot;user&quot;:&quot;1895563845&quot;}"/>
</p:tagLst>
</file>

<file path=ppt/tags/tag8_tf1.xml><?xml version="1.0" encoding="utf-8"?>
<p:tagLst xmlns:p="http://schemas.openxmlformats.org/presentationml/2006/main">
  <p:tag name="KSO_DOCER_RESOURCE_TRACE_INFO" val="{&quot;id&quot;:&quot;3659276&quot;,&quot;origin&quot;:0,&quot;type&quot;:&quot;icons&quot;,&quot;user&quot;:&quot;1895563845&quot;}"/>
</p:tagLst>
</file>

<file path=ppt/tags/tag9_tf1.xml><?xml version="1.0" encoding="utf-8"?>
<p:tagLst xmlns:p="http://schemas.openxmlformats.org/presentationml/2006/main">
  <p:tag name="KSO_DOCER_RESOURCE_TRACE_INFO" val="{&quot;id&quot;:&quot;50015632&quot;,&quot;origin&quot;:0,&quot;type&quot;:&quot;icons&quot;,&quot;user&quot;:&quot;1895563845&quot;}"/>
</p:tagLst>
</file>

<file path=ppt/tags/tag10_tf1.xml><?xml version="1.0" encoding="utf-8"?>
<p:tagLst xmlns:p="http://schemas.openxmlformats.org/presentationml/2006/main">
  <p:tag name="KSO_DOCER_RESOURCE_TRACE_INFO" val="{&quot;id&quot;:&quot;50063645&quot;,&quot;origin&quot;:0,&quot;type&quot;:&quot;icons&quot;,&quot;user&quot;:&quot;1895563845&quot;}"/>
</p:tagLst>
</file>

<file path=ppt/tags/tag11_tf1.xml><?xml version="1.0" encoding="utf-8"?>
<p:tagLst xmlns:p="http://schemas.openxmlformats.org/presentationml/2006/main">
  <p:tag name="KSO_DOCER_RESOURCE_TRACE_INFO" val="{&quot;id&quot;:&quot;21589536&quot;,&quot;origin&quot;:0,&quot;type&quot;:&quot;icons&quot;,&quot;user&quot;:&quot;1895563845&quot;}"/>
</p:tagLst>
</file>

<file path=ppt/tags/tag12_tf1.xml><?xml version="1.0" encoding="utf-8"?>
<p:tagLst xmlns:p="http://schemas.openxmlformats.org/presentationml/2006/main">
  <p:tag name="KSO_DOCER_RESOURCE_TRACE_INFO" val="{&quot;id&quot;:&quot;50063282&quot;,&quot;origin&quot;:0,&quot;type&quot;:&quot;icons&quot;,&quot;user&quot;:&quot;1895563845&quot;}"/>
</p:tagLst>
</file>

<file path=ppt/tags/tag13_tf1.xml><?xml version="1.0" encoding="utf-8"?>
<p:tagLst xmlns:p="http://schemas.openxmlformats.org/presentationml/2006/main">
  <p:tag name="KSO_DOCER_RESOURCE_TRACE_INFO" val="{&quot;id&quot;:&quot;50062654&quot;,&quot;origin&quot;:0,&quot;type&quot;:&quot;icons&quot;,&quot;user&quot;:&quot;1895563845&quot;}"/>
</p:tagLst>
</file>

<file path=ppt/tags/tag14_tf1.xml><?xml version="1.0" encoding="utf-8"?>
<p:tagLst xmlns:p="http://schemas.openxmlformats.org/presentationml/2006/main">
  <p:tag name="KSO_DOCER_RESOURCE_TRACE_INFO" val="{&quot;id&quot;:&quot;50059531&quot;,&quot;origin&quot;:0,&quot;type&quot;:&quot;icons&quot;,&quot;user&quot;:&quot;1895563845&quot;}"/>
</p:tagLst>
</file>

<file path=ppt/tags/tag15_tf1.xml><?xml version="1.0" encoding="utf-8"?>
<p:tagLst xmlns:p="http://schemas.openxmlformats.org/presentationml/2006/main">
  <p:tag name="KSO_DOCER_RESOURCE_TRACE_INFO" val="{&quot;id&quot;:&quot;50059455&quot;,&quot;origin&quot;:0,&quot;type&quot;:&quot;icons&quot;,&quot;user&quot;:&quot;1895563845&quot;}"/>
</p:tagLst>
</file>

<file path=ppt/tags/tag16_tf1.xml><?xml version="1.0" encoding="utf-8"?>
<p:tagLst xmlns:p="http://schemas.openxmlformats.org/presentationml/2006/main">
  <p:tag name="KSO_DOCER_RESOURCE_TRACE_INFO" val="{&quot;id&quot;:&quot;50059455&quot;,&quot;origin&quot;:0,&quot;type&quot;:&quot;icons&quot;,&quot;user&quot;:&quot;1895563845&quot;}"/>
</p:tagLst>
</file>

<file path=ppt/tags/tag17_tf1.xml><?xml version="1.0" encoding="utf-8"?>
<p:tagLst xmlns:p="http://schemas.openxmlformats.org/presentationml/2006/main">
  <p:tag name="KSO_DOCER_RESOURCE_TRACE_INFO" val="{&quot;id&quot;:&quot;50063260&quot;,&quot;origin&quot;:0,&quot;type&quot;:&quot;icons&quot;,&quot;user&quot;:&quot;1895563845&quot;}"/>
</p:tagLst>
</file>

<file path=ppt/tags/tag18_tf1.xml><?xml version="1.0" encoding="utf-8"?>
<p:tagLst xmlns:p="http://schemas.openxmlformats.org/presentationml/2006/main">
  <p:tag name="KSO_DOCER_RESOURCE_TRACE_INFO" val="{&quot;id&quot;:&quot;50059271&quot;,&quot;origin&quot;:0,&quot;type&quot;:&quot;icons&quot;,&quot;user&quot;:&quot;1895563845&quot;}"/>
</p:tagLst>
</file>

<file path=ppt/tags/tag19_tf1.xml><?xml version="1.0" encoding="utf-8"?>
<p:tagLst xmlns:p="http://schemas.openxmlformats.org/presentationml/2006/main">
  <p:tag name="KSO_DOCER_RESOURCE_TRACE_INFO" val="{&quot;id&quot;:&quot;50063236&quot;,&quot;origin&quot;:0,&quot;type&quot;:&quot;icons&quot;,&quot;user&quot;:&quot;1895563845&quot;}"/>
</p:tagLst>
</file>

<file path=ppt/tags/tag20_tf1.xml><?xml version="1.0" encoding="utf-8"?>
<p:tagLst xmlns:p="http://schemas.openxmlformats.org/presentationml/2006/main">
  <p:tag name="KSO_DOCER_RESOURCE_TRACE_INFO" val="{&quot;id&quot;:&quot;3504188&quot;,&quot;origin&quot;:0,&quot;type&quot;:&quot;icons&quot;,&quot;user&quot;:&quot;1895563845&quot;}"/>
</p:tagLst>
</file>

<file path=ppt/tags/tag21.xml><?xml version="1.0" encoding="utf-8"?>
<p:tagLst xmlns:p="http://schemas.openxmlformats.org/presentationml/2006/main">
  <p:tag name="resource_record_key" val="{&quot;10&quot;:[50063553,20288997,3659276,50015632,50063645,21589536,50063282,50062654,50059531,50059455,50063260]}"/>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ns0:Properties xmlns:ns0="http://schemas.openxmlformats.org/officeDocument/2006/extended-properties" xmlns:ns1="http://schemas.openxmlformats.org/officeDocument/2006/docPropsVTypes">
  <ns0:TotalTime>0</ns0:TotalTime>
  <ns0:Words>5309</ns0:Words>
  <ns0:Application>WPS 演示</ns0:Application>
  <ns0:PresentationFormat>Converted Presentation</ns0:PresentationFormat>
  <ns0:Paragraphs>657</ns0:Paragraphs>
  <ns0:Slides>20</ns0:Slides>
  <ns0:Notes>0</ns0:Notes>
  <ns0:HiddenSlides>0</ns0:HiddenSlides>
  <ns0:MMClips>0</ns0:MMClips>
  <ns0:ScaleCrop>false</ns0:ScaleCrop>
  <ns0:HeadingPairs>
    <ns1:vector size="6" baseType="variant">
      <ns1:variant>
        <ns1:lpstr>已用的字体</ns1:lpstr>
      </ns1:variant>
      <ns1:variant>
        <ns1:i4>12</ns1:i4>
      </ns1:variant>
      <ns1:variant>
        <ns1:lpstr>主题</ns1:lpstr>
      </ns1:variant>
      <ns1:variant>
        <ns1:i4>1</ns1:i4>
      </ns1:variant>
      <ns1:variant>
        <ns1:lpstr>幻灯片标题</ns1:lpstr>
      </ns1:variant>
      <ns1:variant>
        <ns1:i4>20</ns1:i4>
      </ns1:variant>
    </ns1:vector>
  </ns0:HeadingPairs>
  <ns0:TitlesOfParts>
    <ns1:vector size="33" baseType="lpstr">
      <ns1:lpstr>Arial</ns1:lpstr>
      <ns1:lpstr>宋体</ns1:lpstr>
      <ns1:lpstr>Wingdings</ns1:lpstr>
      <ns1:lpstr>思源黑体 1</ns1:lpstr>
      <ns1:lpstr>黑体</ns1:lpstr>
      <ns1:lpstr>Times New Roman</ns1:lpstr>
      <ns1:lpstr>Wingdings</ns1:lpstr>
      <ns1:lpstr>Arial</ns1:lpstr>
      <ns1:lpstr>Aptos</ns1:lpstr>
      <ns1:lpstr>Segoe UI</ns1:lpstr>
      <ns1:lpstr>微软雅黑</ns1:lpstr>
      <ns1:lpstr>Arial Unicode MS</ns1:lpstr>
      <ns1:lpstr>ChatGPT</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vector>
  </ns0:TitlesOfParts>
  <ns0:LinksUpToDate>false</ns0:LinksUpToDate>
  <ns0:SharedDoc>false</ns0:SharedDoc>
  <ns0:HyperlinksChanged>false</ns0:HyperlinksChanged>
  <ns0:AppVersion>14.0000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张洪睿</cp:lastModifiedBy>
  <cp:revision>206</cp:revision>
  <dcterms:created xsi:type="dcterms:W3CDTF">2026-10-08T12:27:00Z</dcterms:created>
  <dcterms:modified xsi:type="dcterms:W3CDTF">2026-10-10T06:37:27Z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A1A6DC8E0F9749E884E00AEE3DD2EA7A_12</vt:lpwstr>
  </property>
  <property fmtid="{D5CDD505-2E9C-101B-9397-08002B2CF9AE}" pid="3" name="KSOProductBuildVer">
    <vt:lpwstr>2052-12.1.0.28043</vt:lpwstr>
  </property>
</Properties>
</file>